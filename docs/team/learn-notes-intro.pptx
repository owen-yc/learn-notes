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adb40ffc-519f-f66e-98fa-8b7736d5dcf5}">
          <p14:sldIdLst>
            <p14:sldId id="256"/>
            <p14:sldId id="257"/>
            <p14:sldId id="258"/>
          </p14:sldIdLst>
        </p14:section>
        <p14:section name="모드(MOD)란?" id="{28058a79-c3f1-d446-bedc-1a3a77a063c7}">
          <p14:sldIdLst>
            <p14:sldId id="259"/>
            <p14:sldId id="260"/>
            <p14:sldId id="261"/>
            <p14:sldId id="262"/>
            <p14:sldId id="263"/>
          </p14:sldIdLst>
        </p14:section>
        <p14:section name="learn-notes 기능" id="{b6d3f51e-0625-8525-6b72-895bbe3058e2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시작하기" id="{f9e1fde8-d7cc-30e5-6810-4750b784eb5e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마무리" id="{5df4dfdf-0d93-74e8-e70e-582bd52625d7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오늘은 Claude Code로 코딩하면서 배운 것을 남겨 주는 모드, learn-notes 1.7.0을 소개합니다. 오른쪽은 실제 패널 화면이고, 노트 글은 작은 모델(haiku)이 실제로 쓴 글입니다. 먼저 모드가 무엇인지 짚고, 기능을 보고, 마지막에 설치하는 법과 팀으로 쓰는 법, 회사에 깔 때 담당자가 알아 둘 것을 안내하겠습니다.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AI에게 코드를 맡기는 바이브코딩은 빠르고 편하지만, 돌아보면 무엇이 왜 바뀌었는지 남지 않습니다. 같은 개념을 매번 처음 보는 것처럼 지나치고, 배운 것의 기록도 없습니다. learn-notes는 이 세 가지를 Claude Code 안에서 해결합니다.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learn-notes가 하는 일은 네 단계입니다. Claude가 파일을 고칠 때 전후를 모으고, 턴이 끝나면 노트를 쓰고, 잊을 때쯤 내 코드로 퀴즈를 내고, 그 모든 것이 기록으로 쌓입니다. 퀴즈에서 틀리면 정답을 바로 보여 주지 않고 한 번 되물어 다시 떠올리게 합니다. 사용자는 평소처럼 코딩을 요청하기만 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먼저 모드가 무엇인지부터 보겠습니다. 처음 들어도 괜찮습니다. 스마트폰 앱과 비슷하다고 생각하시면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Code는 터미널에서 대화하며 코드를 고치는 AI 코딩 도우미입니다. 요청 하나를 보내고 Claude가 일을 마치기까지를 턴이라고 부릅니다. 모드는 여기에 끼우는 확장입니다. 스마트폰에 앱을 깔면 새 기능이 생기듯, 모드를 설치하면 Claude Code에 새 화면과 동작이 생깁니다. learn-notes를 설치하면 학습 노트 패널, /learn 명령, 복습 알림이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용어 세 겹만 기억하시면 됩니다. 마켓플레이스는 모드를 나눠 주는 곳으로 보통 GitHub 저장소이고, 플러그인은 설치하고 지우는 단위, 모드는 그 안에서 실제로 화면과 동작을 바꾸는 코드입니다. 모드는 이벤트가 일어날 때 끼어드는 함수, 즉 훅으로 동작하고, 자기 전용 화면인 패널을 가질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Code의 한 턴은 이렇게 이어집니다. 요청을 보내면 턴이 시작되고, Claude가 파일을 고치고, 턴이 끝나고, 화면이 그려집니다. learn-notes의 훅은 각 순간에 끼어들어 필요한 것만 챙깁니다. 특히 파일이 바뀌는 순간 전과 후를 잡아 두었다가, 턴이 끝나면 작은 모델이 노트를 씁니다. 이때 .env 같은 비밀 파일은 내용을 모으지 않고 이름만 남기고, 코드 속 흔한 키 형식은 «가림»으로 바꾼 뒤 보냅니다. Claude의 작업 방식은 바뀌지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모드는 Claude Code가 허락한 기능만 쓸 수 있습니다. learn-notes는 그중 여섯 가지를 씁니다. 대화 옆 패널, /learn 명령, 상태줄 알림, 작은 모델 호출, 내 컴퓨터의 파일 저장, 그리고 세션을 넘는 저장소입니다. 노트와 기록은 모두 내 컴퓨터에 남습니다. Claude가 읽는 읽기 전용 학습 기록 도구도 하나 등록합니다. 그래서 대화창에 "오늘 배운 거 알려 줘"라고 그냥 물어도 Claude가 내 노트와 개념 모음을 읽고 답합니다. Claude Code가 이 도구를 받아들였으면 /learn 도움말 맨 위에 그 안내 줄이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이제 learn-notes의 기능을 화면과 함께 보겠습니다. 화면은 모두 실제 패널이고, 글은 haiku가 실제로 쓴 글입니다. 1.7.0에서 새로 생긴 것은 직접 해 보기, 퀴즈의 되묻기와 한 번 더, 오답 노트, 노트 복사, 그리고 팀 용어 연습입니다.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Claude가 파일을 고친 턴이 끝나면 몇 초 안에 이런 노트가 뜹니다. 다섯 칸으로 짧게, 350단어 안쪽으로 씁니다. 무엇이 바뀌었나는 코드 설명 대신 세 줄입니다. 빨간 전은 코드가 하던 일, 초록 후는 이제 하는 일, 하늘색 예는 그 차이가 드러나는 입력 하나와 결과입니다. 왜 이렇게 바꿨을까는 요청과 바뀐 코드를 근거로 쓰고, 저장소에 팀 규칙 파일이 있으면 바뀐 코드와 직접 닿을 때만 팀 규칙 한 줄이 붙습니다. 배울 개념은 이미 배운 이름을 그대로 써서, 같은 개념은 같은 이름으로 쌓이고 "(복습)"이 붙습니다. 아는 개념으로 표시했거나 졸업한 개념은 다시 가르치지 않습니다. 1.7.0부터 다섯째 칸은 "직접 해 보기"입니다. 예전의 "직접 확인해 볼 것" 자리입니다. 노트에는 할 일과 확인만 보이고, 고칠 줄과 예시 답은 감춰 두었다가 t를 누르면 패널에서 직접 고쳐 볼 수 있습니다. 조금 뒤 따로 보겠습니다. 설명 수준은 /config의 learn-notes 설정 "설명 수준"에서 beginner, intermediate, advanced 가운데 고를 수 있고, 기본은 beginner입니다.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2를 누르면 전/후 보기로 갑니다. 바뀐 곳마다 원래 코드와 바뀐 코드를 줄 번호 그대로 놓는데, 바뀌지 않은 줄은 흐리게, 바뀐 줄은 마이너스와 플러스로 표시하고, 한 줄을 고친 것이면 그 줄에서 바뀐 낱말만 굵은 색으로 칠합니다. 맨 위에는 노트의 전, 후, 예가 다시 나와서 코드를 읽기 전에 무엇이 달라졌는지 먼저 잡고 갑니다. 보기는 숫자로 고릅니다. 1 노트, 2 전/후, 3 개념 모음, 4 퀴즈입니다. 숫자는 한/영 상태와 상관없이 눌려서, 한글로 대화하다가도 바로 쓸 수 있습니다. q는 오늘 복습을 바로 시작하는 키로, 복습할 개념이 있을 때 보기 줄 끝에 노란 점과 함께 보입니다. /learn은 패널만 열고 키는 대화 입력칸에 둡니다. 이어서 친 글자가 패널의 키로 눌리지 않게 하려는 것입니다. 패널의 키를 쓰려면 ctrl+x tab을 누르거나 패널을 클릭하고, 그러면 보기 줄 아래에 "Esc: 대화로 돌아가기"가 보입니다. Esc는 패널을 닫지 않고 키만 대화로 돌려줍니다. q, p 같은 글자 키는 영문 상태에서 눌러야 합니다. 한글 상태면 q가 ㅂ으로 들어갑니다.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노트를 읽다가 직접 해 보고 싶거나 궁금한 게 생기면 노트 아래의 "이 노트로" 줄에서 이어 갑니다. 그 아래에 지난 질문과 답, 질문 칸, 그리고 펼친 직접 해 보기가 차례로 놓입니다. t는 직접 해 보기입니다. 노트의 한 줄을 패널에서 직접 고쳐 보는 연습으로, 다음 장에서 자세히 봅니다. 예전의 "이 노트 퀴즈"는 없어졌고, 복습 퀴즈는 q와 /learn 복습으로 받습니다. e는 더 쉽게입니다. 원래 노트를 덮어쓰지 않고, 노트 아래에 "▶ 더 쉽게"로 쉬운 말과 일상의 비유를 넣은 설명을 덧붙입니다. r은 예시로 따라가기, i는 질문하기입니다. 오른쪽은 r을 누른 답으로, 예시 입력 하나로 변수 값이 바뀌는 과정을 따라가고 바뀌기 전 코드라면 결과가 어떻게 달랐는지 짚어 줍니다. 답은 노트 아래와 일지에 남고, 이어서 물으면 앞의 답을 읽고 답합니다. e, r, 질문은 할 때마다 모델 호출 한 번입니다. c는 1.7.0에 새로 생긴 복사 키입니다. 요청 문장, 노트 아래의 질문과 답, diff와 노트 속 코드 블록, 직접 해 보기의 고칠 줄과 예시 답은 빼고, 경로는 상대 경로나 파일 이름으로 줄이고, 비밀값은 가린 노트를 클립보드에 복사합니다. 프로젝트 밖의 Windows 드라이브 경로, \\wsl$ 같은 네트워크 공유, 따옴표로 감싼 공백 든 경로도 마지막 이름만 남깁니다. 끝에 "묻고 싶은 것" 빈칸이 있어서 멘토에게 붙이고 궁금한 점을 적으면 됩니다. 모델은 부르지 않습니다. 복사할 수 없는 화면에서는 같은 글을 대화창에 흐린 줄로 남기고, 이 줄은 Claude에게 가지 않습니다. 대화창의 /learn 공유도 같은 일을 하고, 예전 이름 /learn 마지막도 그대로 됩니다. 붙이기 전에 한 번 읽어 보세요. 노트를 처음부터 다시 쓰는 w는 이 줄 끝에 흐리게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Claude가 파일을 고친 턴의 노트 끝에는 "직접 해 보기" 칸이 있습니다. 할 일과 확인만 보이고, 고칠 줄과 예시 답은 감춰 둡니다. t를 누르면 모델을 부르지 않고, "이 노트로" 키 줄과 질문 칸 아래에 "연습입니다 · 파일은 바뀌지 않습니다"와 함께 고칠 줄이 입력칸으로 펼쳐지고, 위아래 줄이 흐리게 보입니다. 오른쪽 화면이 그 모습입니다. 칸에는 원래 줄이 미리 들어 있어서 그 줄을 고치면 됩니다. Enter를 누르면 확인합니다. 패널이 키를 받을 때마다(ctrl+x tab, 클릭, 다음 세션) 키는 먼저 이 칸으로 갑니다. 그래서 영문으로 친 코드가 패널의 r, e, w 같은 키로 눌리지 않습니다. Esc로 키를 대화에 돌려주면 칸 아래 줄 끝에 "ctrl+x tab: 고칠 줄 칸으로"가 보입니다. 칸에서 Tab을 누르면 1~4 보기 버튼으로, 한 번 고친 뒤에는 a 예시 답으로 갑니다. 고치지 않았거나 한글 상태로 적었으면 모델을 부르지 않고 바로 알려 줍니다. 예시 답과 같으면 호출 없이 "해냈습니다"이고, "모르겠어요"라고 적으면 호출 없이 힌트가 나옵니다. 다르게 고쳤으면 Claude가 할 일과 확인대로 동작하는지 한 번 봅니다. 첫 시도가 틀리면 퀴즈처럼 되묻기와 한 번 더 칸이 나오고, 두 번째에 맞히면 "해냈습니다 · 되짚어 맞힘"입니다. 예시 답은 한 번 고쳐 본 뒤에 a로 볼 수 있습니다. 결과는 퀴즈와 같은 규칙으로 그 노트의 첫 개념의 복습 단계에 들어갑니다. 되짚어 맞히거나 예시 답을 봤으면 단계는 그대로입니다. 헷갈린 점은 오답 노트에 남고, 오늘 복습 10문제에는 세지 않습니다. 코드는 영문 상태에서 적어 주세요. 한 번 더를 하지 않은 채 날이 바뀌면, 다음 세션 시작에 첫 시도의 판정대로 매깁니다. 고칠 만한 한 줄이 없는 노트나 1.7.0 전에 쓴 노트에는 t가 없습니다. 데스크톱 앱과 VS Code의 패널에서도 같은 칸으로 고칩니다. 모바일 앱에는 입력칸이 없어 예시 답만 볼 수 있습니다. 클라우드 세션의 /learn은 "터미널·데스크톱 앱의 패널에서 t로 고쳐 확인합니다"라고 안내합니다.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퀴즈는 /learn 복습으로 바로 시작합니다. 패널이 퀴즈로 열리고 커서가 답 칸에 있습니다. 패널에서는 오늘 복습할 개념이 있을 때 보기 줄 끝에 "q: 복습 n개"가 보이고, q를 누르면 퀴즈 보기로 가서 풀던 문제가 없으면 바로 새 문제를 받습니다. 4로 퀴즈 보기를 열고 s로 받아도 됩니다. 첫 퀴즈 전에는 s 아래에 무엇으로 몇 문제를 낼지 나옵니다. 보통은 "s를 누르면 복습할 개념으로 내 코드에서 3문제를 냅니다"이고, 이 저장소의 팀 용어가 빈자리를 채울 때는 "복습할 개념과 이 저장소의 팀 용어로"처럼 그대로 알려 줍니다. 일반적인 예제가 아니라 그 개념을 배운 노트의 내 코드로 묻고, 문제 제목에 예측, 왜, 바꿔 보기 같은 유형이 붙습니다. 답을 적고 Enter를 누르면 채점됩니다. 1.7.0에서 바뀐 것은 첫 답이 틀렸을 때입니다. 거의 맞음이나 틀림이면 정답을 바로 펼치지 않고, 오른쪽처럼 내 답대로라면 무엇이 되는지 짚은 뒤 되묻기를 하나 던집니다. 커서는 빈 "내 답 (한 번 더)" 칸에 있어서, 한/영을 바꾸지 않고 다시 적으면 됩니다. 두 번째에 맞히면 맞힘에 "되짚어 맞힘"이 붙고, 도움을 받은 것이라 복습 단계는 그대로입니다. 두 번째도 틀리면 정답을 펼치고 틀림으로 매기고, 두 번 다 거의였으면 거의 맞음입니다. 정답 보기 a는 한 번 적어 본 뒤에만 나오고, 누르면 첫 판정대로 바로 매깁니다. 답이 떠오르지 않으면 "모르겠어요"라고 적고 Enter를 누르세요. 모델을 부르지 않고 힌트를 보여 주고, 힌트를 이미 봤으면 정답을 펼치고 틀림으로 매깁니다. 커서가 답 칸에 있는 동안 글자 키는 답으로 들어가므로, 힌트나 정답은 Tab으로 버튼에 간 뒤 누르거나 마우스로 누릅니다. 데스크톱 앱과 VS Code, 그리고 Esc로 키를 대화에 돌려준 터미널 패널에서는 Tab 줄 대신 답 칸 아래에 "모르면 '모르겠어요'라고 적고 Enter"가 보입니다. 한 번 더를 하지 않은 채 날이 바뀌거나 새 문제를 받으면, 남은 첫 답은 첫 판정대로 매깁니다. 날이 바뀐 경우는 다음 세션 시작이나 /learn 답 위에 "날이 바뀌어 한 번 더를 기다리던 …은 첫 답의 판정대로 매겼습니다"로 알려 줍니다. 모바일처럼 입력칸이 없는 화면, 채점 호출이 실패했을 때, /learn 퀴즈 정답으로 정답을 먼저 봤을 때는 예전처럼 o, x로 스스로 채점합니다. 대화창의 /learn 퀴즈 1 내 답에도 되묻기가 세 줄로 오고, /learn 퀴즈 1 뒤에 새 답을 적어 한 번 더 답합니다. 늘어나는 비용은 첫 오답의 두 번째 채점 한 번뿐입니다.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답을 적고 Enter를 눌러 Claude가 채점한 화면입니다. 판정은 맞힘, 거의 맞음, 틀림 세 가지이고, 그에 따라 다음 복습 시기가 바뀝니다. 표현이 달라도 뜻이 같으면 맞힘입니다. 예측 문제는 값이 같으면 설명이 없어도 맞힘이고, 바꿔 보기는 정답과 다른 코드여도 바라는 대로 동작하면 맞힘입니다. 피드백은 내 답대로라면 무엇이 되는지 먼저 짚고, 맞은 점 하나를 인정합니다. 정답은 맞혔을 때, 두 번째 채점이 끝났을 때, a를 눌렀을 때 펼쳐집니다. 힌트를 봤으면 결과 줄에 "힌트 봄"이, 되묻기 뒤에 맞혔으면 "되짚어 맞힘"이 붙고, 이때는 복습 단계가 그대로입니다. 채점이 이상하면 f로 맞힘과 틀림을 바꿀 수 있고, 복습 단계도 처음부터 그렇게 채점한 것처럼 돌아갑니다. 되묻기 칸에서는 f가 "맞았는데요"로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답이 틀리거나 거의였으면, 채점하는 Claude가 무엇을 헷갈렸는지 한 문장으로 적어 둡니다. 되묻기 뒤 한 번 더도 틀렸거나 거의였으면 그 문장을 피드백 아래에 흐린 한 줄로 보여 줍니다. 왼쪽 화면의 "헷갈린 점: 인자를 안 넘기면 금액 비교가 불가능해 0건이 된다고 봄"이 그 줄입니다. 이것을 오답 노트라고 부르지만, 새 키나 명령은 없습니다. 다음 퀴즈에서는 그 개념이 맨 앞에 "다시 도전"으로 나오고, 지난번과 다른 코드로 그 자리를 다시 묻습니다. 오른쪽 화면이 다음 날의 그 문제입니다. 헷갈린 점은 답하기 전에는 보이지 않습니다. 다른 날 힌트나 되묻기 없이 맞히면 초록으로 "지난번 헷갈린 점을 바로잡았습니다"가 나오고, 같은 날 맞히면 "바로 다시 맞혔습니다 · 다음 복습에서 한 번 더 확인합니다"가 나옵니다. 또 틀리면 "같은 곳을 또 헷갈렸습니다"와 함께, 그 개념을 배운 노트가 패널에 있으면 n으로 가서 r로 따라가 보라고 안내합니다. 되묻기 뒤에 바로 맞혔으면 "헷갈린 점을 바로 고쳤습니다"가 나오고, 다른 날 다른 코드로 한 번 더 확인합니다. 답을 비웠거나 모르겠어요였으면 "떠오르지 않았습니다"로 남습니다. 헷갈린 점은 개념 모음의 복습할 개념 줄과 /learn 정리의 "헷갈리기 쉬운 것"에도 나옵니다. f로 맞힘으로 바꾸거나, /learn 안다로 아는 개념으로 옮기거나, 졸업하면 지워집니다. 모델 호출은 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간격 반복은 잊을 때쯤 다시 보여 주는 학습법입니다. 맞힐 때마다 1일, 3일, 7일, 14일, 30일, 60일로 간격이 늘어납니다. 직접 떠올린 것만 복습으로 칩니다. 때가 된 개념을 답을 직접 적어 맞혀야 한 칸 오르고, 힌트나 되묻기, 정답을 보고 맞히면 단계는 그대로이고 같은 간격 뒤에 다시 나옵니다. 노트에서 그 개념을 다시 만난 것은 복습 날짜를 바꾸지 않습니다. 거의 맞으면 한 칸 내려가고, 틀리면 처음 단계로 돌아갑니다. 퀴즈의 순서는 다시 도전할 개념, 때가 된 개념, 그다음 곧 때가 될 개념입니다. 팀 파일에 용어가 있는 저장소에서는 빈자리를 아직 안 만난 팀 용어가 채웁니다. 하루 복습은 10문제까지만 셉니다. 복습할 개념이 있으면 프롬프트 아래 상태줄에 "학습 노트 · 오늘 복습 3개 · /learn 복습"이 뜨고, 10문제를 채점하면 상태줄이 내려갑니다. 직접 해 보기는 이 10문제에 세지 않습니다. 60일 단계에서 때가 되어 또 맞히면 졸업해서 아는 개념이 됩니다. 아는 개념은 복습과 퀴즈에서 빠지고 다음 노트에서 다시 가르치지 않습니다. 이미 아는 개념은 /learn 안다 뒤에 이름을 적어 바로 뺄 수 있고, /learn 모른다로 되돌립니다.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개념은 프로젝트를 넘어 한 목록에 모입니다. 3을 누르면 개념 모음이고, 맨 위에 배운 개념 수, 최근 7일 새로 배운 수, 연속 학습일, 퀴즈 정답 수가 한 줄로 나옵니다. 팀 파일에 용어가 있는 저장소에서는 그 아래에 "팀 용어 4개 중 1개 만남"과 아직 안 만난 용어가 보입니다. 복습할 개념 줄에는 남은 헷갈린 점이 있으면 그 한 줄이 붙습니다. 개념마다 몇 번 만났는지, 아직 떠올려 본 적이 없는지 다음 복습이 언제인지, 어느 노트에서 나왔는지까지 보입니다. 팀 용어에서 온 개념은 만난 횟수 바로 뒤에 흐리게 "· 팀 용어"가 붙습니다. /learn 정리는 하루나 한 주를 한 일, 핵심 개념, 헷갈리기 쉬운 것, 다음에 해 볼 것 네 칸으로 정리하는데, 헷갈리기 쉬운 것은 그 기간에 남은 헷갈린 점이 있으면 그것을 씁니다. /learn 기록은 통계와 개념 목록을 한 번에 보여 주고, 맨 아래에 학습 노트의 모델 호출 수도 나옵니다. 하위 명령을 몰라도 대화창에 그냥 물으면 Claude가 읽기 전용 학습 기록 도구로 내 노트를 읽고 답합니다. Anki로 내보내면 휴대폰에서도 복습할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명령은 /learn 하나에 하위 명령을 붙입니다. 도움말은 1.6처럼 14줄이고, 1.7.0에서 /learn 공유, /learn 퀴즈 팀, /learn 진단이 들어갔습니다. /learn 찾기와 /learn 일지는 "가끔" 줄로 내려갔지만 그대로 동작합니다. /learn 공유는 예전 /learn 마지막을 대신합니다. 옛 이름도 그대로 되고, 이제 노트 본문을 대화창에 적는 대신 요청은 빼고 경로는 줄인 복사 글을 클립보드에 넣습니다. /learn 퀴즈는 풀던 문제가 남아 있으면 모델을 부르지 않고 그 퀴즈를 다시 보여 주고, 새 문제는 /learn 퀴즈 새로로 받습니다. 번호 없이 답만 적으면 아직 안 푼 첫 문제로 채점합니다. /learn 저장은 이제 "노트는 저절로 저장됩니다"와 자주 쓰는 명령 한 줄로 답합니다. 패널이 안 보이는 클라우드 세션이나 모바일에서도 명령만으로 퀴즈를 받고 채점받고 질문할 수 있습니다. 대화 입력칸에 /learn 뒤 한 칸을 띄우면 복습, 퀴즈, 정리, 질문, 기록, 보고서, 공유, 진단, 도움말이 힌트로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마지막으로 설치하는 법과 팀에서 쓰는 법, 그리고 회사에 깔 때 담당자가 알아 둘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설치는 Claude Code 안에서 두 줄입니다. 처음 설치한 세션에서는 "learn-notes가 켜졌습니다" 알림이 한 번 뜹니다. 다시 시작한 뒤 /tui fullscreen으로 전체 화면을 켜고 /learn으로 패널을 엽니다. 패널의 키는 ctrl+x tab이나 클릭으로 옮기고, Esc를 누르면 대화 입력칸으로 돌아갑니다. 오늘 복습은 /learn 복습입니다. 그다음은 평소처럼 코딩을 요청하면 됩니다. 숫자 1부터 4는 한/영 상태와 상관없이 눌리지만, q, t, c 같은 글자 키는 영문 상태에서 눌러야 합니다. Windows에서는 작업할 폴더에서 Claude Code를 켜는 것만 기억해 주세요. 이미 설치한 분은 /plugin에서 Update를 누른 뒤 /reload-plugins를 하고, /learn 도움말 첫 줄이 "learn-notes 1.7.0 명령"이면 됩니다. 1.7.0부터는 다른 창이 더 새 버전을 쓰고 있으면 옛 창에 /reload-plugins 알림이 한 번 뜹니다. 다만 이 알림은 1.7.0 창부터 보이므로, 이번 업데이트 때 열려 있던 1.6 창은 직접 /reload-plugins 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팀에서는 이런 리듬을 추천합니다. 아침에 상태줄에 오늘 복습이 보이면 /learn 복습을 칩니다. 지난번 헷갈린 개념이 있으면 다시 도전으로 먼저 나옵니다. 오늘 복습은 하루 10문제까지라 부담이 없습니다. 작업 중에는 노트의 t로 한 줄을 직접 고쳐 보고, 모르면 i로 바로 질문합니다. 혼자 풀리지 않으면 c로 노트를 복사해 멘토에게 묻습니다. 요청은 빠지고 경로는 짧아진 글이라 붙이기 쉽지만, 붙이기 전에 한 번 읽어 보세요. 하루 끝에는 /learn 정리로 정리해 핵심 한 줄을 공유하고, 주 1회는 각자 /learn 보고서를 붙이고 "내 말로 한 줄"을 채워 회고합니다. 새로 온 사람은 /learn 퀴즈 팀으로 팀 용어부터 익히면 됩니다. 하루 5분, 한 주 15분이면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팀으로 쓸 때 알아 두실 네 가지입니다. 첫째, 팀 규칙 파일입니다. 저장소의 .claude/learn-notes.md에 규칙, 용어, 빼기 세 제목으로 적어 커밋하면, 새 명령 없이 팀원 모두의 노트가 그것을 따릅니다. 바뀐 코드와 직접 닿는 규칙이 있을 때만 노트의 "왜 이렇게 바꿨을까" 끝에 팀 규칙 한 줄이 붙고, 달라 보이면 "팀 규칙과 다를 수 있음"으로 단정하지 않고 적습니다. 용어에 있는 개념은 그 이름 그대로 쓰여서 모두의 개념 모음에 같은 이름으로 쌓이고, 1.7.0부터는 그대로 팀 용어 연습이 됩니다. 다음 장에서 봅니다. 빼기는 노트에 내용을 싣지 않을 경로이고, 설정 excludePaths와 합쳐집니다. 규칙과 용어는 합쳐 앞 3,000자까지만 노트를 쓰는 모델에 보내고, 규칙 판정은 참고 의견일 뿐 코드 리뷰를 대신하지 않습니다. 파일은 Claude Code를 켠 폴더 아래에서 찾으니 저장소 맨 위에서 켜 주세요. 둘째, 설치를 한 번에 하는 방법입니다. 저장소의 .claude/settings.json에 learn-notes 마켓플레이스(extraKnownMarketplaces)와 enabledPlugins를 커밋하면, 팀원이 폴더 신뢰 창을 받아들인 뒤 따로 설치하지 않아도 켜집니다. 조직 전체라면 관리자가 관리 설정(claude.ai 관리 콘솔, MDM, managed-settings.json)에 같은 키를 넣고, pluginConfigs에 learn-notes@learn-notes 값을 넣어 잠급니다. 잠근 값은 /config의 learn-notes 항목에 보이지만 바꿀 수 없고, /learn 진단에는 "(관리자 잠금)"으로 나옵니다. 모델을 haiku로, 하루 자동 노트 수를 dailyAutoNotes로 정해 두면 비용을 가늠하기 쉽습니다. 셋째, 비밀값입니다. .env 같은 비밀 파일과 package-lock.json 같은 잠금·생성 파일은 내용을 모으지 않고 이름만 남기고, 코드 속 흔한 키 형식은 «가림»으로 바꾼 뒤 모델에 보냅니다. 흔한 형식만 잡으므로 사내 비밀 파일은 빼기에 넣어 주세요. 메인 Claude는 그 파일을 읽고 고치면서 이미 내용을 봤다는 점도 기억해 주세요. 넷째, 멘토와 나누는 법입니다. 노트 한 편은 c나 /learn 공유로 요청과 diff는 빼고 경로는 줄인 글을 복사해 묻고, 한 주의 학습은 /learn 보고서로 코드, 요청 문장, 파일 이름 없이 학습한 날, 노트 수, 새 개념 이름, 정답률, 틀린 개념을 정리해 붙입니다. 사람을 줄 세우는 데는 쓰지 않길 권합니다. 개념 이름이나 코드 인용에 업무 내용이 드러날 수 있으니 붙이기 전에 한 번 읽어 보세요.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팀 파일의 ## 용어는 1.7.0부터 온보딩 연습이 됩니다. 리더는 지금처럼 용어를 적기만 하면 되고, 적은 순서가 연습 순서입니다. 설명 안에 백틱으로 저장소 경로를 적으면 그 코드로 묻습니다. :2-9처럼 줄 범위를 붙일 수 있고, 범위가 없으면 용어 이름이 처음 나오는 줄 둘레를 씁니다. 경로가 없거나 읽을 수 없으면 설명만으로 묻고, .md 파일은 팀 노트로 읽습니다. 커밋한 노트 .md에 용어 이름이 없으면 맨 위부터 40줄까지, 700자 안에서 씁니다. 팀원에게는 이렇게 보입니다. 이 저장소를 처음 연 세션에 "이 저장소의 팀 용어 n개로 연습할 수 있습니다" 토스트가 한 번 뜹니다. 퀴즈를 받을 때 때가 된 개념이 3개보다 적으면, 남는 자리를 아직 안 만난 팀 용어가 적힌 순서대로 채웁니다. 첫 퀴즈 전 퀴즈 보기의 안내도 "s를 누르면 복습할 개념과 이 저장소의 팀 용어로 3문제를 냅니다"처럼 팀 용어 자리를 셉니다. 오른쪽은 /learn 퀴즈 팀으로 받은 팀 용어 퀴즈의 첫 문제입니다. 문제 제목에 "팀 용어"가, 그 아래 "팀 코드 (cartStore.js 4~10줄)"이 붙습니다. 채점하면 그 용어가 내 개념 모음에 들어가고, 이후에는 다른 개념처럼 간격 반복으로 돌아옵니다. 팀 용어만 풀고 싶으면 /learn 퀴즈 팀을 씁니다. 개념 모음 맨 위에는 "팀 용어 4개 중 1개 만남"과 아직 안 만난 용어가 보이고, 만난 용어의 개념 줄에는 횟수 바로 뒤에 "· 팀 용어"가 붙습니다. "몇 개 중 몇 개 만남" 진행 줄은 /learn 기록과 /learn 보고서에도 나옵니다. 모델 호출은 늘지 않습니다. 읽는 코드는 저장소 안의 200KB 이하 파일뿐이고, 용어당 700자까지 비밀값을 가린 뒤 퀴즈를 만드는 모델에 보냅니다. 빼기에 넣은 경로, .env 같은 비밀 파일, wp-config.php · settings.php · appsettings.json · secrets.json · .htpasswd 같은 설정 파일, .git 폴더 안은 읽지 않고 설명만으로 묻습니다. 링크는 가리키는 곳을 기준으로 봅니다. 팀 파일에서 경로를 빼면 코드를 읽지 않고 설명만으로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회사에 넓게 깔 때 담당자가 알아 두실 것입니다. 첫째, /learn 진단입니다. 노트가 안 생기거나 패널이 이상하면 대화창에 /learn 진단을 치게 해 주세요. 모델을 부르지 않고 버전, 다른 창의 버전, 화면, 설정(관리자가 잠근 값 표시), 오늘 노트·호출·실패 수, 저장소 크기, 최근 7일의 문제를 원인별로 정리해 클립보드에 복사하고 대화창에도 적습니다. 코드, 요청, 파일 이름, 경로, 개념 이름은 들어 있지 않으니 팀 채널에 그대로 붙여도 됩니다. 복사할 수 없는 화면에서는 대화창에만 적습니다. 왼쪽 글은 예시 화면에서 뽑은 것입니다. 실패 알림도 원인을 말합니다. 디스크가 가득 찼는지, 폴더에 쓸 권한이 없는지, 로그인이 필요한지, 요청 한도에 걸렸는지를 나눠 알려 줍니다. 둘째, 버전 알림입니다. 업데이트한 뒤 다른 창이 더 새 버전을 쓰고 있으면, 옛 창에 흐린 줄과 토스트가 한 번 뜨고 /reload-plugins를 안내합니다. 저장소가 더 새 구조로 쓰였으면 옛 창은 다시 불러올 때까지 개념 모음과 복습 단계를 고치지 않고, 노트와 일지는 그대로 씁니다. 이 알림은 1.7.0 창부터 보입니다. 새 구조를 쓰는 판을 깔았다가 1.7로 되돌린 경우처럼 다시 불러와도 이 상태가 남으면, 알림 끝에 "다시 불러와도 계속되면 /learn 진단을 담당자에게 보내 주세요"가 붙고, 진단의 "다른 창" 줄에 저장소가 새 구조라는 것이 나옵니다. 창을 여러 개 열어 같은 퀴즈를 풀어도 첫 오답, 힌트, 채점이 사라지거나 두 번 세지지 않습니다. 다른 창에서 먼저 답한 문제에는 "이 문제는 그사이 다른 창에서 먼저 답했습니다. 한 번 더 적어 보세요."가 나옵니다. 셋째, 노트가 끊기지 않게 했습니다. 자동 노트가 서버 붐빔(529), 서버 오류, 연결 끊김, 시간 초과로 실패하면 노란 줄로 알리고 30초 뒤 한 번 더 씁니다. 두 번째도 실패하면 빨간 줄로 이유와 할 일을 알려 줍니다. 요청 한도에 걸린 것은 메인 세션과 나눠 쓰는 한도라 저절로 다시 쓰지 않습니다. /reload-plugins나 /config 변경 직후에 쓰다 멈춘 노트는 10분 안이면 저절로 이어 씁니다. w로 다시 쓰던 노트가 그렇게 끊기면 원래 노트로 돌아오고, "다시 불러오는 사이 노트 다시 쓰기가 끊겼습니다 · 원래 노트는 그대로입니다 · w로 다시 쓰기" 토스트가 한 번 뜹니다. 30초 뒤 다시 쓰기를 기다리는 동안 /learn 비우기를 확인하면, 그 노트는 다시 쓰지 않고 실패한 노트로 일지에 남깁니다. 구독 계정에서 5시간 사용 한도의 90%, 7일 한도의 95%를 넘으면 자동 노트를 미루고, w를 누르면 바로 씁니다. 이 문턱은 설정이 아니라 고정값입니다. 다시 쓴 호출은 모델 호출 수에는 들어가지만 하루 자동 노트 한도에는 세지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파일을 바꾼 턴마다 작은 모델 호출 한 번이 기본입니다. 퀴즈, 채점, 질문, 정리는 쓸 때마다 한 번씩입니다. 1.7.0에서 늘어나는 것은 첫 오답의 두 번째 채점, 잠깐 오류로 실패한 자동 노트의 30초 뒤 한 번, 재로드로 끊긴 노트의 이어 쓰기 한 번입니다. 모르겠어요의 채점과 이 노트 퀴즈의 호출이 없어진 만큼은 줄어듭니다. 직접 해 보기는 고치지 않았거나 한글로 적었거나 예시 답과 같거나 모르겠어요면 호출이 없고, 그 밖에는 확인에 한 번, 한 번 더까지 많아야 두 번입니다. 기록, 보고서, 힌트, 찾기, 복사, 진단은 모델을 부르지 않습니다. 뺀 파일만 바뀐 턴, JS나 CSS 같은 파일에서 띄어쓰기와 줄바꿈만 바뀐 턴도 모델을 부르지 않습니다. 하루 자동 노트 수는 dailyAutoNotes로 정할 수 있고, 사용량은 /learn 기록 맨 아래에 나옵니다. 노트와 기록은 모두 내 컴퓨터에만 저장됩니다. 다만 /learn 명령의 답은 대화창에 들어가 메인 Claude도 읽습니다. 팀 용어에 적은 경로의 코드는 저장소 안 200KB 이하 파일만 읽고, 용어당 700자까지 가린 뒤 퀴즈 호출에 싣습니다. 비밀 파일과 wp-config.php, appsettings.json 같은 설정 파일은 팀 용어로 적어도 읽지 않습니다. 노트가 안 생기면 먼저 /learn 진단을 담당자에게 보내 주세요. 노란 줄은 다시 쓰기를 기다리는 중이라는 뜻이고, 빨간 줄은 이유와 할 일을 알려 줍니다. 숫자 1부터 4는 한/영과 상관없이 눌리고, 글자 키가 안 먹으면 한/영이 한글 상태인 경우가 많습니다. 그래도 안 되면 GitHub Issues나 팀 채널에 진단과 캡처를 남겨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설치는 이 두 줄이면 됩니다. 오늘 첫 요청부터 노트가 쌓입니다. 궁금한 점 있으시면 편하게 물어봐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7452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31920"/>
            <a:ext cx="6309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E"/>
                </a:solidFill>
              </a:rPr>
              <a:t>learn-notes · Claude Code 모드 소개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CLAUDE CODE MOD · 팀 소개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7452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코딩은 Claude와 함께,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배운 것은 내 것으로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9319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learn-notes 1.7.0 — Claude가 고친 코드가 무엇을 어떻게 달라지게 했는지 턴마다 학습 노트로 보여 주고, 잊을 때쯤 내 코드로 퀴즈를 내며, 틀린 자리는 되물어 다시 풀게 하는 Claude Code 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89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C9BE"/>
                </a:solidFill>
              </a:rPr>
              <a:t>github.com/Owen-YC/learn-notes  ·  2026년 10월</a:t>
            </a:r>
            <a:endParaRPr lang="en-US" sz="1200" dirty="0"/>
          </a:p>
        </p:txBody>
      </p:sp>
      <p:pic>
        <p:nvPicPr>
          <p:cNvPr id="6" name="title-pane" descr="title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685800"/>
            <a:ext cx="3886200" cy="5408231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F3D3E">
                <a:alpha val="2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이런 경험, 있으신가요?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02152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-LuCircleHelp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5" name="icon-LuCircleHelp" descr="LuCircleHel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5" y="191292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왜 바뀌었는지 모릅니다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Claude가 몇 초 만에 고친 코드. 설명은 대화 속에 묻히고, 전과 후를 다시 찾기 어렵습니다.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343400" y="1417320"/>
            <a:ext cx="3502152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badge-LuRepeat"/>
          <p:cNvSpPr/>
          <p:nvPr/>
        </p:nvSpPr>
        <p:spPr>
          <a:xfrm>
            <a:off x="4663440" y="173736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icon-LuRepeat" descr="LuRepe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005" y="191292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매번 처음 보는 것 같습니다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20040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지난주에 본 for...of를 오늘 또 처음 보는 것처럼 지나칩니다.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8138160" y="1417320"/>
            <a:ext cx="3502152" cy="3063240"/>
          </a:xfrm>
          <a:prstGeom prst="roundRect">
            <a:avLst>
              <a:gd name="adj" fmla="val 2985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badge-LuHourglass"/>
          <p:cNvSpPr/>
          <p:nvPr/>
        </p:nvSpPr>
        <p:spPr>
          <a:xfrm>
            <a:off x="8458200" y="173736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con-LuHourglass" descr="LuHourgl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765" y="191292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2651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배운 것이 남지 않습니다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200400"/>
            <a:ext cx="2880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무엇을 배웠는지 기록이 없어, 내가 성장했는지 알기 어렵습니다.</a:t>
            </a:r>
            <a:endParaRPr lang="en-US" sz="1400" dirty="0"/>
          </a:p>
        </p:txBody>
      </p:sp>
      <p:sp>
        <p:nvSpPr>
          <p:cNvPr id="18" name="statement"/>
          <p:cNvSpPr/>
          <p:nvPr/>
        </p:nvSpPr>
        <p:spPr>
          <a:xfrm>
            <a:off x="548640" y="4800600"/>
            <a:ext cx="11091672" cy="11430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badge-LuLightbulb"/>
          <p:cNvSpPr/>
          <p:nvPr/>
        </p:nvSpPr>
        <p:spPr>
          <a:xfrm>
            <a:off x="868680" y="5001768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con-LuLightbulb" descr="LuLight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245" y="5177333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828800" y="4800600"/>
            <a:ext cx="9509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Claude가 코드를 고칠 때마다, 나에게 짧은 수업이 하나씩 남는다면?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learn-notes는 이렇게 돕습니다</a:t>
            </a:r>
            <a:endParaRPr lang="en-US" sz="3000" dirty="0"/>
          </a:p>
        </p:txBody>
      </p:sp>
      <p:sp>
        <p:nvSpPr>
          <p:cNvPr id="3" name="outline"/>
          <p:cNvSpPr/>
          <p:nvPr/>
        </p:nvSpPr>
        <p:spPr>
          <a:xfrm>
            <a:off x="548640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4" name="badge-LuEye"/>
          <p:cNvSpPr/>
          <p:nvPr/>
        </p:nvSpPr>
        <p:spPr>
          <a:xfrm>
            <a:off x="822960" y="17830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LuEye" descr="Lu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196961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240280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모읍니다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Claude가 파일을 고칠 때마다 바뀌기 전과 후를 모읍니다.</a:t>
            </a:r>
            <a:endParaRPr lang="en-US" sz="1400" dirty="0"/>
          </a:p>
        </p:txBody>
      </p:sp>
      <p:sp>
        <p:nvSpPr>
          <p:cNvPr id="9" name="arrow"/>
          <p:cNvSpPr/>
          <p:nvPr/>
        </p:nvSpPr>
        <p:spPr>
          <a:xfrm rot="5400000">
            <a:off x="3163824" y="3044952"/>
            <a:ext cx="201168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0" name="outline"/>
          <p:cNvSpPr/>
          <p:nvPr/>
        </p:nvSpPr>
        <p:spPr>
          <a:xfrm>
            <a:off x="3410712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1" name="badge-LuNotebookPen"/>
          <p:cNvSpPr/>
          <p:nvPr/>
        </p:nvSpPr>
        <p:spPr>
          <a:xfrm>
            <a:off x="3685032" y="1783080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2" name="icon-LuNotebookPen" descr="LuNotebook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1570" y="1969618"/>
            <a:ext cx="404165" cy="40416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102352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02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685032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노트를 씁니다</a:t>
            </a:r>
            <a:endParaRPr lang="en-US" sz="2000" dirty="0"/>
          </a:p>
        </p:txBody>
      </p:sp>
      <p:sp>
        <p:nvSpPr>
          <p:cNvPr id="15" name="Text 11"/>
          <p:cNvSpPr txBox="1"/>
          <p:nvPr/>
        </p:nvSpPr>
        <p:spPr>
          <a:xfrm>
            <a:off x="3685032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턴이 끝나면 무엇이·왜 바뀌었고 무엇을 배울지 정리합니다.</a:t>
            </a:r>
            <a:endParaRPr lang="en-US" sz="1400" dirty="0"/>
          </a:p>
        </p:txBody>
      </p:sp>
      <p:sp>
        <p:nvSpPr>
          <p:cNvPr id="16" name="arrow"/>
          <p:cNvSpPr/>
          <p:nvPr/>
        </p:nvSpPr>
        <p:spPr>
          <a:xfrm rot="5400000">
            <a:off x="6025896" y="3044952"/>
            <a:ext cx="201168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7" name="outline"/>
          <p:cNvSpPr/>
          <p:nvPr/>
        </p:nvSpPr>
        <p:spPr>
          <a:xfrm>
            <a:off x="6272784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8" name="badge-LuBrain"/>
          <p:cNvSpPr/>
          <p:nvPr/>
        </p:nvSpPr>
        <p:spPr>
          <a:xfrm>
            <a:off x="6547104" y="1783080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con-LuBrain" descr="LuB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642" y="1969618"/>
            <a:ext cx="404165" cy="404165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964424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03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6547104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복습합니다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6547104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잊을 때쯤 내 코드로 퀴즈를 내고, 틀리면 되물어 한 번 더 풀게 합니다.</a:t>
            </a:r>
            <a:endParaRPr lang="en-US" sz="1400" dirty="0"/>
          </a:p>
        </p:txBody>
      </p:sp>
      <p:sp>
        <p:nvSpPr>
          <p:cNvPr id="23" name="arrow"/>
          <p:cNvSpPr/>
          <p:nvPr/>
        </p:nvSpPr>
        <p:spPr>
          <a:xfrm rot="5400000">
            <a:off x="8887968" y="3044952"/>
            <a:ext cx="201168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24" name="outline"/>
          <p:cNvSpPr/>
          <p:nvPr/>
        </p:nvSpPr>
        <p:spPr>
          <a:xfrm>
            <a:off x="9134856" y="1463040"/>
            <a:ext cx="2560320" cy="3383280"/>
          </a:xfrm>
          <a:prstGeom prst="roundRect">
            <a:avLst>
              <a:gd name="adj" fmla="val 3571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25" name="badge-LuChartColumn"/>
          <p:cNvSpPr/>
          <p:nvPr/>
        </p:nvSpPr>
        <p:spPr>
          <a:xfrm>
            <a:off x="9409176" y="1783080"/>
            <a:ext cx="777240" cy="7772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6" name="icon-LuChartColumn" descr="LuChartColum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5714" y="1969618"/>
            <a:ext cx="404165" cy="404165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10826496" y="1874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C5D3CE"/>
                </a:solidFill>
              </a:rPr>
              <a:t>04</a:t>
            </a:r>
            <a:endParaRPr lang="en-US" sz="2000" dirty="0"/>
          </a:p>
        </p:txBody>
      </p:sp>
      <p:sp>
        <p:nvSpPr>
          <p:cNvPr id="28" name="Text 22"/>
          <p:cNvSpPr txBox="1"/>
          <p:nvPr/>
        </p:nvSpPr>
        <p:spPr>
          <a:xfrm>
            <a:off x="9409176" y="2788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쌓입니다</a:t>
            </a:r>
            <a:endParaRPr lang="en-US" sz="2000" dirty="0"/>
          </a:p>
        </p:txBody>
      </p:sp>
      <p:sp>
        <p:nvSpPr>
          <p:cNvPr id="29" name="Text 23"/>
          <p:cNvSpPr txBox="1"/>
          <p:nvPr/>
        </p:nvSpPr>
        <p:spPr>
          <a:xfrm>
            <a:off x="9409176" y="331012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일지·개념 모음·연속 학습일로 성장이 눈에 보입니다.</a:t>
            </a:r>
            <a:endParaRPr lang="en-US" sz="1400" dirty="0"/>
          </a:p>
        </p:txBody>
      </p:sp>
      <p:sp>
        <p:nvSpPr>
          <p:cNvPr id="30" name="card"/>
          <p:cNvSpPr/>
          <p:nvPr/>
        </p:nvSpPr>
        <p:spPr>
          <a:xfrm>
            <a:off x="548640" y="516636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1" name="badge-LuSparkles"/>
          <p:cNvSpPr/>
          <p:nvPr/>
        </p:nvSpPr>
        <p:spPr>
          <a:xfrm>
            <a:off x="777240" y="53035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2" name="icon-LuSparkles" descr="LuSparkl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886" y="5446166"/>
            <a:ext cx="309067" cy="309067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600200" y="51663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평소처럼 코딩만 요청하세요. 따로 공부 시간을 내지 않아도, 노트와 복습이 저절로 쌓입니다.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6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모드(MOD)란?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Claude Code에 끼우는 작은 확장, 그리고 그것이 동작하는 방식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Claude Code와 모드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5394960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-LuTerminal"/>
          <p:cNvSpPr/>
          <p:nvPr/>
        </p:nvSpPr>
        <p:spPr>
          <a:xfrm>
            <a:off x="868680" y="1737360"/>
            <a:ext cx="777240" cy="77724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con-LuTerminal" descr="LuTermi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1923898"/>
            <a:ext cx="404165" cy="40416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Claude Code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Anthropic의 AI 코딩 도우미입니다. 터미널이나 데스크톱 앱에서 대화하면 Claude가 파일을 읽고, 코드를 고치고, 명령을 실행합니다.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20624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요청을 보내고 Claude가 일을 마치기까지를 "턴(turn)" 하나라고 부릅니다.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245352" y="1417320"/>
            <a:ext cx="5394960" cy="34290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badge-LuPuzzle"/>
          <p:cNvSpPr/>
          <p:nvPr/>
        </p:nvSpPr>
        <p:spPr>
          <a:xfrm>
            <a:off x="6565392" y="173736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-LuPuzzle" descr="Lu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930" y="192389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65392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모드 (MOD)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65392" y="32004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Claude Code에 끼우는 작은 확장입니다. 원래 프로그램은 그대로 두고, 그 위에 새 화면과 동작을 얹습니다.</a:t>
            </a:r>
            <a:endParaRPr lang="en-US" sz="1500" dirty="0"/>
          </a:p>
        </p:txBody>
      </p:sp>
      <p:sp>
        <p:nvSpPr>
          <p:cNvPr id="14" name="badge-LuSmartphone"/>
          <p:cNvSpPr/>
          <p:nvPr/>
        </p:nvSpPr>
        <p:spPr>
          <a:xfrm>
            <a:off x="6565392" y="420624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con-LuSmartphone" descr="Lu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31596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114032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스마트폰에 앱을 깔듯</a:t>
            </a:r>
            <a:endParaRPr lang="en-US" sz="1300" dirty="0"/>
          </a:p>
        </p:txBody>
      </p:sp>
      <p:sp>
        <p:nvSpPr>
          <p:cNvPr id="17" name="badge-LuGamepad2"/>
          <p:cNvSpPr/>
          <p:nvPr/>
        </p:nvSpPr>
        <p:spPr>
          <a:xfrm>
            <a:off x="9098280" y="420624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con-LuGamepad2" descr="LuGamepad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8008" y="431596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646920" y="42062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게임에 모드를 얹듯</a:t>
            </a:r>
            <a:endParaRPr lang="en-US" sz="1300" dirty="0"/>
          </a:p>
        </p:txBody>
      </p:sp>
      <p:sp>
        <p:nvSpPr>
          <p:cNvPr id="20" name="equation"/>
          <p:cNvSpPr/>
          <p:nvPr/>
        </p:nvSpPr>
        <p:spPr>
          <a:xfrm>
            <a:off x="548640" y="512064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86868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Claude Code</a:t>
            </a:r>
            <a:r>
              <a:rPr lang="en-US" sz="1900" dirty="0">
                <a:solidFill>
                  <a:schemeClr val="accent6"/>
                </a:solidFill>
              </a:rPr>
              <a:t>  +  </a:t>
            </a:r>
            <a:r>
              <a:rPr lang="en-US" sz="1900" b="1" dirty="0">
                <a:solidFill>
                  <a:schemeClr val="accent6"/>
                </a:solidFill>
              </a:rPr>
              <a:t>learn-notes 모드</a:t>
            </a:r>
            <a:r>
              <a:rPr lang="en-US" sz="1900" dirty="0">
                <a:solidFill>
                  <a:schemeClr val="accent6"/>
                </a:solidFill>
              </a:rPr>
              <a:t>  =  </a:t>
            </a:r>
            <a:r>
              <a:rPr lang="en-US" sz="1900" b="1" dirty="0">
                <a:solidFill>
                  <a:schemeClr val="bg1"/>
                </a:solidFill>
              </a:rPr>
              <a:t>학습 노트 패널 · /learn 명령 · 복습 알림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알아 두면 좋은 용어</a:t>
            </a:r>
            <a:endParaRPr lang="en-US" sz="3000" dirty="0"/>
          </a:p>
        </p:txBody>
      </p:sp>
      <p:sp>
        <p:nvSpPr>
          <p:cNvPr id="3" name="marketplace"/>
          <p:cNvSpPr/>
          <p:nvPr/>
        </p:nvSpPr>
        <p:spPr>
          <a:xfrm>
            <a:off x="548640" y="1417320"/>
            <a:ext cx="5760720" cy="4617720"/>
          </a:xfrm>
          <a:prstGeom prst="roundRect">
            <a:avLst>
              <a:gd name="adj" fmla="val 198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마켓플레이스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모드를 나눠 주는 목록 · 보통 GitHub 저장소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Owen-YC/learn-notes</a:t>
            </a:r>
            <a:endParaRPr lang="en-US" sz="1300" dirty="0"/>
          </a:p>
        </p:txBody>
      </p:sp>
      <p:sp>
        <p:nvSpPr>
          <p:cNvPr id="7" name="plugin"/>
          <p:cNvSpPr/>
          <p:nvPr/>
        </p:nvSpPr>
        <p:spPr>
          <a:xfrm>
            <a:off x="914400" y="2788920"/>
            <a:ext cx="5074920" cy="3017520"/>
          </a:xfrm>
          <a:prstGeom prst="roundRect">
            <a:avLst>
              <a:gd name="adj" fmla="val 3030"/>
            </a:avLst>
          </a:prstGeom>
          <a:solidFill>
            <a:schemeClr val="bg1"/>
          </a:solidFill>
          <a:ln w="12700">
            <a:solidFill>
              <a:srgbClr val="2E8B6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872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플러그인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3375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설치하고 지우는 단위 · 설정과 명령을 담은 꾸러미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6576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learn-notes@learn-notes</a:t>
            </a:r>
            <a:endParaRPr lang="en-US" sz="1300" dirty="0"/>
          </a:p>
        </p:txBody>
      </p:sp>
      <p:sp>
        <p:nvSpPr>
          <p:cNvPr id="11" name="mod"/>
          <p:cNvSpPr/>
          <p:nvPr/>
        </p:nvSpPr>
        <p:spPr>
          <a:xfrm>
            <a:off x="1280160" y="4160520"/>
            <a:ext cx="4389120" cy="1417320"/>
          </a:xfrm>
          <a:prstGeom prst="roundRect">
            <a:avLst>
              <a:gd name="adj" fmla="val 645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554480" y="4297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모드 (훅 코드)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47091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Claude Code의 화면과 동작을 바꾸는 코드. 노트·패널·퀴즈가 여기서 나옵니다.</a:t>
            </a:r>
            <a:endParaRPr lang="en-US" sz="1300" dirty="0"/>
          </a:p>
        </p:txBody>
      </p:sp>
      <p:sp>
        <p:nvSpPr>
          <p:cNvPr id="14" name="badge-LuZap"/>
          <p:cNvSpPr/>
          <p:nvPr/>
        </p:nvSpPr>
        <p:spPr>
          <a:xfrm>
            <a:off x="6675120" y="146304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on-LuZap" descr="LuZ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0685" y="1638605"/>
            <a:ext cx="380390" cy="38039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7635240" y="14630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이벤트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635240" y="190195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Claude Code 안에서 일어나는 일. 요청 제출, 턴 시작, 파일 수정, 턴 끝, 화면 그리기.</a:t>
            </a:r>
            <a:endParaRPr lang="en-US" sz="1350" dirty="0"/>
          </a:p>
        </p:txBody>
      </p:sp>
      <p:sp>
        <p:nvSpPr>
          <p:cNvPr id="18" name="badge-LuWand"/>
          <p:cNvSpPr/>
          <p:nvPr/>
        </p:nvSpPr>
        <p:spPr>
          <a:xfrm>
            <a:off x="6675120" y="301752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9" name="icon-LuWand" descr="LuW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0685" y="3193085"/>
            <a:ext cx="380390" cy="38039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635240" y="30175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훅 (hook)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345643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이벤트가 일어날 때 끼어들어 실행되는 함수. learn-notes는 파일이 바뀌는 순간을 지켜봅니다.</a:t>
            </a:r>
            <a:endParaRPr lang="en-US" sz="1350" dirty="0"/>
          </a:p>
        </p:txBody>
      </p:sp>
      <p:sp>
        <p:nvSpPr>
          <p:cNvPr id="22" name="badge-LuPanelRight"/>
          <p:cNvSpPr/>
          <p:nvPr/>
        </p:nvSpPr>
        <p:spPr>
          <a:xfrm>
            <a:off x="6675120" y="45720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3" name="icon-LuPanelRight" descr="LuPanel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685" y="4747565"/>
            <a:ext cx="380390" cy="38039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635240" y="45720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패널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5010912"/>
            <a:ext cx="3977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대화 오른쪽(또는 프롬프트 위)에 붙는 모드 전용 화면.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모드는 이렇게 동작합니다</a:t>
            </a:r>
            <a:endParaRPr lang="en-US" sz="3000" dirty="0"/>
          </a:p>
        </p:txBody>
      </p:sp>
      <p:sp>
        <p:nvSpPr>
          <p:cNvPr id="3" name="event-0"/>
          <p:cNvSpPr/>
          <p:nvPr/>
        </p:nvSpPr>
        <p:spPr>
          <a:xfrm>
            <a:off x="548640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요청 제출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prompt.submit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누가 보낸 요청인지 기억합니다</a:t>
            </a:r>
            <a:endParaRPr lang="en-US" sz="1300" dirty="0"/>
          </a:p>
        </p:txBody>
      </p:sp>
      <p:sp>
        <p:nvSpPr>
          <p:cNvPr id="7" name="arrow"/>
          <p:cNvSpPr/>
          <p:nvPr/>
        </p:nvSpPr>
        <p:spPr>
          <a:xfrm rot="5400000">
            <a:off x="2606040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8" name="event-1"/>
          <p:cNvSpPr/>
          <p:nvPr/>
        </p:nvSpPr>
        <p:spPr>
          <a:xfrm>
            <a:off x="2816352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16352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턴 시작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2816352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turn.start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862072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이번 턴의 변경을 모으기 시작합니다</a:t>
            </a:r>
            <a:endParaRPr lang="en-US" sz="1300" dirty="0"/>
          </a:p>
        </p:txBody>
      </p:sp>
      <p:sp>
        <p:nvSpPr>
          <p:cNvPr id="12" name="arrow"/>
          <p:cNvSpPr/>
          <p:nvPr/>
        </p:nvSpPr>
        <p:spPr>
          <a:xfrm rot="5400000">
            <a:off x="4873752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3" name="event-2"/>
          <p:cNvSpPr/>
          <p:nvPr/>
        </p:nvSpPr>
        <p:spPr>
          <a:xfrm>
            <a:off x="5084064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84064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파일 수정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084064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tool.call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129784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Edit · Write · 셸 명령이 바꾼 전과 후를 잡습니다</a:t>
            </a:r>
            <a:endParaRPr lang="en-US" sz="1300" dirty="0"/>
          </a:p>
        </p:txBody>
      </p:sp>
      <p:sp>
        <p:nvSpPr>
          <p:cNvPr id="17" name="arrow"/>
          <p:cNvSpPr/>
          <p:nvPr/>
        </p:nvSpPr>
        <p:spPr>
          <a:xfrm rot="5400000">
            <a:off x="7141464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8" name="event-3"/>
          <p:cNvSpPr/>
          <p:nvPr/>
        </p:nvSpPr>
        <p:spPr>
          <a:xfrm>
            <a:off x="7351776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51776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턴 끝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7351776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FE0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turn.complete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397496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모은 변경으로 노트를 쓰게 합니다</a:t>
            </a:r>
            <a:endParaRPr lang="en-US" sz="1300" dirty="0"/>
          </a:p>
        </p:txBody>
      </p:sp>
      <p:sp>
        <p:nvSpPr>
          <p:cNvPr id="22" name="arrow"/>
          <p:cNvSpPr/>
          <p:nvPr/>
        </p:nvSpPr>
        <p:spPr>
          <a:xfrm rot="5400000">
            <a:off x="9409176" y="1901952"/>
            <a:ext cx="182880" cy="219456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23" name="event-4"/>
          <p:cNvSpPr/>
          <p:nvPr/>
        </p:nvSpPr>
        <p:spPr>
          <a:xfrm>
            <a:off x="9619488" y="1463040"/>
            <a:ext cx="2011680" cy="1097280"/>
          </a:xfrm>
          <a:prstGeom prst="roundRect">
            <a:avLst>
              <a:gd name="adj" fmla="val 8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19488" y="157276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패널 그리기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9619488" y="20574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3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ui.render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65208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노트와 퀴즈를 오른쪽에 보여 줍니다</a:t>
            </a:r>
            <a:endParaRPr lang="en-US" sz="1300" dirty="0"/>
          </a:p>
        </p:txBody>
      </p:sp>
      <p:sp>
        <p:nvSpPr>
          <p:cNvPr id="27" name="card"/>
          <p:cNvSpPr/>
          <p:nvPr/>
        </p:nvSpPr>
        <p:spPr>
          <a:xfrm>
            <a:off x="548640" y="3931920"/>
            <a:ext cx="11091672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4069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턴이 끝나면, 작은 모델(기본 haiku)이 바뀐 코드와 요청을 읽고 노트를 씁니다</a:t>
            </a:r>
            <a:endParaRPr lang="en-US" sz="1600" dirty="0"/>
          </a:p>
        </p:txBody>
      </p:sp>
      <p:sp>
        <p:nvSpPr>
          <p:cNvPr id="29" name="badge-LuPanelRight"/>
          <p:cNvSpPr/>
          <p:nvPr/>
        </p:nvSpPr>
        <p:spPr>
          <a:xfrm>
            <a:off x="822960" y="4663440"/>
            <a:ext cx="594360" cy="5943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30" name="icon-LuPanelRight" descr="LuPanel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4806086"/>
            <a:ext cx="309067" cy="309067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패널에 노트 표시</a:t>
            </a:r>
            <a:endParaRPr lang="en-US" sz="1500" dirty="0"/>
          </a:p>
        </p:txBody>
      </p:sp>
      <p:sp>
        <p:nvSpPr>
          <p:cNvPr id="32" name="badge-LuFileText"/>
          <p:cNvSpPr/>
          <p:nvPr/>
        </p:nvSpPr>
        <p:spPr>
          <a:xfrm>
            <a:off x="4389120" y="4663440"/>
            <a:ext cx="594360" cy="5943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3" name="icon-LuFileText" descr="LuFile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766" y="4806086"/>
            <a:ext cx="309067" cy="309067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512064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날짜별 일지에 저장</a:t>
            </a:r>
            <a:endParaRPr lang="en-US" sz="1500" dirty="0"/>
          </a:p>
        </p:txBody>
      </p:sp>
      <p:sp>
        <p:nvSpPr>
          <p:cNvPr id="35" name="badge-LuLayers"/>
          <p:cNvSpPr/>
          <p:nvPr/>
        </p:nvSpPr>
        <p:spPr>
          <a:xfrm>
            <a:off x="7955280" y="466344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6" name="icon-LuLayers" descr="Lu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926" y="4806086"/>
            <a:ext cx="309067" cy="309067"/>
          </a:xfrm>
          <a:prstGeom prst="rect">
            <a:avLst/>
          </a:prstGeom>
        </p:spPr>
      </p:pic>
      <p:sp>
        <p:nvSpPr>
          <p:cNvPr id="37" name="Text 32"/>
          <p:cNvSpPr txBox="1"/>
          <p:nvPr/>
        </p:nvSpPr>
        <p:spPr>
          <a:xfrm>
            <a:off x="8686800" y="46634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배운 개념을 개념 모음에</a:t>
            </a:r>
            <a:endParaRPr lang="en-US" sz="1500" dirty="0"/>
          </a:p>
        </p:txBody>
      </p:sp>
      <p:sp>
        <p:nvSpPr>
          <p:cNvPr id="38" name="Text 33"/>
          <p:cNvSpPr txBox="1"/>
          <p:nvPr/>
        </p:nvSpPr>
        <p:spPr>
          <a:xfrm>
            <a:off x="822960" y="54406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모드는 Claude의 일을 가로채지 않습니다. 옆에서 지켜보다가 필요한 것만 챙깁니다.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모드가 할 수 있는 것, learn-notes가 쓰는 곳</a:t>
            </a:r>
            <a:endParaRPr lang="en-US" sz="3000" dirty="0"/>
          </a:p>
        </p:txBody>
      </p:sp>
      <p:sp>
        <p:nvSpPr>
          <p:cNvPr id="3" name="outline"/>
          <p:cNvSpPr/>
          <p:nvPr/>
        </p:nvSpPr>
        <p:spPr>
          <a:xfrm>
            <a:off x="548640" y="141732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4" name="badge-LuPanelRight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con-LuPanelRight" descr="LuPanel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85623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패널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대화 옆 전용 화면에 노트 · 전/후 · 개념 모음 · 퀴즈</a:t>
            </a:r>
            <a:endParaRPr lang="en-US" sz="1400" dirty="0"/>
          </a:p>
        </p:txBody>
      </p:sp>
      <p:sp>
        <p:nvSpPr>
          <p:cNvPr id="8" name="outline"/>
          <p:cNvSpPr/>
          <p:nvPr/>
        </p:nvSpPr>
        <p:spPr>
          <a:xfrm>
            <a:off x="4343400" y="141732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9" name="badge-LuSlash"/>
          <p:cNvSpPr/>
          <p:nvPr/>
        </p:nvSpPr>
        <p:spPr>
          <a:xfrm>
            <a:off x="4617720" y="16916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-LuSlash" descr="LuSla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185623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슬래시 명령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25603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/learn 하나로 퀴즈 · 정리 · 질문 · 기록 · 공유 · 진단</a:t>
            </a:r>
            <a:endParaRPr lang="en-US" sz="1400" dirty="0"/>
          </a:p>
        </p:txBody>
      </p:sp>
      <p:sp>
        <p:nvSpPr>
          <p:cNvPr id="13" name="outline"/>
          <p:cNvSpPr/>
          <p:nvPr/>
        </p:nvSpPr>
        <p:spPr>
          <a:xfrm>
            <a:off x="8138160" y="141732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4" name="badge-LuBell"/>
          <p:cNvSpPr/>
          <p:nvPr/>
        </p:nvSpPr>
        <p:spPr>
          <a:xfrm>
            <a:off x="8412480" y="16916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on-LuBell" descr="LuBe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1856232"/>
            <a:ext cx="356616" cy="35661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81160" y="16916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상태줄 · 알림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25603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오늘 복습할 개수, 노트가 준비됐다는 알림</a:t>
            </a:r>
            <a:endParaRPr lang="en-US" sz="1400" dirty="0"/>
          </a:p>
        </p:txBody>
      </p:sp>
      <p:sp>
        <p:nvSpPr>
          <p:cNvPr id="18" name="outline"/>
          <p:cNvSpPr/>
          <p:nvPr/>
        </p:nvSpPr>
        <p:spPr>
          <a:xfrm>
            <a:off x="548640" y="379476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9" name="badge-LuBot"/>
          <p:cNvSpPr/>
          <p:nvPr/>
        </p:nvSpPr>
        <p:spPr>
          <a:xfrm>
            <a:off x="822960" y="406908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icon-LuBot" descr="Lu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233672"/>
            <a:ext cx="356616" cy="35661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91640" y="4069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작은 모델 호출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937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노트 · 퀴즈 · 채점 · 답은 저렴한 haiku가 씁니다</a:t>
            </a:r>
            <a:endParaRPr lang="en-US" sz="1400" dirty="0"/>
          </a:p>
        </p:txBody>
      </p:sp>
      <p:sp>
        <p:nvSpPr>
          <p:cNvPr id="23" name="outline"/>
          <p:cNvSpPr/>
          <p:nvPr/>
        </p:nvSpPr>
        <p:spPr>
          <a:xfrm>
            <a:off x="4343400" y="379476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24" name="badge-LuSave"/>
          <p:cNvSpPr/>
          <p:nvPr/>
        </p:nvSpPr>
        <p:spPr>
          <a:xfrm>
            <a:off x="4617720" y="406908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5" name="icon-LuSave" descr="LuSav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2312" y="4233672"/>
            <a:ext cx="356616" cy="35661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486400" y="4069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파일 저장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617720" y="4937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날짜별 마크다운 일지와 개념 모음을 내 컴퓨터에</a:t>
            </a:r>
            <a:endParaRPr lang="en-US" sz="1400" dirty="0"/>
          </a:p>
        </p:txBody>
      </p:sp>
      <p:sp>
        <p:nvSpPr>
          <p:cNvPr id="28" name="outline"/>
          <p:cNvSpPr/>
          <p:nvPr/>
        </p:nvSpPr>
        <p:spPr>
          <a:xfrm>
            <a:off x="8138160" y="3794760"/>
            <a:ext cx="3502152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29" name="badge-LuDatabase"/>
          <p:cNvSpPr/>
          <p:nvPr/>
        </p:nvSpPr>
        <p:spPr>
          <a:xfrm>
            <a:off x="8412480" y="4069080"/>
            <a:ext cx="685800" cy="6858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30" name="icon-LuDatabase" descr="Lu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7072" y="4233672"/>
            <a:ext cx="356616" cy="35661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281160" y="40690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세션을 넘는 저장소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412480" y="493776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Claude Code를 다시 켜도 지난 노트와 퀴즈가 이어집니다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6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learn-notes 기능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노트 · 직접 해 보기 · 되묻는 퀴즈 · 오답 노트 · 간격 반복 · 기록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턴마다 학습 노트 — 다섯 칸</a:t>
            </a:r>
            <a:endParaRPr lang="en-US" sz="3000" dirty="0"/>
          </a:p>
        </p:txBody>
      </p:sp>
      <p:sp>
        <p:nvSpPr>
          <p:cNvPr id="3" name="num-0"/>
          <p:cNvSpPr/>
          <p:nvPr/>
        </p:nvSpPr>
        <p:spPr>
          <a:xfrm>
            <a:off x="548640" y="149961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99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630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한 줄 요약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1051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이번 턴에 무엇을 했는지 한 문장으로</a:t>
            </a:r>
            <a:endParaRPr lang="en-US" sz="1350" dirty="0"/>
          </a:p>
        </p:txBody>
      </p:sp>
      <p:sp>
        <p:nvSpPr>
          <p:cNvPr id="7" name="num-1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24942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무엇이 바뀌었나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596896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4"/>
                </a:solidFill>
              </a:rPr>
              <a:t>− 전</a:t>
            </a:r>
            <a:r>
              <a:rPr lang="en-US" sz="1350" dirty="0">
                <a:solidFill>
                  <a:srgbClr val="5A6B70"/>
                </a:solidFill>
              </a:rPr>
              <a:t> 하던 일  ·  </a:t>
            </a:r>
            <a:r>
              <a:rPr lang="en-US" sz="1350" b="1" dirty="0">
                <a:solidFill>
                  <a:schemeClr val="accent1"/>
                </a:solidFill>
              </a:rPr>
              <a:t>+ 후</a:t>
            </a:r>
            <a:r>
              <a:rPr lang="en-US" sz="1350" dirty="0">
                <a:solidFill>
                  <a:srgbClr val="5A6B70"/>
                </a:solidFill>
              </a:rPr>
              <a:t> 이제 하는 일  ·  </a:t>
            </a:r>
            <a:r>
              <a:rPr lang="en-US" sz="1350" b="1" dirty="0">
                <a:solidFill>
                  <a:schemeClr val="accent3"/>
                </a:solidFill>
              </a:rPr>
              <a:t>→ 예</a:t>
            </a:r>
            <a:r>
              <a:rPr lang="en-US" sz="1350" dirty="0">
                <a:solidFill>
                  <a:srgbClr val="5A6B70"/>
                </a:solidFill>
              </a:rPr>
              <a:t> 차이가 드러나는 입력과 결과</a:t>
            </a:r>
            <a:endParaRPr lang="en-US" sz="1350" dirty="0"/>
          </a:p>
        </p:txBody>
      </p:sp>
      <p:sp>
        <p:nvSpPr>
          <p:cNvPr id="11" name="num-2"/>
          <p:cNvSpPr/>
          <p:nvPr/>
        </p:nvSpPr>
        <p:spPr>
          <a:xfrm>
            <a:off x="548640" y="30723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72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03580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왜 이렇게 바꿨을까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383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요청과 바뀐 코드를 근거로 · 팀 규칙과 직접 닿으면 "팀 규칙: …" 한 줄</a:t>
            </a:r>
            <a:endParaRPr lang="en-US" sz="1350" dirty="0"/>
          </a:p>
        </p:txBody>
      </p:sp>
      <p:sp>
        <p:nvSpPr>
          <p:cNvPr id="15" name="num-3"/>
          <p:cNvSpPr/>
          <p:nvPr/>
        </p:nvSpPr>
        <p:spPr>
          <a:xfrm>
            <a:off x="548640" y="38587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58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82219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배울 개념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16966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1~3개, 쉬운 설명과 그 개념이 쓰인 코드 한 줄</a:t>
            </a:r>
            <a:endParaRPr lang="en-US" sz="1350" dirty="0"/>
          </a:p>
        </p:txBody>
      </p:sp>
      <p:sp>
        <p:nvSpPr>
          <p:cNvPr id="19" name="num-4"/>
          <p:cNvSpPr/>
          <p:nvPr/>
        </p:nvSpPr>
        <p:spPr>
          <a:xfrm>
            <a:off x="548640" y="464515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645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608576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직접 해 보기</a:t>
            </a:r>
            <a:r>
              <a:rPr lang="en-US" sz="1100" b="1" dirty="0">
                <a:solidFill>
                  <a:srgbClr val="A8650B"/>
                </a:solidFill>
              </a:rPr>
              <a:t>   1.7.0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495604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할 일과 확인만 보입니다 · t를 누르면 내 코드 한 줄을 직접 고칩니다</a:t>
            </a:r>
            <a:endParaRPr lang="en-US" sz="1350" dirty="0"/>
          </a:p>
        </p:txBody>
      </p:sp>
      <p:sp>
        <p:nvSpPr>
          <p:cNvPr id="23" name="card"/>
          <p:cNvSpPr/>
          <p:nvPr/>
        </p:nvSpPr>
        <p:spPr>
          <a:xfrm>
            <a:off x="548640" y="5486400"/>
            <a:ext cx="6583680" cy="621792"/>
          </a:xfrm>
          <a:prstGeom prst="roundRect">
            <a:avLst>
              <a:gd name="adj" fmla="val 1470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486400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새로 배운 개념</a:t>
            </a:r>
            <a:r>
              <a:rPr lang="en-US" sz="1400" dirty="0">
                <a:solidFill>
                  <a:schemeClr val="tx1"/>
                </a:solidFill>
              </a:rPr>
              <a:t>과 </a:t>
            </a:r>
            <a:r>
              <a:rPr lang="en-US" sz="1400" b="1" dirty="0">
                <a:solidFill>
                  <a:schemeClr val="accent3"/>
                </a:solidFill>
              </a:rPr>
              <a:t>다시 만난 개념</a:t>
            </a:r>
            <a:r>
              <a:rPr lang="en-US" sz="1400" dirty="0">
                <a:solidFill>
                  <a:schemeClr val="tx1"/>
                </a:solidFill>
              </a:rPr>
              <a:t>이 노트 아래에 나뉘어 나옵니다</a:t>
            </a:r>
            <a:endParaRPr lang="en-US" sz="1400" dirty="0"/>
          </a:p>
        </p:txBody>
      </p:sp>
      <p:pic>
        <p:nvPicPr>
          <p:cNvPr id="25" name="note-pane" descr="note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325880"/>
            <a:ext cx="4050792" cy="4800600"/>
          </a:xfrm>
          <a:prstGeom prst="rect">
            <a:avLst/>
          </a:prstGeom>
          <a:effectLst>
            <a:outerShdw sx="100000" sy="100000" kx="0" ky="0" algn="bl" rotWithShape="0" blurRad="1612900000" dist="483870000" dir="324000000000">
              <a:srgbClr val="0F3D3E">
                <a:alpha val="2800000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전/후는 바뀐 낱말까지, 보기는 숫자 1~4로</a:t>
            </a:r>
            <a:endParaRPr lang="en-US" sz="3000" dirty="0"/>
          </a:p>
        </p:txBody>
      </p:sp>
      <p:sp>
        <p:nvSpPr>
          <p:cNvPr id="3" name="view-1"/>
          <p:cNvSpPr/>
          <p:nvPr/>
        </p:nvSpPr>
        <p:spPr>
          <a:xfrm>
            <a:off x="548640" y="1417320"/>
            <a:ext cx="987552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1: 노트</a:t>
            </a:r>
            <a:endParaRPr lang="en-US" sz="1200" dirty="0"/>
          </a:p>
        </p:txBody>
      </p:sp>
      <p:sp>
        <p:nvSpPr>
          <p:cNvPr id="5" name="view-2"/>
          <p:cNvSpPr/>
          <p:nvPr/>
        </p:nvSpPr>
        <p:spPr>
          <a:xfrm>
            <a:off x="1609344" y="1417320"/>
            <a:ext cx="987552" cy="4572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609344" y="14173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2: 전/후</a:t>
            </a:r>
            <a:endParaRPr lang="en-US" sz="1200" dirty="0"/>
          </a:p>
        </p:txBody>
      </p:sp>
      <p:sp>
        <p:nvSpPr>
          <p:cNvPr id="7" name="view-3"/>
          <p:cNvSpPr/>
          <p:nvPr/>
        </p:nvSpPr>
        <p:spPr>
          <a:xfrm>
            <a:off x="2670048" y="1417320"/>
            <a:ext cx="987552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70048" y="14173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3: 개념 모음</a:t>
            </a:r>
            <a:endParaRPr lang="en-US" sz="1200" dirty="0"/>
          </a:p>
        </p:txBody>
      </p:sp>
      <p:sp>
        <p:nvSpPr>
          <p:cNvPr id="9" name="view-4"/>
          <p:cNvSpPr/>
          <p:nvPr/>
        </p:nvSpPr>
        <p:spPr>
          <a:xfrm>
            <a:off x="3730752" y="1417320"/>
            <a:ext cx="987552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141732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4: 퀴즈</a:t>
            </a:r>
            <a:endParaRPr lang="en-US" sz="1200" dirty="0"/>
          </a:p>
        </p:txBody>
      </p:sp>
      <p:sp>
        <p:nvSpPr>
          <p:cNvPr id="11" name="view-review"/>
          <p:cNvSpPr/>
          <p:nvPr/>
        </p:nvSpPr>
        <p:spPr>
          <a:xfrm>
            <a:off x="4846320" y="141732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FDF3E2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173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● </a:t>
            </a:r>
            <a:r>
              <a:rPr lang="en-US" sz="1200" b="1" dirty="0">
                <a:solidFill>
                  <a:srgbClr val="A8650B"/>
                </a:solidFill>
              </a:rPr>
              <a:t>q: 복습 3개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103120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  +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2103120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바뀐 줄 앞에 표시합니다. 바뀌지 않은 줄은 흐리게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578608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굵게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2578608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바뀐 낱말만 굵은 색으로 (var → let)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054096"/>
            <a:ext cx="1097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 후 예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3054096"/>
            <a:ext cx="4434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맨 위에 노트의 전 · 후 · 예가 다시 나옵니다</a:t>
            </a:r>
            <a:endParaRPr lang="en-US" sz="1400" dirty="0"/>
          </a:p>
        </p:txBody>
      </p:sp>
      <p:sp>
        <p:nvSpPr>
          <p:cNvPr id="19" name="divider"/>
          <p:cNvSpPr/>
          <p:nvPr/>
        </p:nvSpPr>
        <p:spPr>
          <a:xfrm>
            <a:off x="548640" y="3611880"/>
            <a:ext cx="5577840" cy="0"/>
          </a:xfrm>
          <a:prstGeom prst="line">
            <a:avLst/>
          </a:prstGeom>
          <a:noFill/>
          <a:ln w="12700">
            <a:solidFill>
              <a:srgbClr val="D9E3DF"/>
            </a:solidFill>
            <a:prstDash val="solid"/>
          </a:ln>
        </p:spPr>
      </p:sp>
      <p:sp>
        <p:nvSpPr>
          <p:cNvPr id="20" name="key-1~4"/>
          <p:cNvSpPr/>
          <p:nvPr/>
        </p:nvSpPr>
        <p:spPr>
          <a:xfrm>
            <a:off x="548640" y="3749040"/>
            <a:ext cx="77724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7490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1~4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37490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보기 바꾸기 · 숫자는 한/영 상관없이 눌립니다</a:t>
            </a:r>
            <a:endParaRPr lang="en-US" sz="1350" dirty="0"/>
          </a:p>
        </p:txBody>
      </p:sp>
      <p:sp>
        <p:nvSpPr>
          <p:cNvPr id="23" name="key-q"/>
          <p:cNvSpPr/>
          <p:nvPr/>
        </p:nvSpPr>
        <p:spPr>
          <a:xfrm>
            <a:off x="548640" y="4206240"/>
            <a:ext cx="384048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420624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508760" y="42062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오늘 복습 바로 시작 (보기 줄 끝에 보일 때)</a:t>
            </a:r>
            <a:endParaRPr lang="en-US" sz="1350" dirty="0"/>
          </a:p>
        </p:txBody>
      </p:sp>
      <p:sp>
        <p:nvSpPr>
          <p:cNvPr id="26" name="key-p"/>
          <p:cNvSpPr/>
          <p:nvPr/>
        </p:nvSpPr>
        <p:spPr>
          <a:xfrm>
            <a:off x="548640" y="4663440"/>
            <a:ext cx="384048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466344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endParaRPr lang="en-US" sz="1500" dirty="0"/>
          </a:p>
        </p:txBody>
      </p:sp>
      <p:sp>
        <p:nvSpPr>
          <p:cNvPr id="28" name="key-n"/>
          <p:cNvSpPr/>
          <p:nvPr/>
        </p:nvSpPr>
        <p:spPr>
          <a:xfrm>
            <a:off x="960120" y="4663440"/>
            <a:ext cx="384048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0120" y="4663440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508760" y="46634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이전 · 다음 노트 (지난 세션 노트까지)</a:t>
            </a:r>
            <a:endParaRPr lang="en-US" sz="1350" dirty="0"/>
          </a:p>
        </p:txBody>
      </p:sp>
      <p:sp>
        <p:nvSpPr>
          <p:cNvPr id="31" name="key-Esc"/>
          <p:cNvSpPr/>
          <p:nvPr/>
        </p:nvSpPr>
        <p:spPr>
          <a:xfrm>
            <a:off x="548640" y="5120640"/>
            <a:ext cx="77724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1206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1508760" y="51206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대화 입력칸으로 돌아가기 · 패널은 그대로</a:t>
            </a:r>
            <a:endParaRPr lang="en-US" sz="1350" dirty="0"/>
          </a:p>
        </p:txBody>
      </p:sp>
      <p:sp>
        <p:nvSpPr>
          <p:cNvPr id="34" name="card"/>
          <p:cNvSpPr/>
          <p:nvPr/>
        </p:nvSpPr>
        <p:spPr>
          <a:xfrm>
            <a:off x="548640" y="5623560"/>
            <a:ext cx="5577840" cy="502920"/>
          </a:xfrm>
          <a:prstGeom prst="roundRect">
            <a:avLst>
              <a:gd name="adj" fmla="val 1818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31520" y="56235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r>
              <a:rPr lang="en-US" sz="1300" dirty="0">
                <a:solidFill>
                  <a:schemeClr val="tx1"/>
                </a:solidFill>
              </a:rPr>
              <a:t> 복습으로 오늘 복습 바로 시작. 글자 키는 영문 상태에서.</a:t>
            </a:r>
            <a:endParaRPr lang="en-US" sz="1300" dirty="0"/>
          </a:p>
        </p:txBody>
      </p:sp>
      <p:pic>
        <p:nvPicPr>
          <p:cNvPr id="36" name="split-pane" descr="split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7820" y="1325880"/>
            <a:ext cx="4262492" cy="4800600"/>
          </a:xfrm>
          <a:prstGeom prst="rect">
            <a:avLst/>
          </a:prstGeom>
          <a:effectLst>
            <a:outerShdw sx="100000" sy="100000" kx="0" ky="0" algn="bl" rotWithShape="0" blurRad="20483830000000" dist="6145149000000" dir="19440000000000000">
              <a:srgbClr val="0F3D3E">
                <a:alpha val="280000000000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노트에서 바로 — 고쳐 보고, 묻고, 복사하기</a:t>
            </a:r>
            <a:endParaRPr lang="en-US" sz="3000" dirty="0"/>
          </a:p>
        </p:txBody>
      </p:sp>
      <p:sp>
        <p:nvSpPr>
          <p:cNvPr id="3" name="tool-t"/>
          <p:cNvSpPr/>
          <p:nvPr/>
        </p:nvSpPr>
        <p:spPr>
          <a:xfrm>
            <a:off x="548640" y="1371600"/>
            <a:ext cx="585216" cy="585216"/>
          </a:xfrm>
          <a:prstGeom prst="roundRect">
            <a:avLst>
              <a:gd name="adj" fmla="val 1875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3258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2"/>
                </a:solidFill>
              </a:rPr>
              <a:t>직접 해 보기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642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노트의 한 줄을 패널에서 직접 고쳐 봅니다 (다음 장)</a:t>
            </a:r>
            <a:endParaRPr lang="en-US" sz="1350" dirty="0"/>
          </a:p>
        </p:txBody>
      </p:sp>
      <p:sp>
        <p:nvSpPr>
          <p:cNvPr id="7" name="tool-e"/>
          <p:cNvSpPr/>
          <p:nvPr/>
        </p:nvSpPr>
        <p:spPr>
          <a:xfrm>
            <a:off x="548640" y="2139696"/>
            <a:ext cx="585216" cy="585216"/>
          </a:xfrm>
          <a:prstGeom prst="roundRect">
            <a:avLst>
              <a:gd name="adj" fmla="val 1875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39696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09397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2"/>
                </a:solidFill>
              </a:rPr>
              <a:t>더 쉽게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4323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노트는 그대로, 아래에 ▶ 더 쉽게를 덧붙입니다</a:t>
            </a:r>
            <a:endParaRPr lang="en-US" sz="1350" dirty="0"/>
          </a:p>
        </p:txBody>
      </p:sp>
      <p:sp>
        <p:nvSpPr>
          <p:cNvPr id="11" name="tool-r"/>
          <p:cNvSpPr/>
          <p:nvPr/>
        </p:nvSpPr>
        <p:spPr>
          <a:xfrm>
            <a:off x="548640" y="2907792"/>
            <a:ext cx="585216" cy="585216"/>
          </a:xfrm>
          <a:prstGeom prst="roundRect">
            <a:avLst>
              <a:gd name="adj" fmla="val 1875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9077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6207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2"/>
                </a:solidFill>
              </a:rPr>
              <a:t>예시로 따라가기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200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예시 입력 하나로 바뀐 코드를 한 단계씩, 변수 값과 함께</a:t>
            </a:r>
            <a:endParaRPr lang="en-US" sz="1350" dirty="0"/>
          </a:p>
        </p:txBody>
      </p:sp>
      <p:sp>
        <p:nvSpPr>
          <p:cNvPr id="15" name="tool-i"/>
          <p:cNvSpPr/>
          <p:nvPr/>
        </p:nvSpPr>
        <p:spPr>
          <a:xfrm>
            <a:off x="548640" y="3675888"/>
            <a:ext cx="585216" cy="585216"/>
          </a:xfrm>
          <a:prstGeom prst="roundRect">
            <a:avLst>
              <a:gd name="adj" fmla="val 1875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67588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6301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2"/>
                </a:solidFill>
              </a:rPr>
              <a:t>질문하기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96849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질문칸에 적고 Enter. 이어서 물어도 됩니다</a:t>
            </a:r>
            <a:endParaRPr lang="en-US" sz="1350" dirty="0"/>
          </a:p>
        </p:txBody>
      </p:sp>
      <p:sp>
        <p:nvSpPr>
          <p:cNvPr id="19" name="tool-c"/>
          <p:cNvSpPr/>
          <p:nvPr/>
        </p:nvSpPr>
        <p:spPr>
          <a:xfrm>
            <a:off x="548640" y="4443984"/>
            <a:ext cx="585216" cy="585216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44398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3982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chemeClr val="tx2"/>
                </a:solidFill>
              </a:rPr>
              <a:t>복사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7365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요청은 빼고 경로는 줄인 노트를 복사해 멘토에게 묻기</a:t>
            </a:r>
            <a:endParaRPr lang="en-US" sz="1350" dirty="0"/>
          </a:p>
        </p:txBody>
      </p:sp>
      <p:sp>
        <p:nvSpPr>
          <p:cNvPr id="23" name="card"/>
          <p:cNvSpPr/>
          <p:nvPr/>
        </p:nvSpPr>
        <p:spPr>
          <a:xfrm>
            <a:off x="548640" y="5303520"/>
            <a:ext cx="5532120" cy="804672"/>
          </a:xfrm>
          <a:prstGeom prst="roundRect">
            <a:avLst>
              <a:gd name="adj" fmla="val 11364"/>
            </a:avLst>
          </a:prstGeom>
          <a:solidFill>
            <a:srgbClr val="FDF3E2"/>
          </a:solidFill>
          <a:ln w="9525">
            <a:solidFill>
              <a:srgbClr val="FDF3E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303520"/>
            <a:ext cx="5120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650B"/>
                </a:solidFill>
              </a:rPr>
              <a:t>대화창의 Claude와 다른 점  </a:t>
            </a:r>
            <a:r>
              <a:rPr lang="en-US" sz="1300" dirty="0">
                <a:solidFill>
                  <a:schemeClr val="tx1"/>
                </a:solidFill>
              </a:rPr>
              <a:t>e · r · i는 코드를 고치지 않고, 그 노트와 바뀐 코드만 보고 저렴한 모델이 짧게 답합니다. c는 모델을 부르지 않습니다.</a:t>
            </a:r>
            <a:endParaRPr lang="en-US" sz="1300" dirty="0"/>
          </a:p>
        </p:txBody>
      </p:sp>
      <p:pic>
        <p:nvPicPr>
          <p:cNvPr id="25" name="trace-pane" descr="trace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142" y="1325880"/>
            <a:ext cx="5020170" cy="4800600"/>
          </a:xfrm>
          <a:prstGeom prst="rect">
            <a:avLst/>
          </a:prstGeom>
          <a:effectLst>
            <a:outerShdw sx="100000" sy="100000" kx="0" ky="0" algn="bl" rotWithShape="0" blurRad="260144641000000000" dist="78043392300000000" dir="1.1664e+21">
              <a:srgbClr val="0F3D3E">
                <a:alpha val="28000000000000000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직접 해 보기 — 내 코드 한 줄을 고쳐 확인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629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노트의 직접 해 보기 칸에는 할 일과 확인만 보입니다. t를 누르면 질문 칸 아래에 고칠 줄이 칸으로 펼쳐지고 커서가 그 칸에 갑니다. 파일은 바뀌지 않습니다.</a:t>
            </a:r>
            <a:endParaRPr lang="en-US" sz="1450" dirty="0"/>
          </a:p>
        </p:txBody>
      </p:sp>
      <p:sp>
        <p:nvSpPr>
          <p:cNvPr id="4" name="flow-0"/>
          <p:cNvSpPr/>
          <p:nvPr/>
        </p:nvSpPr>
        <p:spPr>
          <a:xfrm>
            <a:off x="548640" y="219456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t로 펼치기</a:t>
            </a:r>
            <a:endParaRPr lang="en-US" sz="1250" dirty="0"/>
          </a:p>
        </p:txBody>
      </p:sp>
      <p:sp>
        <p:nvSpPr>
          <p:cNvPr id="6" name="arrow"/>
          <p:cNvSpPr/>
          <p:nvPr/>
        </p:nvSpPr>
        <p:spPr>
          <a:xfrm rot="5400000">
            <a:off x="2066544" y="2377440"/>
            <a:ext cx="128016" cy="164592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7" name="flow-1"/>
          <p:cNvSpPr/>
          <p:nvPr/>
        </p:nvSpPr>
        <p:spPr>
          <a:xfrm>
            <a:off x="2249424" y="219456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49424" y="21945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칸의 줄 고치기</a:t>
            </a:r>
            <a:endParaRPr lang="en-US" sz="1250" dirty="0"/>
          </a:p>
        </p:txBody>
      </p:sp>
      <p:sp>
        <p:nvSpPr>
          <p:cNvPr id="9" name="arrow"/>
          <p:cNvSpPr/>
          <p:nvPr/>
        </p:nvSpPr>
        <p:spPr>
          <a:xfrm rot="5400000">
            <a:off x="3767328" y="2377440"/>
            <a:ext cx="128016" cy="164592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0" name="flow-2"/>
          <p:cNvSpPr/>
          <p:nvPr/>
        </p:nvSpPr>
        <p:spPr>
          <a:xfrm>
            <a:off x="3950208" y="219456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50208" y="21945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Enter로 확인</a:t>
            </a:r>
            <a:endParaRPr lang="en-US" sz="1250" dirty="0"/>
          </a:p>
        </p:txBody>
      </p:sp>
      <p:sp>
        <p:nvSpPr>
          <p:cNvPr id="12" name="arrow"/>
          <p:cNvSpPr/>
          <p:nvPr/>
        </p:nvSpPr>
        <p:spPr>
          <a:xfrm rot="5400000">
            <a:off x="5468112" y="2377440"/>
            <a:ext cx="128016" cy="164592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3" name="flow-3"/>
          <p:cNvSpPr/>
          <p:nvPr/>
        </p:nvSpPr>
        <p:spPr>
          <a:xfrm>
            <a:off x="5650992" y="219456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50992" y="21945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틀리면 되묻기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44368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이럴 때는 모델을 부르지 않고 바로 알려 줍니다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383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고치지 않음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2194560" y="338328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아직 바꾼 곳이 없습니다 · 줄을 고친 뒤 Enter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785616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한글로 적음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2194560" y="378561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코드는 영문 상태에서 적습니다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1879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예시 답과 같음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4187952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✓ 해냈습니다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590288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accent1"/>
                </a:solidFill>
              </a:rPr>
              <a:t>'모르겠어요'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194560" y="459028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할 일과 확인을 다시 읽어 보라는 힌트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029200"/>
            <a:ext cx="6629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0"/>
                </a:solidFill>
              </a:rPr>
              <a:t>그 밖에는 Claude가 할 일과 확인대로 동작하는지 봅니다 (모델 호출 1번).</a:t>
            </a:r>
            <a:endParaRPr lang="en-US" sz="1350" dirty="0"/>
          </a:p>
        </p:txBody>
      </p:sp>
      <p:sp>
        <p:nvSpPr>
          <p:cNvPr id="25" name="card"/>
          <p:cNvSpPr/>
          <p:nvPr/>
        </p:nvSpPr>
        <p:spPr>
          <a:xfrm>
            <a:off x="548640" y="5468112"/>
            <a:ext cx="6629400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key-a"/>
          <p:cNvSpPr/>
          <p:nvPr/>
        </p:nvSpPr>
        <p:spPr>
          <a:xfrm>
            <a:off x="777240" y="5614416"/>
            <a:ext cx="365760" cy="36576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614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25880" y="5468112"/>
            <a:ext cx="5715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예시 답은 한 번 고쳐 본 뒤에 봅니다. 결과는 퀴즈처럼 복습 단계에 들어가고, 헷갈린 점은 오답 노트에 남습니다.</a:t>
            </a:r>
            <a:endParaRPr lang="en-US" sz="1300" dirty="0"/>
          </a:p>
        </p:txBody>
      </p:sp>
      <p:pic>
        <p:nvPicPr>
          <p:cNvPr id="29" name="drill-pane" descr="drill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6952" y="1325880"/>
            <a:ext cx="4023360" cy="4800600"/>
          </a:xfrm>
          <a:prstGeom prst="rect">
            <a:avLst/>
          </a:prstGeom>
          <a:effectLst>
            <a:outerShdw sx="100000" sy="100000" kx="0" ky="0" algn="bl" rotWithShape="0" blurRad="3.3038369407e+21" dist="991151082210000000000" dir="6.9984e+25">
              <a:srgbClr val="0F3D3E">
                <a:alpha val="2.8e+24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내 코드로 푸는 퀴즈, 틀리면 되묻습니다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복습할 때가 된 개념부터, 그 개념을 배운 노트의 내 코드를 보여 주며 묻습니다. 한 번에 최대 3문제입니다.</a:t>
            </a:r>
            <a:endParaRPr lang="en-US" sz="1450" dirty="0"/>
          </a:p>
        </p:txBody>
      </p:sp>
      <p:sp>
        <p:nvSpPr>
          <p:cNvPr id="4" name="kind-0"/>
          <p:cNvSpPr/>
          <p:nvPr/>
        </p:nvSpPr>
        <p:spPr>
          <a:xfrm>
            <a:off x="548640" y="1938528"/>
            <a:ext cx="2130552" cy="896112"/>
          </a:xfrm>
          <a:prstGeom prst="roundRect">
            <a:avLst>
              <a:gd name="adj" fmla="val 10204"/>
            </a:avLst>
          </a:prstGeom>
          <a:solidFill>
            <a:schemeClr val="bg1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20116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예측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3408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코드를 보고 출력이나 값을 맞힙니다</a:t>
            </a:r>
            <a:endParaRPr lang="en-US" sz="1200" dirty="0"/>
          </a:p>
        </p:txBody>
      </p:sp>
      <p:sp>
        <p:nvSpPr>
          <p:cNvPr id="7" name="kind-1"/>
          <p:cNvSpPr/>
          <p:nvPr/>
        </p:nvSpPr>
        <p:spPr>
          <a:xfrm>
            <a:off x="2788920" y="1938528"/>
            <a:ext cx="2130552" cy="896112"/>
          </a:xfrm>
          <a:prstGeom prst="roundRect">
            <a:avLst>
              <a:gd name="adj" fmla="val 10204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53512" y="20116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왜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953512" y="23408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이 줄을 빼면? 왜 이렇게 썼을까?</a:t>
            </a:r>
            <a:endParaRPr lang="en-US" sz="1200" dirty="0"/>
          </a:p>
        </p:txBody>
      </p:sp>
      <p:sp>
        <p:nvSpPr>
          <p:cNvPr id="10" name="kind-2"/>
          <p:cNvSpPr/>
          <p:nvPr/>
        </p:nvSpPr>
        <p:spPr>
          <a:xfrm>
            <a:off x="5029200" y="1938528"/>
            <a:ext cx="2130552" cy="896112"/>
          </a:xfrm>
          <a:prstGeom prst="roundRect">
            <a:avLst>
              <a:gd name="adj" fmla="val 10204"/>
            </a:avLst>
          </a:prstGeom>
          <a:solidFill>
            <a:schemeClr val="bg1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93792" y="201168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바꿔 보기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93792" y="23408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바라는 동작이 되게 고쳐 봅니다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962656"/>
            <a:ext cx="6629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첫 답이 틀리면 정답 대신 되묻기 — 한 번 더 떠올립니다</a:t>
            </a:r>
            <a:endParaRPr lang="en-US" sz="1450" dirty="0"/>
          </a:p>
        </p:txBody>
      </p:sp>
      <p:sp>
        <p:nvSpPr>
          <p:cNvPr id="14" name="flow-0"/>
          <p:cNvSpPr/>
          <p:nvPr/>
        </p:nvSpPr>
        <p:spPr>
          <a:xfrm>
            <a:off x="548640" y="338328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383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답 적고 Enter</a:t>
            </a:r>
            <a:endParaRPr lang="en-US" sz="1250" dirty="0"/>
          </a:p>
        </p:txBody>
      </p:sp>
      <p:sp>
        <p:nvSpPr>
          <p:cNvPr id="16" name="arrow"/>
          <p:cNvSpPr/>
          <p:nvPr/>
        </p:nvSpPr>
        <p:spPr>
          <a:xfrm rot="5400000">
            <a:off x="2066544" y="3566160"/>
            <a:ext cx="128016" cy="164592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17" name="flow-1"/>
          <p:cNvSpPr/>
          <p:nvPr/>
        </p:nvSpPr>
        <p:spPr>
          <a:xfrm>
            <a:off x="2249424" y="338328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49424" y="3383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되묻기 읽기</a:t>
            </a:r>
            <a:endParaRPr lang="en-US" sz="1250" dirty="0"/>
          </a:p>
        </p:txBody>
      </p:sp>
      <p:sp>
        <p:nvSpPr>
          <p:cNvPr id="19" name="arrow"/>
          <p:cNvSpPr/>
          <p:nvPr/>
        </p:nvSpPr>
        <p:spPr>
          <a:xfrm rot="5400000">
            <a:off x="3767328" y="3566160"/>
            <a:ext cx="128016" cy="164592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20" name="flow-2"/>
          <p:cNvSpPr/>
          <p:nvPr/>
        </p:nvSpPr>
        <p:spPr>
          <a:xfrm>
            <a:off x="3950208" y="338328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950208" y="3383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bg1"/>
                </a:solidFill>
              </a:rPr>
              <a:t>내 답 (한 번 더)</a:t>
            </a:r>
            <a:endParaRPr lang="en-US" sz="1250" dirty="0"/>
          </a:p>
        </p:txBody>
      </p:sp>
      <p:sp>
        <p:nvSpPr>
          <p:cNvPr id="22" name="arrow"/>
          <p:cNvSpPr/>
          <p:nvPr/>
        </p:nvSpPr>
        <p:spPr>
          <a:xfrm rot="5400000">
            <a:off x="5468112" y="3566160"/>
            <a:ext cx="128016" cy="164592"/>
          </a:xfrm>
          <a:prstGeom prst="triangle">
            <a:avLst/>
          </a:prstGeom>
          <a:solidFill>
            <a:srgbClr val="B9C7C2"/>
          </a:solidFill>
          <a:ln w="12700">
            <a:solidFill>
              <a:srgbClr val="B9C7C2"/>
            </a:solidFill>
            <a:prstDash val="solid"/>
          </a:ln>
        </p:spPr>
      </p:sp>
      <p:sp>
        <p:nvSpPr>
          <p:cNvPr id="23" name="flow-3"/>
          <p:cNvSpPr/>
          <p:nvPr/>
        </p:nvSpPr>
        <p:spPr>
          <a:xfrm>
            <a:off x="5650992" y="3383280"/>
            <a:ext cx="1463040" cy="530352"/>
          </a:xfrm>
          <a:prstGeom prst="roundRect">
            <a:avLst>
              <a:gd name="adj" fmla="val 1724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50992" y="3383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✓ 되짚어 맞힘</a:t>
            </a:r>
            <a:endParaRPr lang="en-US" sz="1250" dirty="0"/>
          </a:p>
        </p:txBody>
      </p:sp>
      <p:sp>
        <p:nvSpPr>
          <p:cNvPr id="25" name="key-모르겠어요"/>
          <p:cNvSpPr/>
          <p:nvPr/>
        </p:nvSpPr>
        <p:spPr>
          <a:xfrm>
            <a:off x="548640" y="4096512"/>
            <a:ext cx="1051560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409651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모르겠어요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783080" y="409651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라고 적고 Enter: 호출 없이 힌트 (힌트를 봤으면 정답과 ✗ 틀림)</a:t>
            </a:r>
            <a:endParaRPr lang="en-US" sz="1350" dirty="0"/>
          </a:p>
        </p:txBody>
      </p:sp>
      <p:sp>
        <p:nvSpPr>
          <p:cNvPr id="28" name="key-h"/>
          <p:cNvSpPr/>
          <p:nvPr/>
        </p:nvSpPr>
        <p:spPr>
          <a:xfrm>
            <a:off x="548640" y="4507992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507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783080" y="450799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막히면 힌트: 답 대신 실마리만</a:t>
            </a:r>
            <a:endParaRPr lang="en-US" sz="1350" dirty="0"/>
          </a:p>
        </p:txBody>
      </p:sp>
      <p:sp>
        <p:nvSpPr>
          <p:cNvPr id="31" name="key-a"/>
          <p:cNvSpPr/>
          <p:nvPr/>
        </p:nvSpPr>
        <p:spPr>
          <a:xfrm>
            <a:off x="548640" y="4919472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4919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783080" y="491947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정답은 한 번 적어 본 뒤에 · 첫 판정대로 매깁니다</a:t>
            </a:r>
            <a:endParaRPr lang="en-US" sz="1350" dirty="0"/>
          </a:p>
        </p:txBody>
      </p:sp>
      <p:sp>
        <p:nvSpPr>
          <p:cNvPr id="34" name="key-n"/>
          <p:cNvSpPr/>
          <p:nvPr/>
        </p:nvSpPr>
        <p:spPr>
          <a:xfrm>
            <a:off x="548640" y="5330952"/>
            <a:ext cx="347472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5875">
            <a:solidFill>
              <a:srgbClr val="B9C7C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330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783080" y="533095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틀린 개념을 배운 노트로 (거기서 r로 따라가기)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760720"/>
            <a:ext cx="662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</a:rPr>
              <a:t>답 칸에서는 글자가 답으로 들어갑니다(한글로 적어도 됩니다). h · a · n은 Tab으로 버튼에 간 뒤 누르세요.</a:t>
            </a:r>
            <a:endParaRPr lang="en-US" sz="1200" dirty="0"/>
          </a:p>
        </p:txBody>
      </p:sp>
      <p:pic>
        <p:nvPicPr>
          <p:cNvPr id="38" name="asked-pane" descr="asked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0324" y="1325880"/>
            <a:ext cx="3579988" cy="4800600"/>
          </a:xfrm>
          <a:prstGeom prst="rect">
            <a:avLst/>
          </a:prstGeom>
          <a:effectLst>
            <a:outerShdw sx="100000" sy="100000" kx="0" ky="0" algn="bl" rotWithShape="0" blurRad="4.1958729146890005e+25" dist="1.2587618744067e+25" dir="4.19904e+30">
              <a:srgbClr val="0F3D3E">
                <a:alpha val="2.8000000000000003e+29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답을 적으면 Claude가 채점합니다</a:t>
            </a:r>
            <a:endParaRPr lang="en-US" sz="3000" dirty="0"/>
          </a:p>
        </p:txBody>
      </p:sp>
      <p:pic>
        <p:nvPicPr>
          <p:cNvPr id="3" name="graded-pane" descr="graded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249352" cy="4800600"/>
          </a:xfrm>
          <a:prstGeom prst="rect">
            <a:avLst/>
          </a:prstGeom>
          <a:effectLst>
            <a:outerShdw sx="100000" sy="100000" kx="0" ky="0" algn="bl" rotWithShape="0" blurRad="5.328758601655031e+29" dist="1.598627580496509e+29" dir="2.519424e+35">
              <a:srgbClr val="0F3D3E">
                <a:alpha val="2.8000000000000005e+34"/>
              </a:srgbClr>
            </a:outerShdw>
          </a:effectLst>
        </p:spPr>
      </p:pic>
      <p:sp>
        <p:nvSpPr>
          <p:cNvPr id="4" name="outline"/>
          <p:cNvSpPr/>
          <p:nvPr/>
        </p:nvSpPr>
        <p:spPr>
          <a:xfrm>
            <a:off x="6309360" y="1417320"/>
            <a:ext cx="533095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5" name="badge-LuCircleCheck"/>
          <p:cNvSpPr/>
          <p:nvPr/>
        </p:nvSpPr>
        <p:spPr>
          <a:xfrm>
            <a:off x="653796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-LuCircleCheck" descr="LuCirc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2552" y="1810512"/>
            <a:ext cx="356616" cy="35661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06640" y="157276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✓ 맞힘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7406640" y="196596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때가 된 개념이면 한 칸 올라 더 나중에 다시 나옵니다</a:t>
            </a:r>
            <a:endParaRPr lang="en-US" sz="1350" dirty="0"/>
          </a:p>
        </p:txBody>
      </p:sp>
      <p:sp>
        <p:nvSpPr>
          <p:cNvPr id="9" name="outline"/>
          <p:cNvSpPr/>
          <p:nvPr/>
        </p:nvSpPr>
        <p:spPr>
          <a:xfrm>
            <a:off x="6309360" y="2743200"/>
            <a:ext cx="533095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0" name="badge-LuTriangle"/>
          <p:cNvSpPr/>
          <p:nvPr/>
        </p:nvSpPr>
        <p:spPr>
          <a:xfrm>
            <a:off x="6537960" y="297180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-LuTriangle" descr="LuTriang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3136392"/>
            <a:ext cx="356616" cy="35661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06640" y="28986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△ 거의 맞음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7406640" y="32918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한 칸 내려 조금 일찍 다시 나옵니다. 빠진 점을 짚어 줍니다</a:t>
            </a:r>
            <a:endParaRPr lang="en-US" sz="1350" dirty="0"/>
          </a:p>
        </p:txBody>
      </p:sp>
      <p:sp>
        <p:nvSpPr>
          <p:cNvPr id="14" name="outline"/>
          <p:cNvSpPr/>
          <p:nvPr/>
        </p:nvSpPr>
        <p:spPr>
          <a:xfrm>
            <a:off x="6309360" y="4069080"/>
            <a:ext cx="533095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5" name="badge-LuCircleX"/>
          <p:cNvSpPr/>
          <p:nvPr/>
        </p:nvSpPr>
        <p:spPr>
          <a:xfrm>
            <a:off x="6537960" y="4297680"/>
            <a:ext cx="685800" cy="6858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con-LuCircleX" descr="LuCircle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552" y="4462272"/>
            <a:ext cx="356616" cy="3566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406640" y="422452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✗ 틀림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7406640" y="46177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처음 단계로 돌아가 다음 퀴즈 맨 앞에 나옵니다</a:t>
            </a:r>
            <a:endParaRPr lang="en-US" sz="1350" dirty="0"/>
          </a:p>
        </p:txBody>
      </p:sp>
      <p:sp>
        <p:nvSpPr>
          <p:cNvPr id="19" name="card"/>
          <p:cNvSpPr/>
          <p:nvPr/>
        </p:nvSpPr>
        <p:spPr>
          <a:xfrm>
            <a:off x="6309360" y="5440680"/>
            <a:ext cx="533095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37960" y="54406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예측은 값이, 바꿔 보기는 동작이 맞으면 맞힘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되짚어 맞힘은 단계 그대로 · 이상하면 f로 바꿈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오답 노트 — 헷갈린 점은 다음 퀴즈에서 다시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첫 답이 틀리면 Claude가 무엇을 헷갈렸는지 한 줄로 적어 둡니다. 새 키나 명령은 없습니다.</a:t>
            </a:r>
            <a:endParaRPr lang="en-US" sz="1350" dirty="0"/>
          </a:p>
        </p:txBody>
      </p:sp>
      <p:sp>
        <p:nvSpPr>
          <p:cNvPr id="4" name="slip-bar-0"/>
          <p:cNvSpPr/>
          <p:nvPr/>
        </p:nvSpPr>
        <p:spPr>
          <a:xfrm>
            <a:off x="548640" y="2249424"/>
            <a:ext cx="64008" cy="74980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21284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헷갈린 점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542032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한 번 더도 틀리면 피드백 아래 흐린 한 줄. 다음 퀴즈에서 다른 코드로 다시 묻습니다.</a:t>
            </a:r>
            <a:endParaRPr lang="en-US" sz="1250" dirty="0"/>
          </a:p>
        </p:txBody>
      </p:sp>
      <p:sp>
        <p:nvSpPr>
          <p:cNvPr id="7" name="slip-bar-1"/>
          <p:cNvSpPr/>
          <p:nvPr/>
        </p:nvSpPr>
        <p:spPr>
          <a:xfrm>
            <a:off x="548640" y="3145536"/>
            <a:ext cx="64008" cy="7498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3108960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다시 도전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438144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다음 퀴즈 맨 앞에 나옵니다. 헷갈린 점은 답하기 전에는 보이지 않습니다.</a:t>
            </a:r>
            <a:endParaRPr lang="en-US" sz="1250" dirty="0"/>
          </a:p>
        </p:txBody>
      </p:sp>
      <p:sp>
        <p:nvSpPr>
          <p:cNvPr id="10" name="slip-bar-2"/>
          <p:cNvSpPr/>
          <p:nvPr/>
        </p:nvSpPr>
        <p:spPr>
          <a:xfrm>
            <a:off x="548640" y="4041648"/>
            <a:ext cx="64008" cy="7498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400507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✓ 바로잡음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4334256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다른 날 힌트·되묻기 없이 맞히면 초록 줄로 알려 줍니다.</a:t>
            </a:r>
            <a:endParaRPr lang="en-US" sz="1250" dirty="0"/>
          </a:p>
        </p:txBody>
      </p:sp>
      <p:sp>
        <p:nvSpPr>
          <p:cNvPr id="13" name="slip-bar-3"/>
          <p:cNvSpPr/>
          <p:nvPr/>
        </p:nvSpPr>
        <p:spPr>
          <a:xfrm>
            <a:off x="548640" y="4937760"/>
            <a:ext cx="64008" cy="749808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9808" y="4901184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또 틀리면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5230368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"같은 곳을 또 헷갈렸습니다" · n으로 배운 노트에 가서 r로 따라가기</a:t>
            </a:r>
            <a:endParaRPr lang="en-US" sz="1250" dirty="0"/>
          </a:p>
        </p:txBody>
      </p:sp>
      <p:pic>
        <p:nvPicPr>
          <p:cNvPr id="16" name="slip-pane" descr="slip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325880"/>
            <a:ext cx="3520440" cy="3555434"/>
          </a:xfrm>
          <a:prstGeom prst="rect">
            <a:avLst/>
          </a:prstGeom>
          <a:effectLst>
            <a:outerShdw sx="100000" sy="100000" kx="0" ky="0" algn="bl" rotWithShape="0" blurRad="6.767523424101889e+33" dist="2.0302570272305663e+33" dir="1.5116544e+40">
              <a:srgbClr val="0F3D3E">
                <a:alpha val="2.8000000000000006e+39"/>
              </a:srgbClr>
            </a:outerShdw>
          </a:effectLst>
        </p:spPr>
      </p:pic>
      <p:pic>
        <p:nvPicPr>
          <p:cNvPr id="17" name="retry-pane" descr="retry-pa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2" y="1325880"/>
            <a:ext cx="3520440" cy="3390961"/>
          </a:xfrm>
          <a:prstGeom prst="rect">
            <a:avLst/>
          </a:prstGeom>
          <a:effectLst>
            <a:outerShdw sx="100000" sy="100000" kx="0" ky="0" algn="bl" rotWithShape="0" blurRad="8.594754748609398e+37" dist="2.578426424582819e+37" dir="9.069926400000001e+44">
              <a:srgbClr val="0F3D3E">
                <a:alpha val="2.8000000000000005e+44"/>
              </a:srgbClr>
            </a:outerShdw>
          </a:effectLst>
        </p:spPr>
      </p:pic>
      <p:sp>
        <p:nvSpPr>
          <p:cNvPr id="18" name="Text 14"/>
          <p:cNvSpPr txBox="1"/>
          <p:nvPr/>
        </p:nvSpPr>
        <p:spPr>
          <a:xfrm>
            <a:off x="4434840" y="499104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① 채점 직후: 헷갈린 점 한 줄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119872" y="499104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② 다음 퀴즈: 문제 1/3 · 다시 도전</a:t>
            </a:r>
            <a:endParaRPr lang="en-US" sz="1200" dirty="0"/>
          </a:p>
        </p:txBody>
      </p:sp>
      <p:sp>
        <p:nvSpPr>
          <p:cNvPr id="20" name="fixed"/>
          <p:cNvSpPr/>
          <p:nvPr/>
        </p:nvSpPr>
        <p:spPr>
          <a:xfrm>
            <a:off x="4434840" y="5440680"/>
            <a:ext cx="7205472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434840" y="5440680"/>
            <a:ext cx="72054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③ 다른 날 도움 없이 맞히면   </a:t>
            </a:r>
            <a:r>
              <a:rPr lang="en-US" sz="1400" b="1" dirty="0">
                <a:solidFill>
                  <a:schemeClr val="accent1"/>
                </a:solidFill>
              </a:rPr>
              <a:t>✓ 지난번 헷갈린 점을 바로잡았습니다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잊을 때쯤 다시: 간격 반복 복습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직접 떠올려 맞힐 때만 다음 복습까지의 간격이 늘어납니다. 60일 단계에서 또 맞히면 졸업입니다.</a:t>
            </a:r>
            <a:endParaRPr lang="en-US" sz="1600" dirty="0"/>
          </a:p>
        </p:txBody>
      </p:sp>
      <p:sp>
        <p:nvSpPr>
          <p:cNvPr id="4" name="timeline"/>
          <p:cNvSpPr/>
          <p:nvPr/>
        </p:nvSpPr>
        <p:spPr>
          <a:xfrm>
            <a:off x="1097280" y="2606040"/>
            <a:ext cx="9966960" cy="0"/>
          </a:xfrm>
          <a:prstGeom prst="line">
            <a:avLst/>
          </a:prstGeom>
          <a:noFill/>
          <a:ln w="38100">
            <a:solidFill>
              <a:srgbClr val="C5D3CE"/>
            </a:solidFill>
            <a:prstDash val="solid"/>
          </a:ln>
        </p:spPr>
      </p:sp>
      <p:sp>
        <p:nvSpPr>
          <p:cNvPr id="5" name="day-1"/>
          <p:cNvSpPr/>
          <p:nvPr/>
        </p:nvSpPr>
        <p:spPr>
          <a:xfrm>
            <a:off x="548640" y="2011680"/>
            <a:ext cx="1188720" cy="1188720"/>
          </a:xfrm>
          <a:prstGeom prst="ellipse">
            <a:avLst/>
          </a:prstGeom>
          <a:solidFill>
            <a:schemeClr val="accent4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91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0단계</a:t>
            </a:r>
            <a:endParaRPr lang="en-US" sz="1300" dirty="0"/>
          </a:p>
        </p:txBody>
      </p:sp>
      <p:sp>
        <p:nvSpPr>
          <p:cNvPr id="8" name="day-3"/>
          <p:cNvSpPr/>
          <p:nvPr/>
        </p:nvSpPr>
        <p:spPr>
          <a:xfrm>
            <a:off x="2185416" y="2011680"/>
            <a:ext cx="1188720" cy="11887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85416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85416" y="3291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1단계</a:t>
            </a:r>
            <a:endParaRPr lang="en-US" sz="1300" dirty="0"/>
          </a:p>
        </p:txBody>
      </p:sp>
      <p:sp>
        <p:nvSpPr>
          <p:cNvPr id="11" name="day-7"/>
          <p:cNvSpPr/>
          <p:nvPr/>
        </p:nvSpPr>
        <p:spPr>
          <a:xfrm>
            <a:off x="3822192" y="2011680"/>
            <a:ext cx="1188720" cy="1188720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22192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822192" y="3291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2단계</a:t>
            </a:r>
            <a:endParaRPr lang="en-US" sz="1300" dirty="0"/>
          </a:p>
        </p:txBody>
      </p:sp>
      <p:sp>
        <p:nvSpPr>
          <p:cNvPr id="14" name="day-14"/>
          <p:cNvSpPr/>
          <p:nvPr/>
        </p:nvSpPr>
        <p:spPr>
          <a:xfrm>
            <a:off x="5458968" y="2011680"/>
            <a:ext cx="1188720" cy="11887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58968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14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58968" y="3291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3단계</a:t>
            </a:r>
            <a:endParaRPr lang="en-US" sz="1300" dirty="0"/>
          </a:p>
        </p:txBody>
      </p:sp>
      <p:sp>
        <p:nvSpPr>
          <p:cNvPr id="17" name="day-30"/>
          <p:cNvSpPr/>
          <p:nvPr/>
        </p:nvSpPr>
        <p:spPr>
          <a:xfrm>
            <a:off x="7095744" y="2011680"/>
            <a:ext cx="1188720" cy="11887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95744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30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095744" y="3291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4단계</a:t>
            </a:r>
            <a:endParaRPr lang="en-US" sz="1300" dirty="0"/>
          </a:p>
        </p:txBody>
      </p:sp>
      <p:sp>
        <p:nvSpPr>
          <p:cNvPr id="20" name="day-60"/>
          <p:cNvSpPr/>
          <p:nvPr/>
        </p:nvSpPr>
        <p:spPr>
          <a:xfrm>
            <a:off x="8732520" y="2011680"/>
            <a:ext cx="1188720" cy="118872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32520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60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일 뒤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732520" y="3291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5단계</a:t>
            </a:r>
            <a:endParaRPr lang="en-US" sz="1300" dirty="0"/>
          </a:p>
        </p:txBody>
      </p:sp>
      <p:sp>
        <p:nvSpPr>
          <p:cNvPr id="23" name="graduate"/>
          <p:cNvSpPr/>
          <p:nvPr/>
        </p:nvSpPr>
        <p:spPr>
          <a:xfrm>
            <a:off x="10369296" y="2011680"/>
            <a:ext cx="1188720" cy="1188720"/>
          </a:xfrm>
          <a:prstGeom prst="ellipse">
            <a:avLst/>
          </a:prstGeom>
          <a:solidFill>
            <a:schemeClr val="accent5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369296" y="20116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졸업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10369296" y="329184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70"/>
                </a:solidFill>
              </a:rPr>
              <a:t>아는 개념</a:t>
            </a:r>
            <a:endParaRPr lang="en-US" sz="1300" dirty="0"/>
          </a:p>
        </p:txBody>
      </p:sp>
      <p:sp>
        <p:nvSpPr>
          <p:cNvPr id="26" name="card"/>
          <p:cNvSpPr/>
          <p:nvPr/>
        </p:nvSpPr>
        <p:spPr>
          <a:xfrm>
            <a:off x="548640" y="3840480"/>
            <a:ext cx="3502152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7" name="badge-LuBrain"/>
          <p:cNvSpPr/>
          <p:nvPr/>
        </p:nvSpPr>
        <p:spPr>
          <a:xfrm>
            <a:off x="822960" y="404164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8" name="icon-LuBrain" descr="Lu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4177711"/>
            <a:ext cx="294803" cy="294803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536192" y="4041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떠올린 것만 셉니다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822960" y="475488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답을 직접 적어 맞혀야 한 칸 오릅니다. 힌트 · 되묻기 · 정답을 보고 맞히면 단계는 그대로입니다. 노트에서 다시 만난 것도 날짜를 바꾸지 않습니다.</a:t>
            </a:r>
            <a:endParaRPr lang="en-US" sz="1300" dirty="0"/>
          </a:p>
        </p:txBody>
      </p:sp>
      <p:sp>
        <p:nvSpPr>
          <p:cNvPr id="31" name="card"/>
          <p:cNvSpPr/>
          <p:nvPr/>
        </p:nvSpPr>
        <p:spPr>
          <a:xfrm>
            <a:off x="4343400" y="3840480"/>
            <a:ext cx="3502152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2" name="badge-LuBell"/>
          <p:cNvSpPr/>
          <p:nvPr/>
        </p:nvSpPr>
        <p:spPr>
          <a:xfrm>
            <a:off x="4617720" y="4041648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3" name="icon-LuBell" descr="Lu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783" y="4177711"/>
            <a:ext cx="294803" cy="294803"/>
          </a:xfrm>
          <a:prstGeom prst="rect">
            <a:avLst/>
          </a:prstGeom>
        </p:spPr>
      </p:pic>
      <p:sp>
        <p:nvSpPr>
          <p:cNvPr id="34" name="Text 30"/>
          <p:cNvSpPr txBox="1"/>
          <p:nvPr/>
        </p:nvSpPr>
        <p:spPr>
          <a:xfrm>
            <a:off x="5330952" y="4041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오늘 복습은 10문제까지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4617720" y="4754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오늘 복습 3개 · /learn 복습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4617720" y="513892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다시 도전과 틀린 개념부터 나옵니다. 10문제를 채점하면 상태줄이 내려갑니다.</a:t>
            </a:r>
            <a:endParaRPr lang="en-US" sz="1300" dirty="0"/>
          </a:p>
        </p:txBody>
      </p:sp>
      <p:sp>
        <p:nvSpPr>
          <p:cNvPr id="37" name="card"/>
          <p:cNvSpPr/>
          <p:nvPr/>
        </p:nvSpPr>
        <p:spPr>
          <a:xfrm>
            <a:off x="8138160" y="3840480"/>
            <a:ext cx="3502152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38" name="badge-LuGraduationCap"/>
          <p:cNvSpPr/>
          <p:nvPr/>
        </p:nvSpPr>
        <p:spPr>
          <a:xfrm>
            <a:off x="8412480" y="4041648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39" name="icon-LuGraduationCap" descr="LuGraduationC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8543" y="4177711"/>
            <a:ext cx="294803" cy="294803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125712" y="4041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졸업한 개념은 쉬어요</a:t>
            </a:r>
            <a:endParaRPr lang="en-US" sz="1600" dirty="0"/>
          </a:p>
        </p:txBody>
      </p:sp>
      <p:sp>
        <p:nvSpPr>
          <p:cNvPr id="41" name="Text 36"/>
          <p:cNvSpPr txBox="1"/>
          <p:nvPr/>
        </p:nvSpPr>
        <p:spPr>
          <a:xfrm>
            <a:off x="8412480" y="4754880"/>
            <a:ext cx="3017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60일 단계에서 또 맞히면 아는 개념이 되어 복습과 퀴즈에서 빠집니다. 이미 아는 것은 /learn 안다 이름.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쌓이는 기록</a:t>
            </a:r>
            <a:endParaRPr lang="en-US" sz="3000" dirty="0"/>
          </a:p>
        </p:txBody>
      </p:sp>
      <p:pic>
        <p:nvPicPr>
          <p:cNvPr id="3" name="concepts-pane" descr="concepts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120640" cy="4800600"/>
          </a:xfrm>
          <a:prstGeom prst="rect">
            <a:avLst/>
          </a:prstGeom>
          <a:effectLst>
            <a:outerShdw sx="100000" sy="100000" kx="0" ky="0" algn="bl" rotWithShape="0" blurRad="1.0915338530733936e+42" dist="3.2746015592201804e+41" dir="5.44195584e+49">
              <a:srgbClr val="0F3D3E">
                <a:alpha val="2.8000000000000003e+49"/>
              </a:srgbClr>
            </a:outerShdw>
          </a:effectLst>
        </p:spPr>
      </p:pic>
      <p:sp>
        <p:nvSpPr>
          <p:cNvPr id="4" name="badge-LuLayers"/>
          <p:cNvSpPr/>
          <p:nvPr/>
        </p:nvSpPr>
        <p:spPr>
          <a:xfrm>
            <a:off x="6080760" y="1371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-LuLayers" descr="LuLay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536192"/>
            <a:ext cx="356616" cy="35661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949440" y="135331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개념 모음 (3)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949440" y="175564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프로젝트를 넘어 모인 개념. 만난 횟수, 복습 상태, 헷갈린 점, 그 개념이 나온 노트</a:t>
            </a:r>
            <a:endParaRPr lang="en-US" sz="1350" dirty="0"/>
          </a:p>
        </p:txBody>
      </p:sp>
      <p:sp>
        <p:nvSpPr>
          <p:cNvPr id="8" name="badge-LuCalendarDays"/>
          <p:cNvSpPr/>
          <p:nvPr/>
        </p:nvSpPr>
        <p:spPr>
          <a:xfrm>
            <a:off x="6080760" y="2468880"/>
            <a:ext cx="685800" cy="6858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9" name="icon-LuCalendarDays" descr="LuCalendarDay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2633472"/>
            <a:ext cx="356616" cy="35661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949440" y="245059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r>
              <a:rPr lang="en-US" sz="1800" b="1" dirty="0">
                <a:solidFill>
                  <a:schemeClr val="tx2"/>
                </a:solidFill>
              </a:rPr>
              <a:t> 정리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6949440" y="285292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하루 · 한 주 정리. 헷갈리기 쉬운 것은 그 기간에 남은 헷갈린 점부터</a:t>
            </a:r>
            <a:endParaRPr lang="en-US" sz="1350" dirty="0"/>
          </a:p>
        </p:txBody>
      </p:sp>
      <p:sp>
        <p:nvSpPr>
          <p:cNvPr id="12" name="badge-LuChartColumn"/>
          <p:cNvSpPr/>
          <p:nvPr/>
        </p:nvSpPr>
        <p:spPr>
          <a:xfrm>
            <a:off x="6080760" y="3566160"/>
            <a:ext cx="685800" cy="6858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3" name="icon-LuChartColumn" descr="LuChartColum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3730752"/>
            <a:ext cx="356616" cy="35661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49440" y="354787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r>
              <a:rPr lang="en-US" sz="1800" b="1" dirty="0">
                <a:solidFill>
                  <a:schemeClr val="tx2"/>
                </a:solidFill>
              </a:rPr>
              <a:t> 기록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6949440" y="395020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연속 학습일 · 정답률 · 복습할 개념 · 배운 개념 · 모델 호출 수를 한 번에</a:t>
            </a:r>
            <a:endParaRPr lang="en-US" sz="1350" dirty="0"/>
          </a:p>
        </p:txBody>
      </p:sp>
      <p:sp>
        <p:nvSpPr>
          <p:cNvPr id="16" name="badge-LuMessagesSquare"/>
          <p:cNvSpPr/>
          <p:nvPr/>
        </p:nvSpPr>
        <p:spPr>
          <a:xfrm>
            <a:off x="6080760" y="4663440"/>
            <a:ext cx="685800" cy="6858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con-LuMessagesSquare" descr="LuMessages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4828032"/>
            <a:ext cx="356616" cy="35661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49440" y="4645152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대화로 묻기</a:t>
            </a:r>
            <a:endParaRPr lang="en-US" sz="1800" dirty="0"/>
          </a:p>
        </p:txBody>
      </p:sp>
      <p:sp>
        <p:nvSpPr>
          <p:cNvPr id="19" name="Text 12"/>
          <p:cNvSpPr txBox="1"/>
          <p:nvPr/>
        </p:nvSpPr>
        <p:spPr>
          <a:xfrm>
            <a:off x="6949440" y="50474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대화창에 "오늘 배운 거 알려 줘"처럼 물으면 Claude가 내 노트를 읽고 답합니다</a:t>
            </a:r>
            <a:endParaRPr lang="en-US" sz="1350" dirty="0"/>
          </a:p>
        </p:txBody>
      </p:sp>
      <p:sp>
        <p:nvSpPr>
          <p:cNvPr id="20" name="Text 13"/>
          <p:cNvSpPr txBox="1"/>
          <p:nvPr/>
        </p:nvSpPr>
        <p:spPr>
          <a:xfrm>
            <a:off x="6080760" y="5687568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</a:rPr>
              <a:t>노트와 일지는 ~/.claude/learning-notes/ 에, 모두 내 컴퓨터에 쌓입니다. Anki 카드는 /learn 안키.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명령 한눈에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752551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2"/>
                          </a:solidFill>
                        </a:rPr>
                        <a:t>명령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2"/>
                          </a:solidFill>
                        </a:rPr>
                        <a:t>하는 일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패널 열기 · 키는 ctrl+x tab 또는 클릭으로 패널에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복습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오늘 복습 바로 시작 · 답 칸에서 시작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퀴즈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대화창에서 풀기 · 1 내 답으로 채점 (새로 · 힌트 · 정답)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정리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오늘 배운 것 정리 (어제 · 이번주 · 최근 7일 · 날짜)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질문 …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고른 노트(없으면 마지막 노트)에 대해 묻기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기록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연속 학습일 · 정답률 · 복습할 개념 · 배운 개념 · 모델 호출 수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보고서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코드 없는 학습 보고서를 클립보드와 파일로 (최근 7일)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공유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고른 노트를 요청 · 경로 없이 복사 (c와 같음 · 옛 이름 마지막)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퀴즈 팀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이 저장소의 팀 용어만으로 퀴즈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/learn</a:t>
                      </a:r>
                      <a:r>
                        <a:rPr lang="en-US" sz="1350" b="1" dirty="0">
                          <a:solidFill>
                            <a:schemeClr val="accent1"/>
                          </a:solidFill>
                        </a:rPr>
                        <a:t> 진단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</a:rPr>
                        <a:t>막히면 담당자에게 · 모델 호출 없이 클립보드로</a:t>
                      </a:r>
                      <a:endParaRPr lang="en-US" sz="135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548640" y="5577840"/>
            <a:ext cx="11091672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55778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가끔  </a:t>
            </a:r>
            <a:r>
              <a:rPr lang="en-US" sz="1350" dirty="0">
                <a:solidFill>
                  <a:schemeClr val="tx1"/>
                </a:solidFill>
              </a:rPr>
              <a:t>찾기 · 일지 · 합치기 · 안다 · 모른다 · 안키 · 비우기      영어(quiz · recap · stats …)도 됩니다 · 전체는 /learn 도움말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accent6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시작하기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3886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설치는 두 줄, 첫 노트까지 5분 · 팀으로 쓰는 법과 담당자 안내까지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설치하고 첫 노트 보기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① Claude Code 안에서 두 줄로 설치</a:t>
            </a:r>
            <a:endParaRPr lang="en-US" sz="1700" dirty="0"/>
          </a:p>
        </p:txBody>
      </p:sp>
      <p:sp>
        <p:nvSpPr>
          <p:cNvPr id="4" name="code"/>
          <p:cNvSpPr/>
          <p:nvPr/>
        </p:nvSpPr>
        <p:spPr>
          <a:xfrm>
            <a:off x="548640" y="1874520"/>
            <a:ext cx="6583680" cy="1051560"/>
          </a:xfrm>
          <a:prstGeom prst="roundRect">
            <a:avLst>
              <a:gd name="adj" fmla="val 6957"/>
            </a:avLst>
          </a:prstGeom>
          <a:solidFill>
            <a:srgbClr val="0D1110"/>
          </a:solidFill>
          <a:ln w="12700">
            <a:solidFill>
              <a:srgbClr val="0D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marketplace add Owen-YC/learn-notes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install learn-notes@learn-notes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②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22783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Claude Code를 다시 시작하고 </a:t>
            </a: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/tui fullscreen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136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③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94106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r>
              <a:rPr lang="en-US" sz="1600" dirty="0">
                <a:solidFill>
                  <a:schemeClr val="tx1"/>
                </a:solidFill>
              </a:rPr>
              <a:t> 으로 패널 열기 · 오늘 복습은 </a:t>
            </a: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r>
              <a:rPr lang="en-US" sz="1600" b="1" dirty="0">
                <a:solidFill>
                  <a:schemeClr val="accent1"/>
                </a:solidFill>
              </a:rPr>
              <a:t> 복습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6268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④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654296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평소처럼 코딩 요청 → 몇 초 뒤 노트가 뜹니다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34009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⑤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5367528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숫자 </a:t>
            </a:r>
            <a:r>
              <a:rPr lang="en-US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1~4</a:t>
            </a:r>
            <a:r>
              <a:rPr lang="en-US" sz="1600" dirty="0">
                <a:solidFill>
                  <a:schemeClr val="tx1"/>
                </a:solidFill>
              </a:rPr>
              <a:t>는 한/영 상관없이, 글자 키는 영문으로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7498080" y="1371600"/>
            <a:ext cx="4142232" cy="2423160"/>
          </a:xfrm>
          <a:prstGeom prst="roundRect">
            <a:avLst>
              <a:gd name="adj" fmla="val 3774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5" name="badge-LuLaptop"/>
          <p:cNvSpPr/>
          <p:nvPr/>
        </p:nvSpPr>
        <p:spPr>
          <a:xfrm>
            <a:off x="772668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con-LuLaptop" descr="Lu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8354" y="1731874"/>
            <a:ext cx="285293" cy="285293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412480" y="1600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Windows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7726680" y="2286000"/>
            <a:ext cx="3749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PowerShell에서 Claude Code 설치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https://claude.ai/install.ps1 | iex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작업할 폴더에서 켜세요 (cd ~\practice 뒤 claude). System32에서 켜면 패널이 안내를 띄웁니다.</a:t>
            </a:r>
            <a:endParaRPr lang="en-US" sz="1300" dirty="0"/>
          </a:p>
        </p:txBody>
      </p:sp>
      <p:sp>
        <p:nvSpPr>
          <p:cNvPr id="19" name="card"/>
          <p:cNvSpPr/>
          <p:nvPr/>
        </p:nvSpPr>
        <p:spPr>
          <a:xfrm>
            <a:off x="7498080" y="4023360"/>
            <a:ext cx="4142232" cy="2103120"/>
          </a:xfrm>
          <a:prstGeom prst="roundRect">
            <a:avLst>
              <a:gd name="adj" fmla="val 4348"/>
            </a:avLst>
          </a:prstGeom>
          <a:solidFill>
            <a:srgbClr val="FDF3E2"/>
          </a:solidFill>
          <a:ln w="9525">
            <a:solidFill>
              <a:srgbClr val="FDF3E2"/>
            </a:solidFill>
            <a:prstDash val="solid"/>
          </a:ln>
        </p:spPr>
      </p:sp>
      <p:sp>
        <p:nvSpPr>
          <p:cNvPr id="20" name="badge-LuRotateCcw"/>
          <p:cNvSpPr/>
          <p:nvPr/>
        </p:nvSpPr>
        <p:spPr>
          <a:xfrm>
            <a:off x="7726680" y="42062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on-LuRotateCcw" descr="LuRotateC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354" y="4337914"/>
            <a:ext cx="285293" cy="285293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412480" y="42062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업데이트</a:t>
            </a:r>
            <a:endParaRPr lang="en-US" sz="1700" dirty="0"/>
          </a:p>
        </p:txBody>
      </p:sp>
      <p:sp>
        <p:nvSpPr>
          <p:cNvPr id="23" name="Text 19"/>
          <p:cNvSpPr txBox="1"/>
          <p:nvPr/>
        </p:nvSpPr>
        <p:spPr>
          <a:xfrm>
            <a:off x="7726680" y="484632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/plugin → Installed → learn-notes → Update, 그다음 /reload-plugins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A6B70"/>
                </a:solidFill>
              </a:rPr>
              <a:t>/learn 도움말 첫 줄에 "learn-notes 1.7.0 명령"이 보이면 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팀에서 이렇게 써 보세요</a:t>
            </a:r>
            <a:endParaRPr lang="en-US" sz="3000" dirty="0"/>
          </a:p>
        </p:txBody>
      </p:sp>
      <p:sp>
        <p:nvSpPr>
          <p:cNvPr id="3" name="outline"/>
          <p:cNvSpPr/>
          <p:nvPr/>
        </p:nvSpPr>
        <p:spPr>
          <a:xfrm>
            <a:off x="548640" y="141732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4" name="badge-LuSun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-LuSun" descr="Lu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86720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91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아침 · 오늘 복습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상태줄에 "오늘 복습 n개"가 보이면 /learn 복습. 지난번 헷갈린 개념이 다시 도전으로 먼저 나옵니다.</a:t>
            </a:r>
            <a:endParaRPr lang="en-US" sz="1400" dirty="0"/>
          </a:p>
        </p:txBody>
      </p:sp>
      <p:sp>
        <p:nvSpPr>
          <p:cNvPr id="8" name="outline"/>
          <p:cNvSpPr/>
          <p:nvPr/>
        </p:nvSpPr>
        <p:spPr>
          <a:xfrm>
            <a:off x="6245352" y="141732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9" name="badge-LuPencilLine"/>
          <p:cNvSpPr/>
          <p:nvPr/>
        </p:nvSpPr>
        <p:spPr>
          <a:xfrm>
            <a:off x="6519672" y="169164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-LuPencilLine" descr="LuPencilLi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186720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34072" y="1691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작업 중 · 직접 해 보고 묻기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6519672" y="25603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노트의 t로 한 줄을 고쳐 보고, 낯선 개념은 i, 흐름은 r. 막히면 c로 복사해 멘토에게 묻습니다.</a:t>
            </a:r>
            <a:endParaRPr lang="en-US" sz="1400" dirty="0"/>
          </a:p>
        </p:txBody>
      </p:sp>
      <p:sp>
        <p:nvSpPr>
          <p:cNvPr id="13" name="outline"/>
          <p:cNvSpPr/>
          <p:nvPr/>
        </p:nvSpPr>
        <p:spPr>
          <a:xfrm>
            <a:off x="548640" y="379476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4" name="badge-LuMoon"/>
          <p:cNvSpPr/>
          <p:nvPr/>
        </p:nvSpPr>
        <p:spPr>
          <a:xfrm>
            <a:off x="822960" y="4069080"/>
            <a:ext cx="731520" cy="7315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con-LuMoon" descr="LuM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525" y="424464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37360" y="4069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하루 끝 · 오늘 정리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377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/learn 정리로 정리하고, "핵심 개념" 한 줄을 팀 채널에 공유해 보세요.</a:t>
            </a:r>
            <a:endParaRPr lang="en-US" sz="1400" dirty="0"/>
          </a:p>
        </p:txBody>
      </p:sp>
      <p:sp>
        <p:nvSpPr>
          <p:cNvPr id="18" name="outline"/>
          <p:cNvSpPr/>
          <p:nvPr/>
        </p:nvSpPr>
        <p:spPr>
          <a:xfrm>
            <a:off x="6245352" y="3794760"/>
            <a:ext cx="5394960" cy="2148840"/>
          </a:xfrm>
          <a:prstGeom prst="roundRect">
            <a:avLst>
              <a:gd name="adj" fmla="val 425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9" name="badge-LuUsers"/>
          <p:cNvSpPr/>
          <p:nvPr/>
        </p:nvSpPr>
        <p:spPr>
          <a:xfrm>
            <a:off x="6519672" y="40690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-LuUsers" descr="Lu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237" y="4244645"/>
            <a:ext cx="380390" cy="38039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34072" y="40690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주 1회 · 함께 회고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6519672" y="493776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/learn 보고서를 붙이고 "내 말로 한 줄"을 채워, 회고나 1:1에서 나눕니다.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팀으로 쓰기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팀 규칙 파일</a:t>
            </a:r>
            <a:r>
              <a:rPr lang="en-US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.claude/learn-notes.md</a:t>
            </a:r>
            <a:endParaRPr lang="en-US" sz="1400" dirty="0"/>
          </a:p>
        </p:txBody>
      </p:sp>
      <p:sp>
        <p:nvSpPr>
          <p:cNvPr id="4" name="code"/>
          <p:cNvSpPr/>
          <p:nvPr/>
        </p:nvSpPr>
        <p:spPr>
          <a:xfrm>
            <a:off x="548640" y="1920240"/>
            <a:ext cx="5577840" cy="2057400"/>
          </a:xfrm>
          <a:prstGeom prst="roundRect">
            <a:avLst>
              <a:gd name="adj" fmla="val 3556"/>
            </a:avLst>
          </a:prstGeom>
          <a:solidFill>
            <a:srgbClr val="0D1110"/>
          </a:solidFill>
          <a:ln w="12700">
            <a:solidFill>
              <a:srgbClr val="0D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51206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</a:rPr>
              <a:t>## 규칙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</a:rPr>
              <a:t>- 다시 담을 값은 let, 아니면 const를 씁니다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</a:rPr>
              <a:t>## 용어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</a:rPr>
              <a:t>- **불변 업데이트**: 새 값을 만들어 갈아 끼웁니다 `src/store/cartStore.js:4-10`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</a:rPr>
              <a:t>## 빼기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</a:rPr>
              <a:t>- legacy/**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5577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저장소에 커밋하면 팀원 모두의 노트가 따릅니다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바뀐 코드와 닿는 규칙만 노트의 "왜"에 "팀 규칙: …" 한 줄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용어는 그 이름 그대로 쌓이고, 팀 용어 연습이 됩니다 (다음 장)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## 빼기는 노트에 내용을 싣지 않을 경로입니다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62356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</a:rPr>
              <a:t>규칙과 용어는 합쳐 앞 3,000자까지 노트 모델에 보냅니다. 규칙 판정은 참고 의견이고, 코드 리뷰를 대신하지 않습니다.</a:t>
            </a:r>
            <a:endParaRPr lang="en-US" sz="1200" dirty="0"/>
          </a:p>
        </p:txBody>
      </p:sp>
      <p:sp>
        <p:nvSpPr>
          <p:cNvPr id="8" name="outline"/>
          <p:cNvSpPr/>
          <p:nvPr/>
        </p:nvSpPr>
        <p:spPr>
          <a:xfrm>
            <a:off x="6446520" y="1371600"/>
            <a:ext cx="5193792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9" name="badge-LuLock"/>
          <p:cNvSpPr/>
          <p:nvPr/>
        </p:nvSpPr>
        <p:spPr>
          <a:xfrm>
            <a:off x="6675120" y="1600200"/>
            <a:ext cx="640080" cy="64008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0" name="icon-LuLock" descr="Lu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8739" y="175381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498080" y="153619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저장소·조직에 한 번에 켜기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498080" y="1938528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저장소 .claude/settings.json의 enabledPlugins로 팀원에게 자동으로 켜고, 관리 설정의 pluginConfigs로 값을 잠급니다.</a:t>
            </a:r>
            <a:endParaRPr lang="en-US" sz="1300" dirty="0"/>
          </a:p>
        </p:txBody>
      </p:sp>
      <p:sp>
        <p:nvSpPr>
          <p:cNvPr id="13" name="outline"/>
          <p:cNvSpPr/>
          <p:nvPr/>
        </p:nvSpPr>
        <p:spPr>
          <a:xfrm>
            <a:off x="6446520" y="2971800"/>
            <a:ext cx="5193792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4" name="badge-LuShieldCheck"/>
          <p:cNvSpPr/>
          <p:nvPr/>
        </p:nvSpPr>
        <p:spPr>
          <a:xfrm>
            <a:off x="6675120" y="3200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-LuShieldCheck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739" y="335401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498080" y="313639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비밀값은 싣지 않습니다</a:t>
            </a:r>
            <a:endParaRPr lang="en-US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7498080" y="3538728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.env · 키 · 잠금 파일은 내용 없이 이름만. 코드 속 흔한 키 형식은 «가림»으로 바꿔 보냅니다.</a:t>
            </a:r>
            <a:endParaRPr lang="en-US" sz="1300" dirty="0"/>
          </a:p>
        </p:txBody>
      </p:sp>
      <p:sp>
        <p:nvSpPr>
          <p:cNvPr id="18" name="outline"/>
          <p:cNvSpPr/>
          <p:nvPr/>
        </p:nvSpPr>
        <p:spPr>
          <a:xfrm>
            <a:off x="6446520" y="4572000"/>
            <a:ext cx="5193792" cy="14173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9" name="badge-LuClipboardCopy"/>
          <p:cNvSpPr/>
          <p:nvPr/>
        </p:nvSpPr>
        <p:spPr>
          <a:xfrm>
            <a:off x="6675120" y="480060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con-LuClipboardCopy" descr="LuClipboardCop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8739" y="4954219"/>
            <a:ext cx="332842" cy="33284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98080" y="473659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멘토에게는 c와 /learn 보고서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7498080" y="5138928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c는 요청을 빼고 경로를 줄인 노트 한 편을, /learn 보고서는 코드 없는 학습 요약을 클립보드로 복사합니다.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팀 용어로 온보딩 연습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리더가 팀 파일의 ## 용어에 적은 것이 그대로 연습 문제가 됩니다. 적은 순서가 연습 순서입니다.</a:t>
            </a:r>
            <a:endParaRPr lang="en-US" sz="1450" dirty="0"/>
          </a:p>
        </p:txBody>
      </p:sp>
      <p:sp>
        <p:nvSpPr>
          <p:cNvPr id="4" name="code"/>
          <p:cNvSpPr/>
          <p:nvPr/>
        </p:nvSpPr>
        <p:spPr>
          <a:xfrm>
            <a:off x="548640" y="1965960"/>
            <a:ext cx="5760720" cy="1188720"/>
          </a:xfrm>
          <a:prstGeom prst="roundRect">
            <a:avLst>
              <a:gd name="adj" fmla="val 6154"/>
            </a:avLst>
          </a:prstGeom>
          <a:solidFill>
            <a:srgbClr val="0D1110"/>
          </a:solidFill>
          <a:ln w="12700">
            <a:solidFill>
              <a:srgbClr val="0D11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DDD6"/>
                </a:solidFill>
              </a:rPr>
              <a:t>## 용어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6DDD6"/>
                </a:solidFill>
              </a:rPr>
              <a:t>- **가드 절**: 맨 앞에서 바로 return `src/api/fetchOrders.js:2-9`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6DDD6"/>
                </a:solidFill>
              </a:rPr>
              <a:t>- **불변 업데이트**: 새 값으로 갈아 끼우기 `src/store/cartStore.js:4-10`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6DDD6"/>
                </a:solidFill>
              </a:rPr>
              <a:t>- **주문 취소 규칙**: 배송 뒤엔 취소 불가 · 팀 노트 `docs/orders.md`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10128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백틱 안 저장소 경로와 줄 범위(:2-9)의 코드로 묻습니다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범위가 없으면 이름이 나오는 줄 둘레, 경로가 없으면 설명만으로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.env · wp-config.php · appsettings.json 같은 파일은 읽지 않습니다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61104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팀원에게는 이렇게 보입니다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636008"/>
            <a:ext cx="57607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퀴즈의 빈자리를 아직 안 만난 팀 용어가 채웁니다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r>
              <a:rPr lang="en-US" sz="1300" b="1" dirty="0">
                <a:solidFill>
                  <a:schemeClr val="accent1"/>
                </a:solidFill>
              </a:rPr>
              <a:t> 퀴즈 팀</a:t>
            </a:r>
            <a:r>
              <a:rPr lang="en-US" sz="1300" dirty="0">
                <a:solidFill>
                  <a:schemeClr val="tx1"/>
                </a:solidFill>
              </a:rPr>
              <a:t>: 팀 용어만으로 3문제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개념 모음(3)에 "팀 용어 4개 중 1개 만남"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70"/>
                </a:solidFill>
              </a:rPr>
              <a:t>모델 호출은 늘지 않습니다. 저장소 안 200KB 이하 파일만 읽고, 용어당 700자를 가린 뒤 퀴즈에 싣습니다.</a:t>
            </a:r>
            <a:endParaRPr lang="en-US" sz="1200" dirty="0"/>
          </a:p>
        </p:txBody>
      </p:sp>
      <p:pic>
        <p:nvPicPr>
          <p:cNvPr id="10" name="team-pane" descr="team-pa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325880"/>
            <a:ext cx="5010912" cy="3785580"/>
          </a:xfrm>
          <a:prstGeom prst="rect">
            <a:avLst/>
          </a:prstGeom>
          <a:effectLst>
            <a:outerShdw sx="100000" sy="100000" kx="0" ky="0" algn="bl" rotWithShape="0" blurRad="1.38624799340321e+46" dist="4.158743980209629e+45" dir="3.2651735040000005e+54">
              <a:srgbClr val="0F3D3E">
                <a:alpha val="2.8e+54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6629400" y="5276052"/>
            <a:ext cx="5010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B70"/>
                </a:solidFill>
              </a:rPr>
              <a:t>개념 모음(3)</a:t>
            </a:r>
            <a:r>
              <a:rPr lang="en-US" sz="1100" dirty="0">
                <a:solidFill>
                  <a:srgbClr val="5A6B70"/>
                </a:solidFill>
              </a:rPr>
              <a:t>  ·  만난 용어는 개념 줄의 횟수 뒤에 "· 팀 용어"</a:t>
            </a:r>
            <a:endParaRPr lang="en-US" sz="1100" dirty="0"/>
          </a:p>
        </p:txBody>
      </p:sp>
      <p:pic>
        <p:nvPicPr>
          <p:cNvPr id="12" name="team-concepts-band" descr="team-concepts-b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5532084"/>
            <a:ext cx="3206984" cy="481048"/>
          </a:xfrm>
          <a:prstGeom prst="rect">
            <a:avLst/>
          </a:prstGeom>
          <a:effectLst>
            <a:outerShdw sx="100000" sy="100000" kx="0" ky="0" algn="bl" rotWithShape="0" blurRad="1.7605349516220767e+50" dist="5.281604854866228e+49" dir="1.9591041024000004e+59">
              <a:srgbClr val="0F3D3E">
                <a:alpha val="2.8000000000000002e+59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회사에 깔 때: 진단 · 버전 알림 · 끊기지 않는 노트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/learn</a:t>
            </a:r>
            <a:r>
              <a:rPr lang="en-US" sz="1800" b="1" dirty="0">
                <a:solidFill>
                  <a:schemeClr val="accent1"/>
                </a:solidFill>
              </a:rPr>
              <a:t> 진단</a:t>
            </a:r>
            <a:r>
              <a:rPr lang="en-US" sz="1500" b="1" dirty="0">
                <a:solidFill>
                  <a:schemeClr val="tx2"/>
                </a:solidFill>
              </a:rPr>
              <a:t>   막히면 이 글을 담당자에게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01368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모델을 부르지 않고 만들어 클립보드에 복사하고 대화창에도 적습니다. 코드 · 요청 · 파일 이름 · 경로 · 개념 이름은 들어 있지 않습니다.</a:t>
            </a:r>
            <a:endParaRPr lang="en-US" sz="1300" dirty="0"/>
          </a:p>
        </p:txBody>
      </p:sp>
      <p:sp>
        <p:nvSpPr>
          <p:cNvPr id="5" name="code"/>
          <p:cNvSpPr/>
          <p:nvPr/>
        </p:nvSpPr>
        <p:spPr>
          <a:xfrm>
            <a:off x="548640" y="2450592"/>
            <a:ext cx="5760720" cy="3017520"/>
          </a:xfrm>
          <a:prstGeom prst="roundRect">
            <a:avLst>
              <a:gd name="adj" fmla="val 2424"/>
            </a:avLst>
          </a:prstGeom>
          <a:solidFill>
            <a:srgbClr val="0D1110"/>
          </a:solidFill>
          <a:ln w="12700">
            <a:solidFill>
              <a:srgbClr val="0D11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50592"/>
            <a:ext cx="5303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learn-notes 진단 · 2026-10-03 05:12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버전: learn-notes 1.7.0 · Claude Code 2.1.300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다른 창: 없음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화면: terminal · 패널 오른쪽 56칸 · 키는 대화에 · Windows Terminal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설정: 자동 노트 켬 · haiku · 하루 한도 없음 · 일지 켬(기본 폴더) · …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오늘: 노트 1개 · 모델 호출 12번 · 실패 1번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저장소: 19KB / 4MB (history 9KB · quiz 5KB · quizBank 2KB)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일지: 못 쓴 노트 없음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최근 7일 문제 1건 (최근 것부터)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  - 10-03 05:12 노트 쓰기 · 서버 붐빔(529) · 다시 써서 됨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6DDD6"/>
                </a:solidFill>
              </a:rPr>
              <a:t>- 패널 초점(최근 7일): 스크롤 거절 ×2 · 마지막 10-03 05:12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55955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70"/>
                </a:solidFill>
              </a:rPr>
              <a:t>예시 화면의 진단 글입니다(설정 줄은 줄임). 노트가 안 생기면 먼저 /learn 진단을 팀 채널이나 담당자에게 붙여 주세요.</a:t>
            </a:r>
            <a:endParaRPr lang="en-US" sz="1250" dirty="0"/>
          </a:p>
        </p:txBody>
      </p:sp>
      <p:sp>
        <p:nvSpPr>
          <p:cNvPr id="8" name="outline"/>
          <p:cNvSpPr/>
          <p:nvPr/>
        </p:nvSpPr>
        <p:spPr>
          <a:xfrm>
            <a:off x="6537960" y="1325880"/>
            <a:ext cx="5102352" cy="1133856"/>
          </a:xfrm>
          <a:prstGeom prst="roundRect">
            <a:avLst>
              <a:gd name="adj" fmla="val 806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9" name="badge-LuRefreshCw"/>
          <p:cNvSpPr/>
          <p:nvPr/>
        </p:nvSpPr>
        <p:spPr>
          <a:xfrm>
            <a:off x="6739128" y="157276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con-LuRefreshCw" descr="LuRefresh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8358" y="1721998"/>
            <a:ext cx="323332" cy="3233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543800" y="1417320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2"/>
                </a:solidFill>
              </a:rPr>
              <a:t>옛 창에는 다시 불러오기 알림</a:t>
            </a:r>
            <a:endParaRPr lang="en-US" sz="1550" dirty="0"/>
          </a:p>
        </p:txBody>
      </p:sp>
      <p:sp>
        <p:nvSpPr>
          <p:cNvPr id="12" name="Text 9"/>
          <p:cNvSpPr txBox="1"/>
          <p:nvPr/>
        </p:nvSpPr>
        <p:spPr>
          <a:xfrm>
            <a:off x="7543800" y="1755648"/>
            <a:ext cx="4005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다른 창이 더 새 버전이면 흐린 줄과 토스트가 한 번: "… /reload-plugins로 바꿉니다"</a:t>
            </a:r>
            <a:endParaRPr lang="en-US" sz="1200" dirty="0"/>
          </a:p>
        </p:txBody>
      </p:sp>
      <p:sp>
        <p:nvSpPr>
          <p:cNvPr id="13" name="outline"/>
          <p:cNvSpPr/>
          <p:nvPr/>
        </p:nvSpPr>
        <p:spPr>
          <a:xfrm>
            <a:off x="6537960" y="2542032"/>
            <a:ext cx="5102352" cy="1133856"/>
          </a:xfrm>
          <a:prstGeom prst="roundRect">
            <a:avLst>
              <a:gd name="adj" fmla="val 806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4" name="badge-LuServerCrash"/>
          <p:cNvSpPr/>
          <p:nvPr/>
        </p:nvSpPr>
        <p:spPr>
          <a:xfrm>
            <a:off x="6739128" y="2788920"/>
            <a:ext cx="621792" cy="62179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con-LuServerCrash" descr="LuServerCra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358" y="2938150"/>
            <a:ext cx="323332" cy="32333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543800" y="2633472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2"/>
                </a:solidFill>
              </a:rPr>
              <a:t>서버가 붐비면 30초 뒤 한 번 더</a:t>
            </a:r>
            <a:endParaRPr lang="en-US" sz="1550" dirty="0"/>
          </a:p>
        </p:txBody>
      </p:sp>
      <p:sp>
        <p:nvSpPr>
          <p:cNvPr id="17" name="Text 13"/>
          <p:cNvSpPr txBox="1"/>
          <p:nvPr/>
        </p:nvSpPr>
        <p:spPr>
          <a:xfrm>
            <a:off x="7543800" y="2971800"/>
            <a:ext cx="4005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529 · 서버 오류 · 연결 끊김 · 시간 초과는 노란 줄과 함께 다시 씁니다. w로 바로 써도 됩니다.</a:t>
            </a:r>
            <a:endParaRPr lang="en-US" sz="1200" dirty="0"/>
          </a:p>
        </p:txBody>
      </p:sp>
      <p:sp>
        <p:nvSpPr>
          <p:cNvPr id="18" name="outline"/>
          <p:cNvSpPr/>
          <p:nvPr/>
        </p:nvSpPr>
        <p:spPr>
          <a:xfrm>
            <a:off x="6537960" y="3758184"/>
            <a:ext cx="5102352" cy="1133856"/>
          </a:xfrm>
          <a:prstGeom prst="roundRect">
            <a:avLst>
              <a:gd name="adj" fmla="val 806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19" name="badge-LuRotateCw"/>
          <p:cNvSpPr/>
          <p:nvPr/>
        </p:nvSpPr>
        <p:spPr>
          <a:xfrm>
            <a:off x="6739128" y="4005072"/>
            <a:ext cx="621792" cy="6217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-LuRotateCw" descr="LuRotateC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358" y="4154302"/>
            <a:ext cx="323332" cy="32333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543800" y="3849624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2"/>
                </a:solidFill>
              </a:rPr>
              <a:t>다시 불러와도 이어서</a:t>
            </a:r>
            <a:endParaRPr lang="en-US" sz="1550" dirty="0"/>
          </a:p>
        </p:txBody>
      </p:sp>
      <p:sp>
        <p:nvSpPr>
          <p:cNvPr id="22" name="Text 17"/>
          <p:cNvSpPr txBox="1"/>
          <p:nvPr/>
        </p:nvSpPr>
        <p:spPr>
          <a:xfrm>
            <a:off x="7543800" y="4187952"/>
            <a:ext cx="4005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/reload-plugins나 /config 변경으로 끊긴 노트는 10분 안이면 저절로 이어 씁니다. 끊긴 다시 쓰기(w)는 원래 노트로 돌아옵니다.</a:t>
            </a:r>
            <a:endParaRPr lang="en-US" sz="1200" dirty="0"/>
          </a:p>
        </p:txBody>
      </p:sp>
      <p:sp>
        <p:nvSpPr>
          <p:cNvPr id="23" name="outline"/>
          <p:cNvSpPr/>
          <p:nvPr/>
        </p:nvSpPr>
        <p:spPr>
          <a:xfrm>
            <a:off x="6537960" y="4974336"/>
            <a:ext cx="5102352" cy="1133856"/>
          </a:xfrm>
          <a:prstGeom prst="roundRect">
            <a:avLst>
              <a:gd name="adj" fmla="val 8065"/>
            </a:avLst>
          </a:prstGeom>
          <a:solidFill>
            <a:schemeClr val="bg1"/>
          </a:solidFill>
          <a:ln w="12700">
            <a:solidFill>
              <a:srgbClr val="D9E3DF"/>
            </a:solidFill>
            <a:prstDash val="solid"/>
          </a:ln>
        </p:spPr>
      </p:sp>
      <p:sp>
        <p:nvSpPr>
          <p:cNvPr id="24" name="badge-LuGauge"/>
          <p:cNvSpPr/>
          <p:nvPr/>
        </p:nvSpPr>
        <p:spPr>
          <a:xfrm>
            <a:off x="6739128" y="5221224"/>
            <a:ext cx="621792" cy="62179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5" name="icon-LuGauge" descr="LuGau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8358" y="5370454"/>
            <a:ext cx="323332" cy="32333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7543800" y="506577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chemeClr val="tx2"/>
                </a:solidFill>
              </a:rPr>
              <a:t>계정 한도 가까우면 양보</a:t>
            </a:r>
            <a:endParaRPr lang="en-US" sz="1550" dirty="0"/>
          </a:p>
        </p:txBody>
      </p:sp>
      <p:sp>
        <p:nvSpPr>
          <p:cNvPr id="27" name="Text 21"/>
          <p:cNvSpPr txBox="1"/>
          <p:nvPr/>
        </p:nvSpPr>
        <p:spPr>
          <a:xfrm>
            <a:off x="7543800" y="5404104"/>
            <a:ext cx="40050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구독 계정의 5시간 창 90%, 7일 창 95%를 넘으면 자동 노트를 미룹니다. w로 쓸 수 있습니다.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비용 · 개인정보 · 문제 해결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548640" y="1417320"/>
            <a:ext cx="3502152" cy="466344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-LuCoins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-LuCoins" descr="Lu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186720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비용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30175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파일을 바꾼 턴마다 1번 (기본 haiku)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퀴즈 · 채점 · 질문 · 정리는 할 때마다 1번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첫 오답은 두 번째 채점 1번 더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모르겠어요 · 힌트 · c · 기록 · 진단은 0번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하루 한도는 dailyAutoNotes, 사용량은 /learn 기록</a:t>
            </a:r>
            <a:endParaRPr lang="en-US" sz="1300" dirty="0"/>
          </a:p>
        </p:txBody>
      </p:sp>
      <p:sp>
        <p:nvSpPr>
          <p:cNvPr id="8" name="card"/>
          <p:cNvSpPr/>
          <p:nvPr/>
        </p:nvSpPr>
        <p:spPr>
          <a:xfrm>
            <a:off x="4343400" y="1417320"/>
            <a:ext cx="3502152" cy="466344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badge-LuShieldCheck"/>
          <p:cNvSpPr/>
          <p:nvPr/>
        </p:nvSpPr>
        <p:spPr>
          <a:xfrm>
            <a:off x="4617720" y="16916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-LuShieldCheck" descr="LuShield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3285" y="186720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개인정보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154680"/>
            <a:ext cx="30175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바뀐 코드와 요청이 지금 계정의 모델 호출에 실림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.env · 키 · 잠금 파일은 이름만, 흔한 키 형식은 «가림»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팀 용어 코드는 가린 뒤 퀴즈에, 설정 파일은 읽지 않음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노트 · 일지 · 기록은 내 컴퓨터에만</a:t>
            </a:r>
            <a:endParaRPr lang="en-US" sz="1300" dirty="0"/>
          </a:p>
        </p:txBody>
      </p:sp>
      <p:sp>
        <p:nvSpPr>
          <p:cNvPr id="13" name="card"/>
          <p:cNvSpPr/>
          <p:nvPr/>
        </p:nvSpPr>
        <p:spPr>
          <a:xfrm>
            <a:off x="8138160" y="1417320"/>
            <a:ext cx="3502152" cy="466344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badge-LuWrench"/>
          <p:cNvSpPr/>
          <p:nvPr/>
        </p:nvSpPr>
        <p:spPr>
          <a:xfrm>
            <a:off x="8412480" y="169164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con-LuWrench" descr="LuWre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8045" y="1867205"/>
            <a:ext cx="380390" cy="38039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12480" y="2606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노트가 안 생기면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412480" y="3154680"/>
            <a:ext cx="301752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먼저 /learn 진단을 담당자에게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그 턴에 파일이 바뀌었나요?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패널을 열었나요? (/learn, 전체 화면)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키가 안 먹으면 한/영을 영문으로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노란 줄은 기다리는 중, 빨간 줄은 이유와 할 일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A9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6"/>
                </a:solidFill>
              </a:rPr>
              <a:t>오늘부터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187452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첫 요청부터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노트가 쌓입니다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9319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설치 · 소스 · 문의: github.com/Owen-YC/learn-notes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질문과 제안은 GitHub Issues나 팀 채널로 남겨 주세요.</a:t>
            </a:r>
            <a:endParaRPr lang="en-US" sz="1600" dirty="0"/>
          </a:p>
        </p:txBody>
      </p:sp>
      <p:sp>
        <p:nvSpPr>
          <p:cNvPr id="5" name="code"/>
          <p:cNvSpPr/>
          <p:nvPr/>
        </p:nvSpPr>
        <p:spPr>
          <a:xfrm>
            <a:off x="640080" y="5394960"/>
            <a:ext cx="6309360" cy="868680"/>
          </a:xfrm>
          <a:prstGeom prst="roundRect">
            <a:avLst>
              <a:gd name="adj" fmla="val 8421"/>
            </a:avLst>
          </a:prstGeom>
          <a:solidFill>
            <a:srgbClr val="0D1110"/>
          </a:solidFill>
          <a:ln w="12700">
            <a:solidFill>
              <a:srgbClr val="0D111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5394960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marketplace add Owen-YC/learn-notes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D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/plugin install learn-notes@learn-notes</a:t>
            </a:r>
            <a:endParaRPr lang="en-US" sz="1300" dirty="0"/>
          </a:p>
        </p:txBody>
      </p:sp>
      <p:sp>
        <p:nvSpPr>
          <p:cNvPr id="7" name="qa"/>
          <p:cNvSpPr/>
          <p:nvPr/>
        </p:nvSpPr>
        <p:spPr>
          <a:xfrm>
            <a:off x="8412480" y="2011680"/>
            <a:ext cx="2743200" cy="2743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412480" y="20116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Q&amp;A</a:t>
            </a:r>
            <a:endParaRPr lang="en-US" sz="4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arn-notes">
  <a:themeElements>
    <a:clrScheme name="learn-notes">
      <a:dk1>
        <a:srgbClr val="1B2A2F"/>
      </a:dk1>
      <a:lt1>
        <a:srgbClr val="FFFFFF"/>
      </a:lt1>
      <a:dk2>
        <a:srgbClr val="0F3D3E"/>
      </a:dk2>
      <a:lt2>
        <a:srgbClr val="EEF4F1"/>
      </a:lt2>
      <a:accent1>
        <a:srgbClr val="2E8B6E"/>
      </a:accent1>
      <a:accent2>
        <a:srgbClr val="E39B2D"/>
      </a:accent2>
      <a:accent3>
        <a:srgbClr val="2F9AA6"/>
      </a:accent3>
      <a:accent4>
        <a:srgbClr val="D9542B"/>
      </a:accent4>
      <a:accent5>
        <a:srgbClr val="7A5CC9"/>
      </a:accent5>
      <a:accent6>
        <a:srgbClr val="8FD3B6"/>
      </a:accent6>
      <a:hlink>
        <a:srgbClr val="2F9AA6"/>
      </a:hlink>
      <a:folHlink>
        <a:srgbClr val="7A5CC9"/>
      </a:folHlink>
    </a:clrScheme>
    <a:fontScheme name="learn-notes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learn-notes 팀 소개</dc:title>
  <dc:subject>Claude Code 모드(MOD)의 개념과 learn-notes 1.7.0 기능</dc:subject>
  <dc:creator>Owen-YC</dc:creator>
  <cp:lastModifiedBy>Owen-YC</cp:lastModifiedBy>
  <cp:revision>1</cp:revision>
  <dcterms:created xsi:type="dcterms:W3CDTF">2026-10-16T03:38:08Z</dcterms:created>
  <dcterms:modified xsi:type="dcterms:W3CDTF">2026-10-16T03:38:08Z</dcterms:modified>
</cp:coreProperties>
</file>