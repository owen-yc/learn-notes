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시작" id="{4a93d1a1-58c2-4e6d-a608-45cc97faa4fc}">
          <p14:sldIdLst>
            <p14:sldId id="256"/>
            <p14:sldId id="257"/>
            <p14:sldId id="258"/>
          </p14:sldIdLst>
        </p14:section>
        <p14:section name="모드(MOD)란?" id="{83745ff2-d84c-edb6-cac5-e5d173b9738c}">
          <p14:sldIdLst>
            <p14:sldId id="259"/>
            <p14:sldId id="260"/>
            <p14:sldId id="261"/>
            <p14:sldId id="262"/>
            <p14:sldId id="263"/>
          </p14:sldIdLst>
        </p14:section>
        <p14:section name="learn-notes 기능" id="{93683e88-2bc5-fb29-8f07-2ee16f4e2dd5}">
          <p14:sldIdLst>
            <p14:sldId id="264"/>
            <p14:sldId id="265"/>
            <p14:sldId id="266"/>
            <p14:sldId id="267"/>
            <p14:sldId id="268"/>
            <p14:sldId id="269"/>
            <p14:sldId id="270"/>
            <p14:sldId id="271"/>
            <p14:sldId id="272"/>
            <p14:sldId id="273"/>
            <p14:sldId id="274"/>
            <p14:sldId id="275"/>
          </p14:sldIdLst>
        </p14:section>
        <p14:section name="시작하기" id="{e1a4bdf4-5b9c-6248-d5a5-a99935b735f1}">
          <p14:sldIdLst>
            <p14:sldId id="276"/>
            <p14:sldId id="277"/>
            <p14:sldId id="278"/>
            <p14:sldId id="279"/>
            <p14:sldId id="280"/>
            <p14:sldId id="281"/>
            <p14:sldId id="282"/>
            <p14:sldId id="283"/>
          </p14:sldIdLst>
        </p14:section>
        <p14:section name="마무리" id="{3c6faa68-49a9-f9ca-6f23-2435add34151}">
          <p14:sldIdLst>
            <p14:sldId id="28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안녕하세요. 오늘은 Claude Code로 코딩하면서 배운 것을 남겨 주는 모드, learn-notes 1.8.0을 소개합니다. 오른쪽은 실제 패널 화면이고, 노트 글은 작은 모델(haiku)이 실제로 쓴 글입니다. 먼저 모드가 무엇인지 짚고, 기능을 보고, 마지막에 설치하는 법과 팀으로 쓰는 법, 회사에 깔 때 담당자가 알아 둘 것을 안내하겠습니다.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AI에게 코드를 맡기는 바이브코딩은 빠르고 편하지만, 돌아보면 무엇이 왜 바뀌었는지 남지 않습니다. 같은 개념을 매번 처음 보는 것처럼 지나치고, 배운 것의 기록도 없습니다. learn-notes는 이 세 가지를 Claude Code 안에서 해결합니다.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learn-notes가 하는 일은 네 단계입니다. Claude가 파일을 고칠 때 전후를 모으고, 턴이 끝나면 노트를 쓰고, 잊을 때쯤 내 코드로 퀴즈를 내고, 그 모든 것이 기록으로 쌓입니다. 퀴즈에서 틀리면 정답을 바로 보여 주지 않고 한 번 되물어 다시 떠올리게 합니다. 복습 단계가 오르면 문제도 조금씩 바뀌고, 같은 곳에서 두 번 연달아 막히면 다음에는 풀이부터 보여 줍니다. 사용자는 평소처럼 코딩을 요청하기만 하면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먼저 모드가 무엇인지부터 보겠습니다. 처음 들어도 괜찮습니다. 스마트폰 앱과 비슷하다고 생각하시면 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Code는 터미널에서 대화하며 코드를 고치는 AI 코딩 도우미입니다. 요청 하나를 보내고 Claude가 일을 마치기까지를 턴이라고 부릅니다. 모드는 여기에 끼우는 확장입니다. 스마트폰에 앱을 깔면 새 기능이 생기듯, 모드를 설치하면 Claude Code에 새 화면과 동작이 생깁니다. learn-notes를 설치하면 학습 노트 패널, /learn 명령, 복습 알림이 생깁니다.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용어 세 겹만 기억하시면 됩니다. 마켓플레이스는 모드를 나눠 주는 곳으로 보통 GitHub 저장소이고, 플러그인은 설치하고 지우는 단위, 모드는 그 안에서 실제로 화면과 동작을 바꾸는 코드입니다. 모드는 이벤트가 일어날 때 끼어드는 함수, 즉 훅으로 동작하고, 자기 전용 화면인 패널을 가질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 Code의 한 턴은 이렇게 이어집니다. 요청을 보내면 턴이 시작되고, Claude가 파일을 고치고, 턴이 끝나고, 화면이 그려집니다. learn-notes의 훅은 각 순간에 끼어들어 필요한 것만 챙깁니다. 특히 파일이 바뀌는 순간 전과 후를 잡아 두었다가, 턴이 끝나면 작은 모델이 노트를 씁니다. 이때 .env 같은 비밀 파일은 내용을 모으지 않고 이름만 남기고, 코드 속 흔한 키 형식은 «가림»으로 바꾼 뒤 보냅니다. Claude의 작업 방식은 바뀌지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모드는 Claude Code가 허락한 기능만 쓸 수 있습니다. learn-notes는 그중 여섯 가지를 씁니다. 대화 옆 패널, /learn 명령, 상태줄 알림, 작은 모델 호출, 내 컴퓨터의 파일 저장, 그리고 세션을 넘는 저장소입니다. 노트와 기록은 모두 내 컴퓨터에 남습니다. Claude가 읽는 읽기 전용 학습 기록 도구도 하나 등록합니다. 그래서 대화창에 "오늘 배운 거 알려 줘"라고 그냥 물어도 Claude가 내 노트와 개념 모음을 읽고 답합니다. Claude Code가 이 도구를 받아들였으면 /learn 도움말 맨 위에 그 안내 줄이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이제 learn-notes의 기능을 화면과 함께 보겠습니다. 화면은 모두 1.8.0의 실제 패널이고, 글은 haiku가 실제로 쓴 글입니다. 1.7.0에서 직접 해 보기, 퀴즈의 되묻기와 한 번 더, 오답 노트, 노트 복사, 팀 용어 연습이 생겼습니다. 1.8.0에서 새로 생긴 것은 세 가지입니다. 복습 단계에 따라 묻는 코드가 달라지는 문제 사다리(비슷한 코드, 풀이 보고 풀기), 노트 아래와 /learn 기록에 보이는 헷갈린 개념, 그리고 리더가 팀원의 보고서를 모아 만드는 팀 학습 지도입니다. 새 키와 새 설정은 없고, 새 명령은 /learn 보고서 모으기 하나입니다.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Claude가 파일을 고친 턴이 끝나면 몇 초 안에 이런 노트가 뜹니다. 다섯 칸으로 짧게, 350단어 안쪽으로 씁니다. 무엇이 바뀌었나는 코드 설명 대신 세 줄입니다. 빨간 전은 코드가 하던 일, 초록 후는 이제 하는 일, 하늘색 예는 그 차이가 드러나는 입력 하나와 결과입니다. 왜 이렇게 바꿨을까는 요청과 바뀐 코드를 근거로 쓰고, 저장소에 팀 규칙 파일이 있으면 바뀐 코드와 직접 닿을 때만 팀 규칙 한 줄이 붙습니다. 배울 개념은 이미 배운 이름을 그대로 써서, 같은 개념은 같은 이름으로 쌓이고 "(복습)"이 붙습니다. 아는 개념으로 표시했거나 졸업한 개념은 다시 가르치지 않습니다. 노트 맨 아래에는 새로 배운 개념과 다시 만난 개념이 나뉘어 나오고, 다시 만난 개념에 아직 바로잡지 못한 헷갈린 점이 있으면 1.8.0부터 그 아래에 "지난번 헷갈린 개념" 줄이 붙습니다. 오답 노트에서 다시 보겠습니다. 1.7.0부터 다섯째 칸은 "직접 해 보기"입니다. 예전의 "직접 확인해 볼 것" 자리입니다. 노트에는 할 일과 확인만 보이고, 고칠 줄과 예시 답은 감춰 두었다가 t를 누르면 패널에서 직접 고쳐 볼 수 있습니다. 조금 뒤 따로 보겠습니다. 설명 수준은 /config의 learn-notes 설정 "설명 수준"에서 beginner, intermediate, advanced 가운데 고를 수 있고, 기본은 beginner입니다.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2를 누르면 전/후 보기로 갑니다. 바뀐 곳마다 원래 코드와 바뀐 코드를 줄 번호 그대로 놓는데, 바뀌지 않은 줄은 흐리게, 바뀐 줄은 마이너스와 플러스로 표시하고, 한 줄을 고친 것이면 그 줄에서 바뀐 낱말만 굵은 색으로 칠합니다. 맨 위에는 노트의 전, 후, 예가 다시 나와서 코드를 읽기 전에 무엇이 달라졌는지 먼저 잡고 갑니다. 보기는 숫자로 고릅니다. 1 노트, 2 전/후, 3 개념 모음, 4 퀴즈입니다. 숫자는 한/영 상태와 상관없이 눌려서, 한글로 대화하다가도 바로 쓸 수 있습니다. q는 오늘 복습을 바로 시작하는 키로, 복습할 개념이 있을 때 보기 줄 끝에 노란 점과 함께 보입니다. /learn은 패널만 열고 키는 대화 입력칸에 둡니다. 이어서 친 글자가 패널의 키로 눌리지 않게 하려는 것입니다. 패널의 키를 쓰려면 ctrl+x tab을 누르거나 패널을 클릭하고, 그러면 보기 줄 아래에 "Esc: 대화로 돌아가기"가 보입니다. Esc는 패널을 닫지 않고 키만 대화로 돌려줍니다. q, p 같은 글자 키는 영문 상태에서 눌러야 합니다. 한글 상태면 q가 ㅂ으로 들어갑니다.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노트를 읽다가 직접 해 보고 싶거나 궁금한 게 생기면 노트 아래의 "이 노트로" 줄에서 이어 갑니다. 그 아래에 지난 질문과 답, 질문 칸, 그리고 펼친 직접 해 보기가 차례로 놓입니다. t는 직접 해 보기입니다. 노트의 한 줄을 패널에서 직접 고쳐 보는 연습으로, 다음 장에서 자세히 봅니다. 예전의 "이 노트 퀴즈"는 없어졌고, 복습 퀴즈는 q와 /learn 복습으로 받습니다. e는 더 쉽게입니다. 원래 노트를 덮어쓰지 않고, 노트 아래에 "▶ 더 쉽게"로 쉬운 말과 일상의 비유를 넣은 설명을 덧붙입니다. r은 예시로 따라가기, i는 질문하기입니다. 오른쪽은 r을 누른 답으로, 예시 입력 하나로 변수 값이 바뀌는 과정을 따라가고 바뀌기 전 코드라면 결과가 어떻게 달랐는지 짚어 줍니다. 답은 노트 아래와 일지에 남고, 이어서 물으면 앞의 답을 읽고 답합니다. e, r, 질문은 할 때마다 모델 호출 한 번입니다. c는 1.7.0에 새로 생긴 복사 키입니다. 요청 문장, 노트 아래의 질문과 답, diff와 노트 속 코드 블록, 직접 해 보기의 고칠 줄과 예시 답은 빼고, 경로는 상대 경로나 파일 이름으로 줄이고, 비밀값은 가린 노트를 클립보드에 복사합니다. 프로젝트 밖의 Windows 드라이브 경로, \\wsl$ 같은 네트워크 공유, 따옴표로 감싼 공백 든 경로도 마지막 이름만 남깁니다. 끝에 "묻고 싶은 것" 빈칸이 있어서 멘토에게 붙이고 궁금한 점을 적으면 됩니다. 모델은 부르지 않습니다. 복사할 수 없는 화면에서는 같은 글을 대화창에 흐린 줄로 남기고, 이 줄은 Claude에게 가지 않습니다. 대화창의 /learn 공유도 같은 일을 하고, 예전 이름 /learn 마지막도 그대로 됩니다. 붙이기 전에 한 번 읽어 보세요. 노트를 처음부터 다시 쓰는 w는 이 줄 끝에 흐리게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Claude가 파일을 고친 턴의 노트 끝에는 "직접 해 보기" 칸이 있습니다. 할 일과 확인만 보이고, 고칠 줄과 예시 답은 감춰 둡니다. t를 누르면 모델을 부르지 않고, "이 노트로" 키 줄과 질문 칸 아래에 "연습입니다 · 파일은 바뀌지 않습니다"와 함께 고칠 줄이 입력칸으로 펼쳐지고, 위아래 줄이 흐리게 보입니다. 오른쪽 화면이 그 모습입니다. 칸에는 원래 줄이 미리 들어 있어서 그 줄을 고치면 됩니다. Enter를 누르면 확인합니다. 패널이 키를 받을 때마다(ctrl+x tab, 클릭, 다음 세션) 키는 먼저 이 칸으로 갑니다. 그래서 영문으로 친 코드가 패널의 r, e, w 같은 키로 눌리지 않습니다. 칸 바로 위의 흐린 안내 줄이 Enter로 무엇을 하는지와 영문 상태를 알려 주고, Enter 뒤의 알림도 그 위에 뜹니다. Esc로 키를 대화에 돌려주면 터미널에서는 그 줄 끝에 "ctrl+x tab: 고칠 줄 칸으로"가 보입니다. 칸에서 Tab을 누르면 1~4 보기 버튼으로, 한 번 고친 뒤에는 a 예시 답으로 갑니다. 고치지 않았거나 한글 상태로 적었으면 모델을 부르지 않고 바로 알려 줍니다. 예시 답과 같으면 호출 없이 "해냈습니다"이고, "모르겠어요"라고 적으면 호출 없이 힌트가 나옵니다. 다르게 고쳤으면 Claude가 할 일과 확인대로 동작하는지 한 번 봅니다. 첫 시도가 틀리면 퀴즈처럼 되묻기와 한 번 더 칸이 나오고, 두 번째에 맞히면 "해냈습니다 · 되짚어 맞힘"입니다. 예시 답은 한 번 고쳐 본 뒤에 a로 볼 수 있습니다. 결과는 퀴즈와 같은 규칙으로 그 노트의 첫 개념의 복습 단계에 들어갑니다. 되짚어 맞히거나 예시 답을 봤으면 단계는 그대로입니다. 헷갈린 점은 오답 노트에 남고, 오늘 복습 10문제에는 세지 않습니다. 코드는 영문 상태에서 적어 주세요. 한 번 더를 하지 않은 채 날이 바뀌면, 다음 세션 시작에 첫 시도의 판정대로 매깁니다. 고칠 만한 한 줄이 없는 노트나 1.7.0 전에 쓴 노트에는 t가 없습니다. 데스크톱 앱의 패널에서도 같은 칸으로 고칩니다. VS Code 확장에는 패널이 없어 같은 폴더의 터미널에서 합니다. 모바일 앱에는 입력칸이 없어 예시 답만 볼 수 있습니다. 클라우드 세션의 노트는 클라우드 컴퓨터에만 있으니, 클라우드 세션의 /learn은 "데스크톱 앱에서 이 세션을 열면 패널에서 t로 고쳐 확인합니다"라고 안내합니다.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퀴즈는 /learn 복습으로 바로 시작합니다. 패널이 퀴즈로 열리고 커서가 답 칸에 있습니다. 패널에서는 오늘 복습할 개념이 있을 때 보기 줄 끝에 "q: 복습 n개"가 보이고, q를 누르면 퀴즈 보기로 가서 풀던 문제가 없으면 바로 새 문제를 받습니다. 4로 퀴즈 보기를 열고 s로 받아도 됩니다. 첫 퀴즈 전에는 s 아래에 무엇으로 몇 문제를 낼지 나옵니다. 보통은 "s를 누르면 복습할 개념으로 내 코드에서 3문제를 냅니다"이고, 이 저장소의 팀 용어가 빈자리를 채울 때는 "복습할 개념과 이 저장소의 팀 용어로"처럼 그대로 알려 줍니다. 일반적인 예제가 아니라 그 개념을 배운 노트의 내 코드로 묻고, 문제 제목에 예측, 왜, 바꿔 보기 같은 유형이 붙습니다. 1.8.0부터는 복습 단계가 7일 간격에 이르면 그 코드를 조금 바꿔 묻습니다. 조금 뒤 문제 사다리에서 봅니다. 답을 적고 Enter를 누르면 채점됩니다. 첫 답이 거의 맞음이나 틀림이면 정답을 바로 펼치지 않고, 내 답대로라면 무엇이 되는지 짚은 뒤 되묻기를 하나 던집니다. 오른쪽은 첫 답이 거의 맞음이라 "아직입니다 · 방향은 맞습니다"와 함께 되묻기가 나온 화면입니다. 커서는 빈 "내 답 (한 번 더)" 칸에 있어서, 한/영을 바꾸지 않고 다시 적으면 됩니다. 두 번째에 맞히면 맞힘에 "되짚어 맞힘"이 붙고, 도움을 받은 것이라 복습 단계는 그대로입니다. 두 번째도 틀리면 정답을 펼치고 틀림으로 매기고, 두 번 다 거의였으면 거의 맞음입니다. 정답 보기 a는 한 번 적어 본 뒤에만 나오고, 누르면 첫 판정대로 바로 매깁니다. 답이 떠오르지 않으면 "모르겠어요"라고 적고 Enter를 누르세요. 모델을 부르지 않고 힌트를 보여 주고, 힌트를 이미 봤으면 정답을 펼치고 틀림으로 매깁니다. 커서가 답 칸에 있는 동안 글자 키는 답으로 들어가므로, 힌트나 정답은 Tab으로 버튼에 간 뒤 누르거나 마우스로 누릅니다. 데스크톱 앱, 그리고 Esc로 키를 대화에 돌려준 터미널 패널에서는 Tab 줄 대신 답 칸 아래에 "모르면 '모르겠어요'라고 적고 Enter"가 보입니다. 한 번 더를 하지 않은 채 날이 바뀌거나 새 문제를 받으면, 남은 첫 답은 첫 판정대로 매깁니다. 날이 바뀐 경우는 다음 세션 시작이나 /learn 답 위에 "날이 바뀌어 한 번 더를 기다리던 …은 첫 답의 판정대로 매겼습니다"로 알려 줍니다. 모바일처럼 입력칸이 없는 화면, 채점 호출이 실패했을 때, /learn 퀴즈 정답으로 정답을 먼저 봤을 때는 예전처럼 o, x로 스스로 채점합니다. 대화창의 /learn 퀴즈 1 내 답에도 되묻기가 세 줄로 오고, /learn 퀴즈 1 뒤에 새 답을 적어 한 번 더 답합니다. 늘어나는 비용은 첫 오답의 두 번째 채점 한 번뿐입니다.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왼쪽은 답을 적고 Enter를 눌러 Claude가 채점한 화면입니다. 힌트를 본 뒤 맞혀서 결과 줄에 "힌트 봄"이 붙었습니다. 판정은 맞힘, 거의 맞음, 틀림 세 가지이고, 그에 따라 다음 복습 시기가 바뀝니다. 표현이 달라도 뜻이 같으면 맞힘입니다. 예측 문제는 값이 같으면 설명이 없어도 맞힘이고, 바꿔 보기는 정답과 다른 코드여도 바라는 대로 동작하면 맞힘입니다. 피드백은 내 답대로라면 무엇이 되는지 먼저 짚고, 맞은 점 하나를 인정합니다. 정답은 맞혔을 때, 두 번째 채점이 끝났을 때, a를 눌렀을 때 펼쳐집니다. 힌트를 봤으면 결과 줄에 "힌트 봄"이, 풀이 보고 풀기 문제를 맞혔으면 "풀이 봄"이, 되묻기 뒤에 맞혔으면 "되짚어 맞힘"이 붙고, 이때는 복습 단계가 그대로입니다. 채점이 이상하면 f로 맞힘과 틀림을 바꿀 수 있고, 복습 단계도 처음부터 그렇게 채점한 것처럼 돌아갑니다. 되묻기 칸에서는 f가 "맞았는데요"로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첫 답이 틀리거나 거의였으면, 채점하는 Claude가 무엇을 헷갈렸는지 한 문장으로 적어 둡니다. 되묻기 뒤 한 번 더도 틀렸거나 거의였으면 그 문장을 피드백 아래에 흐린 한 줄로 보여 줍니다. 왼쪽 화면의 "헷갈린 점: 인자를 넘기지 않으면 금액 비교가 불가능해 아무것도 세지 않는다고 봄"이 그 줄입니다. 이것을 오답 노트라고 부르지만, 새 키나 명령은 없습니다. 다음 퀴즈에서는 그 개념이 맨 앞에 "다시 도전"으로 나오고, 지난번과 다른 코드로 그 자리를 다시 묻습니다. 오른쪽 화면이 다음 날의 그 문제입니다. 헷갈린 점은 답하기 전에는 보이지 않습니다. 다른 날 힌트나 되묻기 없이 맞히면 초록으로 "지난번 헷갈린 점을 바로잡았습니다"가 나오고, 같은 날 맞히면 "바로 다시 맞혔습니다 · 다음 복습에서 한 번 더 확인합니다"가 나옵니다. 다시 도전에서 또 틀리면 "같은 곳을 또 헷갈렸습니다"와 함께 "다음 복습 퀴즈는 풀이부터 보여 줍니다"가 나옵니다. 다음 장에서 봅니다. 되묻기 뒤에 바로 맞혔으면 "헷갈린 점을 바로 고쳤습니다"가 나오고, 다른 날 다른 코드로 한 번 더 확인합니다. 답을 비웠거나 모르겠어요였으면 "떠오르지 않았습니다"로 남습니다. 1.8.0부터 헷갈린 개념은 두 곳에 더 보입니다. 하나는 노트입니다. 그 개념을 다시 만난 노트의 개념 줄 아래에 "지난번 헷갈린 개념 기본 매개변수 · 복습 퀴즈에서 다시 묻습니다"처럼 한 줄이 붙습니다. 직접 해 보기에서 틀린 것도 들어갑니다. 이름만 보이고 헷갈린 점 문장은 보이지 않습니다. 노트는 턴마다 저절로 열리니, 문장을 보이면 다음 다시 도전의 답을 미리 알려 주게 되기 때문입니다. 다른 하나는 /learn 기록입니다. 최근 30일에 같은 종류로 헷갈린 개념이 3개 이상이면 아래 카드처럼 한 줄이 나와, 내가 어떤 종류에서 자주 헷갈리는지 보여 줍니다. 이 줄은 /learn 기록의 답과 함께 대화창에 들어가 메인 Claude도 읽습니다. 종류와 개념 이름만 있고 헷갈린 점 문장은 없습니다. 헷갈린 점은 개념 모음의 복습할 개념 줄과 /learn 정리의 "헷갈리기 쉬운 것"에도 나옵니다. f로 맞힘으로 바꾸거나, /learn 안다로 아는 개념으로 옮기거나, 졸업하면 지워집니다. 모델 호출은 늘지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1.8.0의 문제 사다리입니다. 같은 개념도 복습 단계에 따라 다른 코드로 묻습니다. 어느 칸으로 물을지는 학습자가 고르지 않고 단계가 정합니다. 처음 두 단계, 그러니까 1일과 3일 복습에서는 그 개념을 배운 노트의 내 코드 그대로 묻습니다. 7일 간격 단계부터는 비슷한 코드입니다. 내 코드에서 값, 조건, 순서 가운데 한 곳을 바꾼 코드를 보여 주고 묻습니다. 외운 답이 아니라 원리로 맞히게 하려는 것입니다. 문제 제목에 "비슷한 코드"가 붙고, 대화창의 /learn 퀴즈에도 "(비슷한 코드)"가 붙습니다. 모델이 코드를 바꾸지 않고 그대로 보일 때도 있습니다. 문제에 보인 코드가 모두 내 코드의 한 줄이나 한 조각 그대로이거나, 내 코드에 그 코드가 정의한 함수를 부르는 줄만 더한 것이면 이 꼬리표를 떼고 1.7과 같은 문제로 보입니다. 띄어쓰기와 주석은 비교에서 뺍니다. 바꿀 값을 따로 보였거나("&gt;=로 바꾸면"처럼) 다른 일을 하는 줄을 더했으면 꼬리표를 지킵니다. 꼬리표는 화면에만 붙고, 채점과 복습 단계는 같습니다. 코드가 없는 개념은 1.7처럼 "왜"로 묻습니다. 같은 곳에서 두 번 연달아 막히면, 다시 말해 다시 도전에서 또 헷갈리면, 다음 복습 퀴즈는 풀이 보고 풀기로 묻습니다. 모르겠어요로 두 번 막힌 것도 같고, 코드가 없는 개념도 같습니다. 왼쪽 화면처럼 "풀이:" 뒤에 그 헷갈림이 드러나는 짧은 예와 결과, 까닭을 먼저 보여 주고, "이제 풀어 보세요:" 뒤에 같은 원리를 다른 값으로 묻습니다. 그 뒤에 코드만 있고 무엇을 답할지 묻는 말이 없으면 "이 코드를 실행하면 무엇이 출력될까요?"를 붙이고, 유형이 정해져 있지 않으면 예측 문제로 냅니다. 두 번째로 막힌 채점 줄은 아래 카드처럼 "다음 복습 퀴즈는 풀이부터 보여 줍니다"로 미리 알려 줍니다. 되묻기에 한 번 더 답하지 않은 채 새 퀴즈를 받아도, 남은 첫 답을 먼저 셉니다. 그 답이 두 번째 막힘이면 새 퀴즈가 바로 풀이 보고 풀기로 묻습니다. 바로잡았던 헷갈린 점을 나중에 다시 틀리면 처음부터 셉니다. 한 번이면 1.7처럼 다시 도전이고, 거기서 또 막혀야 풀이 보고 풀기입니다. 풀이를 보고 맞힌 것은 도움을 받은 것이라, 오른쪽 화면처럼 채점 줄에 "풀이 봄"이 붙고 단계는 그대로입니다. 같은 간격 뒤에 풀이 없이 다시 도전으로 한 번 더 묻고, 그때 맞히면 바로잡음입니다. 오른쪽 화면의 다음 문제는 "문제 2/3 · 비슷한 코드 · 예측"입니다. 내 코드의 qty &gt; 0을 qty &gt;= 2로 바꿔 물었습니다. 팀 용어 문제는 1.7처럼 팀 코드와 팀 설명으로 묻습니다. 두 칸은 haiku로 20문제씩 미리 재어 보고 켰습니다. 새 키와 새 설정은 없고 모델 호출 수도 그대로입니다. 풀이가 든 퀴즈만 문제 글이 조금 깁니다.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간격 반복은 잊을 때쯤 다시 보여 주는 학습법입니다. 맞힐 때마다 1일, 3일, 7일, 14일, 30일, 60일로 간격이 늘어납니다. 앞 장에서 본 것처럼 7일 단계부터는 내 코드를 조금 바꾼 비슷한 코드로 묻습니다. 직접 떠올린 것만 복습으로 칩니다. 때가 된 개념을 답을 직접 적어 맞혀야 한 칸 오르고, 힌트나 풀이, 되묻기, 정답을 보고 맞히면 단계는 그대로이고 같은 간격 뒤에 다시 나옵니다. 노트에서 그 개념을 다시 만난 것은 복습 날짜를 바꾸지 않습니다. 거의 맞으면 한 칸 내려가고, 틀리면 처음 단계로 돌아갑니다. 퀴즈의 순서는 다시 도전할 개념, 때가 된 개념, 그다음 곧 때가 될 개념입니다. 팀 파일에 용어가 있는 저장소에서는 빈자리를 아직 안 만난 팀 용어가 채웁니다. 하루 복습은 10문제까지만 셉니다. 복습할 개념이 있으면 프롬프트 아래 상태줄에 "학습 노트 · 오늘 복습 3개 · /learn 복습"이 뜨고, 10문제를 채점하면 상태줄이 내려갑니다. 직접 해 보기는 이 10문제에 세지 않습니다. 60일 단계에서 때가 되어 또 맞히면 졸업해서 아는 개념이 됩니다. 아는 개념은 복습과 퀴즈에서 빠지고 다음 노트에서 다시 가르치지 않습니다. 이미 아는 개념은 /learn 안다 뒤에 이름을 적어 바로 뺄 수 있고, /learn 모른다로 되돌립니다.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배운 개념은 프로젝트를 넘어 한 목록에 모입니다. 3을 누르면 개념 모음이고, 맨 위에 배운 개념 수, 최근 7일 새로 배운 수, 연속 학습일, 퀴즈 정답 수가 한 줄로 나옵니다. 팀 파일에 용어가 있는 저장소에서는 그 아래에 "팀 용어 4개 중 2개 만남"과 아직 안 만난 용어가 보입니다. 복습할 개념 줄에는 남은 헷갈린 점이 있으면 그 한 줄이 붙습니다. 개념마다 몇 번 만났는지, 아직 떠올려 본 적이 없는지 다음 복습이 언제인지, 어느 노트에서 나왔는지까지 보입니다. 팀 용어에서 온 개념은 만난 횟수 바로 뒤에 흐리게 "· 팀 용어"가 붙습니다. /learn 정리는 하루나 한 주를 한 일, 핵심 개념, 헷갈리기 쉬운 것, 다음에 해 볼 것 네 칸으로 정리하는데, 헷갈리기 쉬운 것은 그 기간에 남은 헷갈린 점이 있으면 그것을 씁니다. /learn 기록은 통계와 개념 목록을 한 번에 보여 주고, 맨 아래에 학습 노트의 모델 호출 수도 나옵니다. 1.8.0부터는 최근 30일에 같은 종류로 헷갈린 개념이 3개 이상이면 복습할 개념 줄 아래에 그 한 줄이 붙습니다. 하위 명령을 몰라도 대화창에 그냥 물으면 Claude가 읽기 전용 학습 기록 도구로 내 노트를 읽고 답합니다. Anki로 내보내면 휴대폰에서도 복습할 수 있습니다.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명령은 /learn 하나에 하위 명령을 붙입니다. 도움말은 1.6처럼 14줄이고, 1.7.0에서 /learn 공유, /learn 퀴즈 팀, /learn 진단이 들어갔습니다. 1.8.0의 새 명령은 리더가 쓰는 /learn 보고서 모으기 하나입니다. 도움말의 보고서 줄 끝에 붙어 있고, 영어로는 /learn report collect입니다. 조금 뒤 팀 학습 지도에서 봅니다. /learn 찾기와 /learn 일지는 "가끔" 줄로 내려갔지만 그대로 동작합니다. /learn 공유는 예전 /learn 마지막을 대신합니다. 옛 이름도 그대로 되고, 이제 노트 본문을 대화창에 적는 대신 요청은 빼고 경로는 줄인 복사 글을 클립보드에 넣습니다. /learn 퀴즈는 풀던 문제가 남아 있으면 모델을 부르지 않고 그 퀴즈를 다시 보여 주고, 새 문제는 /learn 퀴즈 새로로 받습니다. 번호 없이 답만 적으면 아직 안 푼 첫 문제로 채점합니다. /learn 저장은 이제 "노트는 저절로 저장됩니다"와 자주 쓰는 명령 한 줄로 답합니다. 패널이 없는 VS Code 확장, 패널이 보는 화면에 뜨지 않을 수 있는 클라우드 세션, 입력칸이 없는 모바일에서도 명령만으로 퀴즈를 받고 채점받고 질문할 수 있습니다. 대화 입력칸에 /learn 뒤 한 칸을 띄우면 복습, 퀴즈, 정리, 질문, 기록, 보고서, 공유, 진단, 도움말이 힌트로 보입니다.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마지막으로 설치하는 법과 팀에서 쓰는 법, 리더가 만드는 팀 학습 지도, 그리고 회사에 깔 때 담당자가 알아 둘 것입니다.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설치는 Claude Code 안에서 두 줄입니다. 처음 설치한 세션에서는 "learn-notes가 켜졌습니다" 알림이 한 번 뜹니다. 다시 시작한 뒤 터미널에서는 /tui fullscreen으로 전체 화면을 켜고 /learn으로 패널을 엽니다. 데스크톱 앱은 전체 화면을 켜지 않아도 오른쪽에 붙습니다. VS Code 확장에는 패널이 없으니 같은 폴더의 터미널(VS Code 아래 터미널도 됩니다)에서 claude를 켜 주세요. 패널의 키는 터미널에서는 ctrl+x tab이나 클릭, 데스크톱 앱에서는 클릭으로 옮기고, Esc를 누르면 대화 입력칸으로 돌아갑니다. 오늘 복습은 /learn 복습입니다. 그다음은 평소처럼 코딩을 요청하면 됩니다. 숫자 1부터 4는 한/영 상태와 상관없이 눌리지만, q, t, c 같은 글자 키는 영문 상태에서 눌러야 합니다. Windows에서는 작업할 폴더에서 Claude Code를 켜는 것만 기억해 주세요. 이미 설치한 분은 먼저 플러그인 목록을 새로 받아 두면 확실합니다. /plugin의 Marketplaces 탭에서 learn-notes를 골라 Update marketplace를 누르고, Installed 탭의 learn-notes에서 Update now를 누른 뒤 /reload-plugins를 합니다. Update now도 목록을 새로 받아 보지만, 그게 안 되면 옛 목록으로 판단합니다. 그 위의 Mark for update는 표시만 해 둡니다. PowerShell에서는 claude plugin marketplace update learn-notes 다음 claude plugin update learn-notes@learn-notes를 치고, 열려 있던 창에서 /reload-plugins를 하거나 다시 시작합니다. /learn 도움말 첫 줄이 "learn-notes 1.8.0 명령"이면 됩니다. 1.7.0부터는 다른 창이 더 새 버전을 쓰고 있으면 옛 창에 /reload-plugins 알림이 한 번 뜹니다. 이 알림은 1.7.0 창부터 보이므로, 1.6에서 올릴 때는 열려 있던 창마다 /reload-plugins를 한 번 하거나 다시 시작해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팀에서는 이런 리듬을 추천합니다. 아침에 상태줄에 오늘 복습이 보이면 /learn 복습을 칩니다. 지난번 헷갈린 개념이 있으면 다시 도전으로 먼저 나옵니다. 오늘 복습은 하루 10문제까지라 부담이 없습니다. 작업 중에는 노트의 t로 한 줄을 직접 고쳐 보고, 모르면 i로 바로 질문합니다. 혼자 풀리지 않으면 c로 노트를 복사해 멘토에게 묻습니다. 요청은 빠지고 경로는 짧아진 글이라 붙이기 쉽지만, 붙이기 전에 한 번 읽어 보세요. 하루 끝에는 /learn 정리로 정리해 핵심 한 줄을 공유합니다. 주 1회는 각자 /learn 보고서에 "내 말로 한 줄"을 채워 리더에게만, DM이나 파일로 보냅니다. 리더는 받은 보고서를 파일 하나에 모아 /learn 보고서 모으기로 사람별 줄이 없는 팀 학습 지도를 만들고, 채널에는 그 지도만 올립니다. 회고나 1:1에서는 각자의 "내 말로 한 줄"을 나누면 됩니다. 새로 온 사람은 /learn 퀴즈 팀으로 팀 용어부터 익히면 됩니다. 하루 5분, 한 주 15분이면 충분합니다.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팀으로 쓸 때 알아 두실 네 가지입니다. 첫째, 팀 규칙 파일입니다. 저장소의 .claude/learn-notes.md에 규칙, 용어, 빼기 세 제목으로 적어 커밋하면, 새 명령 없이 팀원 모두의 노트가 그것을 따릅니다. 바뀐 코드와 직접 닿는 규칙이 있을 때만 노트의 "왜 이렇게 바꿨을까" 끝에 팀 규칙 한 줄이 붙고, 달라 보이면 "팀 규칙과 다를 수 있음"으로 단정하지 않고 적습니다. 용어에 있는 개념은 그 이름 그대로 쓰여서 모두의 개념 모음에 같은 이름으로 쌓이고, 1.7.0부터는 그대로 팀 용어 연습이 됩니다. 다음 장에서 봅니다. 빼기는 노트에 내용을 싣지 않을 경로이고, 설정 excludePaths와 합쳐집니다. 규칙과 용어는 합쳐 앞 3,000자까지만 노트를 쓰는 모델에 보내고, 규칙 판정은 참고 의견일 뿐 코드 리뷰를 대신하지 않습니다. 파일은 Claude Code를 켠 폴더 아래에서 찾으니 저장소 맨 위에서 켜 주세요. 둘째, 설치를 한 번에 하는 방법입니다. 저장소의 .claude/settings.json에 learn-notes 마켓플레이스(extraKnownMarketplaces)와 enabledPlugins를 커밋하면, 팀원이 폴더 신뢰 창을 받아들인 뒤 따로 설치하지 않아도 켜집니다. 조직 전체라면 관리자가 관리 설정(claude.ai 관리 콘솔, MDM, managed-settings.json)에 같은 키를 넣고, pluginConfigs에 learn-notes@learn-notes 값을 넣어 잠급니다. 잠근 값은 /config의 learn-notes 항목에 보이지만 바꿀 수 없고, /learn 진단에는 "(관리자 잠금)"으로 나옵니다. 모델을 haiku로, 하루 자동 노트 수를 dailyAutoNotes로 정해 두면 비용을 가늠하기 쉽습니다. 셋째, 비밀값입니다. .env 같은 비밀 파일과 package-lock.json 같은 잠금·생성 파일은 내용을 모으지 않고 이름만 남기고, 코드 속 흔한 키 형식은 «가림»으로 바꾼 뒤 모델에 보냅니다. 흔한 형식만 잡으므로 사내 비밀 파일은 빼기에 넣어 주세요. 메인 Claude는 그 파일을 읽고 고치면서 이미 내용을 봤다는 점도 기억해 주세요. 넷째, 멘토와 나누는 법입니다. 노트 한 편은 c나 /learn 공유로 요청과 diff는 빼고 경로는 줄인 글을 복사해 묻고, 한 주의 학습은 /learn 보고서로 코드, 요청 문장, 파일 이름 없이 학습한 날, 노트 수, 새 개념 이름, 정답률, 틀린 개념을 정리해 붙입니다. 사람을 줄 세우는 데는 쓰지 않길 권합니다. 개념 이름이나 코드 인용에 업무 내용이 드러날 수 있으니 붙이기 전에 한 번 읽어 보세요. 1.8.0부터 리더는 이 보고서들을 모아 팀 학습 지도를 만들 수 있습니다. 두 장 뒤에서 봅니다.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팀 파일의 ## 용어는 1.7.0부터 온보딩 연습이 됩니다. 리더는 지금처럼 용어를 적기만 하면 되고, 적은 순서가 연습 순서입니다. 설명 안에 백틱으로 저장소 경로를 적으면 그 코드로 묻습니다. :2-9처럼 줄 범위를 붙일 수 있고, 범위가 없으면 용어 이름이 처음 나오는 줄 둘레를 씁니다. 경로가 없거나 읽을 수 없으면 설명만으로 묻고, .md 파일은 팀 노트로 읽습니다. 커밋한 노트 .md에 용어 이름이 없으면 맨 위부터 40줄까지, 700자 안에서 씁니다. 팀원에게는 이렇게 보입니다. 이 저장소를 처음 연 세션에 "이 저장소의 팀 용어 n개로 연습할 수 있습니다" 토스트가 한 번 뜹니다. 퀴즈를 받을 때 때가 된 개념이 3개보다 적으면, 남는 자리를 아직 안 만난 팀 용어가 적힌 순서대로 채웁니다. 첫 퀴즈 전 퀴즈 보기의 안내도 "s를 누르면 복습할 개념과 이 저장소의 팀 용어로 3문제를 냅니다"처럼 팀 용어 자리를 셉니다. 오른쪽은 /learn 퀴즈 팀으로 받은 팀 용어 퀴즈의 첫 문제입니다. 문제 제목에 "팀 용어"가, 그 아래 "팀 노트 (orders.md 1~12줄)"이 붙습니다. 주문 취소 규칙은 적은 경로가 .md 파일이라 팀 노트로 읽었습니다. 코드 파일을 적은 용어라면 "팀 코드 (fetchOrders.js 2~9줄)"처럼 붙습니다. 채점하면 그 용어가 내 개념 모음에 들어가고, 이후에는 다른 개념처럼 간격 반복으로 돌아옵니다. 팀 용어만 풀고 싶으면 /learn 퀴즈 팀을 씁니다. 개념 모음 맨 위에는 "팀 용어 4개 중 2개 만남"과 아직 안 만난 용어가 보이고, 만난 용어의 개념 줄에는 횟수 바로 뒤에 "· 팀 용어"가 붙습니다. "몇 개 중 몇 개 만남" 진행 줄은 /learn 기록과 /learn 보고서에도 나옵니다. 모델 호출은 늘지 않습니다. 읽는 코드는 저장소 안의 200KB 이하 파일뿐이고, 용어당 700자까지 비밀값을 가린 뒤 퀴즈를 만드는 모델에 보냅니다. 빼기에 넣은 경로, .env 같은 비밀 파일, wp-config.php · settings.php · appsettings.json · secrets.json · .htpasswd 같은 설정 파일, .git 폴더 안은 읽지 않고 설명만으로 묻습니다. 링크는 가리키는 곳을 기준으로 봅니다. 팀 파일에서 경로를 빼면 코드를 읽지 않고 설명만으로 묻습니다.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1.8.0의 새 명령, 리더가 쓰는 /learn 보고서 모으기입니다. 팀원은 매주 /learn 보고서를 리더에게만, DM이나 파일로 보냅니다. 리더는 받은 보고서를 .md나 .txt 파일 하나에 모아 저장합니다. 한 사람에 하나씩, 같은 기간으로, 이 저장소에서 만든 보고서를 모으면 됩니다. 그다음 /learn 보고서 모으기 뒤에 그 파일을 적습니다. 예를 들면 /learn 보고서 모으기 ~/Downloads/팀보고서.txt입니다. 도움말처럼 앞에 "파일"을 붙여 /learn 보고서 모으기 파일 ~/Downloads/팀보고서.txt로 쳐도 됩니다. ~는 홈 폴더이고, 상대 경로는 Claude Code를 켠 프로젝트 폴더를 기준으로 찾습니다. 따옴표로 감싼 경로나 Windows 경로, 앞에 @가 붙은 경로도 됩니다. 파일을 찾지 못하면 탐색기·Finder에 보이는 이름(다운로드·문서 폴더, 숨겨진 .txt)이 실제 경로와 다를 수 있다고 알려 줍니다. 이때는 Windows에서 Shift를 누른 채 파일을 오른쪽 클릭해 "경로로 복사"를, macOS에서 오른쪽 클릭 뒤 Option을 눌러 "경로 이름으로 복사"를 고른 뒤 붙여 넣으면 됩니다. Slack에서 복사한 글이나 카카오톡 대화 내보내기 파일도 읽고, 보낸 사람 이름과 시간은 읽지 않습니다. 1.6.0 이후에 만든 보고서를 읽습니다. 그러면 오른쪽 같은 팀 학습 지도를 만들어 클립보드에 복사합니다. 복사할 수 없는 화면에서는 대화창에 적습니다. 지도에는 사람별 줄이 없습니다. 사람 이름, 코드, 요청, 각자 쓴 "내 말로" 한 줄은 넣지 않고, 학습 노트 수, 평균 학습일, 퀴즈 정답률, 여럿이 새로 배운 개념과 다시 볼 개념, 팀 용어를 얼마나 만났는지, 모델 호출 수를 모아서 씁니다. 개념 이름은 보고서 3개 이상에 나온 것만 적고, 괄호 안 숫자는 그 보고서 수입니다. 같은 보고서가 두 번 들어 있으면 한 번만 세고, 형식이 맞지 않는 보고서와 기간이 겹치지 않는 보고서, 300개를 넘는 보고서는 빼고, 뺀 수를 답의 둘째 줄에 알려 줍니다. 보고서가 3개보다 적으면 지도를 만들지 않습니다. 팀 용어 줄은 지금 팀 파일과 같은 용어로 만든 보고서가 3개 이상일 때만 셉니다. 다른 저장소에서 만들었거나 팀 파일을 바꾸기 전에 만든 보고서가 많으면 "지금 팀 파일과 같은 용어 4개로 만든 보고서가 3개보다 적어 세지 않았습니다"처럼 적습니다. 맨 아래 "팀 파일 후보"는 여럿이 퀴즈에서 틀렸지만 팀 용어에 없는 개념입니다. 팀 파일의 ## 용어에 우리 팀 코드로 설명을 적으면 팀원의 퀴즈가 그 설명으로 묻습니다. 이 명령은 모델을 부르지 않고, 저장소에도 파일에도 쓰지 않습니다. 지도는 어디에도 저장하지 않습니다. 읽는 것은 적은 파일 하나뿐이고 2MB까지입니다. 폴더, 네트워크 위치, 권한 규칙이 막은 파일은 읽지 않습니다. 클라우드 세션은 내 컴퓨터의 파일을 읽을 수 없어 이 명령을 쓸 수 없습니다. 채널에 붙이기 전에 한 번 읽어 보세요.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회사에 넓게 깔 때 담당자가 알아 두실 것입니다. 첫째, /learn 진단입니다. 노트가 안 생기거나 패널이 이상하면 대화창에 /learn 진단을 치게 해 주세요. 모델을 부르지 않고 버전, 다른 창의 버전, 화면, 설정(관리자가 잠근 값 표시), 오늘 노트·호출·실패 수, 저장소 크기, 최근 7일의 문제를 원인별로 정리해 클립보드에 복사하고 대화창에도 적습니다. 1.8.0부터는 오답 노트 줄이 하나 더 있습니다. 헷갈린 점이 몇 개인지, 그중 열린 것과 바로잡은 것, 유형 기타와 문장 없음, 그리고 "열린 채 두 번 이상", 곧 바로잡지 못한 채 연달아 두 번 이상 헷갈린 것(되묻기 뒤에 맞힌 것 포함)이 몇 개인지 개수만 셉니다. 코드, 요청, 파일 이름, 경로, 개념 이름, 헷갈린 점 문장은 들어 있지 않으니 팀 채널에 그대로 붙여도 됩니다. 복사할 수 없는 화면에서는 대화창에만 적습니다. 왼쪽 글은 예시 화면에서 뽑은 것입니다. 실패 알림도 원인을 말합니다. 디스크가 가득 찼는지, 폴더에 쓸 권한이 없는지, 로그인이 필요한지, 요청 한도에 걸렸는지를 나눠 알려 줍니다. 1.8.0부터는 Claude Code의 저장소가 크기 한도로 쓰기를 거절한 것도 알아듣고 "저장소가 4MB를 넘었습니다"로 알려 주며, 진단에는 "저장소 4MB 넘음"으로 나옵니다. 둘째, 버전 알림입니다. 업데이트한 뒤 다른 창이 더 새 버전을 쓰고 있으면, 옛 창에 흐린 줄과 토스트가 한 번 뜨고 /reload-plugins를 안내합니다. 저장소가 더 새 구조로 쓰였으면 옛 창은 다시 불러올 때까지 개념 모음과 복습 단계를 고치지 않고, 노트와 일지는 그대로 씁니다. 이 알림은 1.7.0 창부터 보입니다. 새 구조를 쓰는 판을 깔았다가 1.7로 되돌린 경우처럼 다시 불러와도 이 상태가 남으면, 알림 끝에 "다시 불러와도 계속되면 /learn 진단을 담당자에게 보내 주세요"가 붙고, 진단의 "다른 창" 줄에 저장소가 새 구조라는 것이 나옵니다. 창을 여러 개 열어 같은 퀴즈를 풀어도 첫 오답, 힌트, 채점이 사라지거나 두 번 세지지 않습니다. 다른 창에서 먼저 답한 문제에는 "이 문제는 그사이 다른 창에서 먼저 답했습니다. 한 번 더 적어 보세요."가 나옵니다. 셋째, 노트가 끊기지 않게 했습니다. 자동 노트가 서버 붐빔(529), 서버 오류, 연결 끊김, 시간 초과로 실패하면 노란 줄로 알리고 30초 뒤 한 번 더 씁니다. 두 번째도 실패하면 빨간 줄로 이유와 할 일을 알려 줍니다. 요청 한도에 걸린 것은 메인 세션과 나눠 쓰는 한도라 저절로 다시 쓰지 않습니다. /reload-plugins나 /config 변경 직후에 쓰다 멈춘 노트는 10분 안이면 저절로 이어 씁니다. w로 다시 쓰던 노트가 그렇게 끊기면 원래 노트로 돌아오고, "다시 불러오는 사이 노트 다시 쓰기가 끊겼습니다 · 원래 노트는 그대로입니다 · w로 다시 쓰기" 토스트가 한 번 뜹니다. 30초 뒤 다시 쓰기를 기다리는 동안 /learn 비우기를 확인하면, 그 노트는 다시 쓰지 않고 실패한 노트로 일지에 남깁니다. 구독 계정에서 5시간 사용 한도의 90%, 7일 한도의 95%를 넘으면 자동 노트를 미루고, w를 누르면 바로 씁니다. 이 문턱은 설정이 아니라 고정값입니다. 다시 쓴 호출은 모델 호출 수에는 들어가지만 하루 자동 노트 한도에는 세지 않습니다.</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비용은 파일을 바꾼 턴마다 작은 모델 호출 한 번이 기본입니다. 퀴즈, 채점, 질문, 정리는 쓸 때마다 한 번씩입니다. 1.7.0부터 더해진 것은 첫 오답의 두 번째 채점, 잠깐 오류로 실패한 자동 노트의 30초 뒤 한 번, 재로드로 끊긴 노트의 이어 쓰기 한 번입니다. 1.8.0은 모델 호출 수를 늘리지 않습니다. 풀이 보고 풀기가 든 퀴즈만 문제 글이 길어 출력 한도가 조금 큽니다. 노트 아래 헷갈린 개념 줄, /learn 기록의 같은 종류 줄, 진단의 오답 노트 줄, 보고서 모으기는 모델을 부르지 않습니다. 직접 해 보기는 고치지 않았거나 한글로 적었거나 예시 답과 같거나 모르겠어요면 호출이 없고, 그 밖에는 확인에 한 번, 한 번 더까지 많아야 두 번입니다. 기록, 보고서, 보고서 모으기, 힌트, 찾기, 복사, 진단은 모델을 부르지 않습니다. 뺀 파일만 바뀐 턴, JS나 CSS 같은 파일에서 띄어쓰기와 줄바꿈만 바뀐 턴도 모델을 부르지 않습니다. 하루 자동 노트 수는 dailyAutoNotes로 정할 수 있고, 사용량은 /learn 기록 맨 아래에 나옵니다. 노트와 기록은 모두 내 컴퓨터에만 저장됩니다. 다만 /learn 명령의 답은 대화창에 들어가 메인 Claude도 읽습니다. /learn 기록의 같은 종류 줄도 그렇고, 거기에는 종류와 개념 이름만 있습니다. /learn 보고서 모으기는 적은 파일 하나에서 숫자 줄과 개념·팀 용어 이름만 꺼내고 나머지는 버리며, 어디에도 저장하거나 쓰지 않습니다. 팀 용어에 적은 경로의 코드는 저장소 안 200KB 이하 파일만 읽고, 용어당 700자까지 가린 뒤 퀴즈 호출에 싣습니다. 비밀 파일과 wp-config.php, appsettings.json 같은 설정 파일은 팀 용어로 적어도 읽지 않습니다. 노트가 안 생기면 먼저 /learn 진단을 담당자에게 보내 주세요. 노란 줄은 다시 쓰기를 기다리는 중이라는 뜻이고, 빨간 줄은 이유와 할 일을 알려 줍니다. 숫자 1부터 4는 한/영과 상관없이 눌리고, 글자 키가 안 먹으면 한/영이 한글 상태인 경우가 많습니다. 그래도 안 되면 GitHub Issues나 팀 채널에 진단과 캡처를 남겨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설치는 이 두 줄이면 됩니다. 오늘 첫 요청부터 노트가 쌓입니다. 궁금한 점 있으시면 편하게 물어봐 주세요.</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chemeClr val="tx2"/>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640080" y="1874520"/>
            <a:ext cx="6583680" cy="182880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3" name="Text 0"/>
          <p:cNvSpPr/>
          <p:nvPr>
            <p:ph idx="101" type="body" hasCustomPrompt="1"/>
          </p:nvPr>
        </p:nvSpPr>
        <p:spPr>
          <a:xfrm>
            <a:off x="640080" y="3931920"/>
            <a:ext cx="6309360" cy="1371600"/>
          </a:xfrm>
          <a:prstGeom prst="rect">
            <a:avLst/>
          </a:prstGeom>
          <a:noFill/>
          <a:ln/>
        </p:spPr>
        <p:txBody>
          <a:bodyPr wrap="square" rtlCol="0"/>
          <a:lstStyle>
            <a:lvl1pPr algn="l" indent="0" marL="0">
              <a:buNone/>
              <a:defRPr lang="en-US" sz="1600" dirty="0">
                <a:solidFill>
                  <a:schemeClr val="accent6"/>
                </a:solidFill>
              </a:defRPr>
            </a:lvl1pPr>
          </a:lstStyle>
          <a:p>
            <a:pPr algn="l" indent="0" marL="0">
              <a:buNone/>
            </a:pPr>
            <a:endParaRPr lang="en-US" sz="16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ECTION_DARK">
    <p:bg>
      <p:bgPr>
        <a:solidFill>
          <a:schemeClr val="tx2"/>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3657600" cy="1005840"/>
          </a:xfrm>
          <a:prstGeom prst="rect">
            <a:avLst/>
          </a:prstGeom>
          <a:noFill/>
          <a:ln/>
        </p:spPr>
        <p:txBody>
          <a:bodyPr wrap="square" rtlCol="0"/>
          <a:lstStyle>
            <a:lvl1pPr algn="l" indent="0" marL="0">
              <a:buNone/>
              <a:defRPr lang="en-US" sz="6000" b="1" dirty="0">
                <a:solidFill>
                  <a:schemeClr val="accent6"/>
                </a:solidFill>
              </a:defRPr>
            </a:lvl1pPr>
          </a:lstStyle>
          <a:p>
            <a:pPr algn="l" indent="0" marL="0">
              <a:buNone/>
            </a:pPr>
            <a:endParaRPr lang="en-US" sz="6000" dirty="0"/>
          </a:p>
        </p:txBody>
      </p:sp>
      <p:sp>
        <p:nvSpPr>
          <p:cNvPr id="3" name="Text 0"/>
          <p:cNvSpPr/>
          <p:nvPr>
            <p:ph idx="101" type="title" hasCustomPrompt="1"/>
          </p:nvPr>
        </p:nvSpPr>
        <p:spPr>
          <a:xfrm>
            <a:off x="640080" y="2743200"/>
            <a:ext cx="10515600" cy="1005840"/>
          </a:xfrm>
          <a:prstGeom prst="rect">
            <a:avLst/>
          </a:prstGeom>
          <a:noFill/>
          <a:ln/>
        </p:spPr>
        <p:txBody>
          <a:bodyPr wrap="square" rtlCol="0"/>
          <a:lstStyle>
            <a:lvl1pPr algn="l" indent="0" marL="0">
              <a:buNone/>
              <a:defRPr lang="en-US" sz="4000" b="1" dirty="0">
                <a:solidFill>
                  <a:schemeClr val="bg1"/>
                </a:solidFill>
              </a:defRPr>
            </a:lvl1pPr>
          </a:lstStyle>
          <a:p>
            <a:pPr algn="l" indent="0" marL="0">
              <a:buNone/>
            </a:pPr>
            <a:endParaRPr lang="en-US" sz="4000" dirty="0"/>
          </a:p>
        </p:txBody>
      </p:sp>
      <p:sp>
        <p:nvSpPr>
          <p:cNvPr id="4" name="Text 0"/>
          <p:cNvSpPr/>
          <p:nvPr>
            <p:ph idx="102" type="body" hasCustomPrompt="1"/>
          </p:nvPr>
        </p:nvSpPr>
        <p:spPr>
          <a:xfrm>
            <a:off x="640080" y="3886200"/>
            <a:ext cx="10058400" cy="822960"/>
          </a:xfrm>
          <a:prstGeom prst="rect">
            <a:avLst/>
          </a:prstGeom>
          <a:noFill/>
          <a:ln/>
        </p:spPr>
        <p:txBody>
          <a:bodyPr wrap="square" rtlCol="0"/>
          <a:lstStyle>
            <a:lvl1pPr algn="l" indent="0" marL="0">
              <a:buNone/>
              <a:defRPr lang="en-US" sz="1800" dirty="0">
                <a:solidFill>
                  <a:schemeClr val="accent6"/>
                </a:solidFill>
              </a:defRPr>
            </a:lvl1pPr>
          </a:lstStyle>
          <a:p>
            <a:pPr algn="l" indent="0" marL="0">
              <a:buNone/>
            </a:pPr>
            <a:endParaRPr lang="en-US" sz="1800"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rtlCol="0"/>
          <a:lstStyle>
            <a:lvl1pPr algn="l" indent="0" marL="0">
              <a:buNone/>
              <a:defRPr lang="en-US" sz="3000" b="1" dirty="0">
                <a:solidFill>
                  <a:schemeClr val="tx2"/>
                </a:solidFill>
              </a:defRPr>
            </a:lvl1pPr>
          </a:lstStyle>
          <a:p>
            <a:pPr algn="l" indent="0" marL="0">
              <a:buNone/>
            </a:pPr>
            <a:endParaRPr lang="en-US" sz="3000" dirty="0"/>
          </a:p>
        </p:txBody>
      </p:sp>
      <p:sp>
        <p:nvSpPr>
          <p:cNvPr id="3" name="Text 0"/>
          <p:cNvSpPr/>
          <p:nvPr/>
        </p:nvSpPr>
        <p:spPr>
          <a:xfrm>
            <a:off x="548640" y="6400800"/>
            <a:ext cx="5486400" cy="274320"/>
          </a:xfrm>
          <a:prstGeom prst="rect">
            <a:avLst/>
          </a:prstGeom>
          <a:noFill/>
          <a:ln/>
        </p:spPr>
        <p:txBody>
          <a:bodyPr wrap="square" lIns="0" tIns="0" rIns="0" bIns="0" rtlCol="0" anchor="ctr"/>
          <a:lstStyle/>
          <a:p>
            <a:pPr indent="0" marL="0">
              <a:buNone/>
            </a:pPr>
            <a:r>
              <a:rPr lang="en-US" sz="1000" dirty="0">
                <a:solidFill>
                  <a:srgbClr val="8A9A9E"/>
                </a:solidFill>
              </a:rPr>
              <a:t>learn-notes · Claude Code 모드 소개</a:t>
            </a:r>
            <a:endParaRPr lang="en-US" sz="10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4.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slideLayout" Target="../slideLayouts/slideLayout4.xml"/><Relationship Id="rId7"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slideLayout" Target="../slideLayouts/slideLayout4.xml"/><Relationship Id="rId6"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slideLayout" Target="../slideLayouts/slideLayout4.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slideLayout" Target="../slideLayouts/slideLayout4.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image" Target="../media/image-8-6.png"/><Relationship Id="rId7" Type="http://schemas.openxmlformats.org/officeDocument/2006/relationships/slideLayout" Target="../slideLayouts/slideLayout4.xml"/><Relationship Id="rId8"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4.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4.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slideLayout" Target="../slideLayouts/slideLayout4.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slideLayout" Target="../slideLayouts/slideLayout4.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4.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slideLayout" Target="../slideLayouts/slideLayout4.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4.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slideLayout" Target="../slideLayouts/slideLayout4.xml"/><Relationship Id="rId5"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slideLayout" Target="../slideLayouts/slideLayout4.xml"/><Relationship Id="rId7"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image" Target="../media/image-22-2.png"/><Relationship Id="rId3" Type="http://schemas.openxmlformats.org/officeDocument/2006/relationships/slideLayout" Target="../slideLayouts/slideLayout4.xml"/><Relationship Id="rId4"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4.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image" Target="../media/image-24-2.png"/><Relationship Id="rId3" Type="http://schemas.openxmlformats.org/officeDocument/2006/relationships/image" Target="../media/image-24-3.png"/><Relationship Id="rId4" Type="http://schemas.openxmlformats.org/officeDocument/2006/relationships/slideLayout" Target="../slideLayouts/slideLayout4.xml"/><Relationship Id="rId5"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slideLayout" Target="../slideLayouts/slideLayout4.xml"/><Relationship Id="rId4"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image" Target="../media/image-27-2.png"/><Relationship Id="rId3" Type="http://schemas.openxmlformats.org/officeDocument/2006/relationships/image" Target="../media/image-27-3.png"/><Relationship Id="rId4" Type="http://schemas.openxmlformats.org/officeDocument/2006/relationships/image" Target="../media/image-27-4.png"/><Relationship Id="rId5" Type="http://schemas.openxmlformats.org/officeDocument/2006/relationships/slideLayout" Target="../slideLayouts/slideLayout4.xml"/><Relationship Id="rId6"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slideLayout" Target="../slideLayouts/slideLayout4.xml"/><Relationship Id="rId5"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txBox="1"/>
          <p:nvPr/>
        </p:nvSpPr>
        <p:spPr>
          <a:xfrm>
            <a:off x="640080" y="1234440"/>
            <a:ext cx="5486400" cy="365760"/>
          </a:xfrm>
          <a:prstGeom prst="rect">
            <a:avLst/>
          </a:prstGeom>
          <a:noFill/>
          <a:ln/>
        </p:spPr>
        <p:txBody>
          <a:bodyPr wrap="square" lIns="0" tIns="0" rIns="0" bIns="0" rtlCol="0" anchor="t"/>
          <a:lstStyle/>
          <a:p>
            <a:pPr indent="0" marL="0">
              <a:buNone/>
            </a:pPr>
            <a:r>
              <a:rPr lang="en-US" sz="1300" b="1" spc="200" kern="0" dirty="0">
                <a:solidFill>
                  <a:schemeClr val="accent6"/>
                </a:solidFill>
              </a:rPr>
              <a:t>CLAUDE CODE MOD · 팀 소개</a:t>
            </a:r>
            <a:endParaRPr lang="en-US" sz="1300" dirty="0"/>
          </a:p>
        </p:txBody>
      </p:sp>
      <p:sp>
        <p:nvSpPr>
          <p:cNvPr id="3" name="Text 0"/>
          <p:cNvSpPr/>
          <p:nvPr>
            <p:ph idx="100" type="title" hasCustomPrompt="1"/>
          </p:nvPr>
        </p:nvSpPr>
        <p:spPr>
          <a:xfrm>
            <a:off x="640080" y="1874520"/>
            <a:ext cx="6583680" cy="1828800"/>
          </a:xfrm>
          <a:prstGeom prst="rect">
            <a:avLst/>
          </a:prstGeom>
          <a:noFill/>
          <a:ln/>
        </p:spPr>
        <p:txBody>
          <a:bodyPr wrap="square" lIns="0" tIns="0" rIns="0" bIns="0" rtlCol="0" anchor="t"/>
          <a:lstStyle/>
          <a:p>
            <a:pPr algn="l" indent="0" marL="0">
              <a:buNone/>
            </a:pPr>
            <a:r>
              <a:rPr lang="en-US" sz="4000" b="1" dirty="0">
                <a:solidFill>
                  <a:schemeClr val="bg1"/>
                </a:solidFill>
              </a:rPr>
              <a:t>코딩은 Claude와 함께,</a:t>
            </a:r>
            <a:endParaRPr lang="en-US" sz="4000" dirty="0"/>
          </a:p>
          <a:p>
            <a:pPr algn="l" indent="0" marL="0">
              <a:buNone/>
            </a:pPr>
            <a:r>
              <a:rPr lang="en-US" sz="4000" b="1" dirty="0">
                <a:solidFill>
                  <a:schemeClr val="accent6"/>
                </a:solidFill>
              </a:rPr>
              <a:t>배운 것은 내 것으로</a:t>
            </a:r>
            <a:endParaRPr lang="en-US" sz="4000" dirty="0"/>
          </a:p>
        </p:txBody>
      </p:sp>
      <p:sp>
        <p:nvSpPr>
          <p:cNvPr id="4" name="Text 0"/>
          <p:cNvSpPr/>
          <p:nvPr>
            <p:ph idx="101" type="body" hasCustomPrompt="1"/>
          </p:nvPr>
        </p:nvSpPr>
        <p:spPr>
          <a:xfrm>
            <a:off x="640080" y="3931920"/>
            <a:ext cx="6309360" cy="1371600"/>
          </a:xfrm>
          <a:prstGeom prst="rect">
            <a:avLst/>
          </a:prstGeom>
          <a:noFill/>
          <a:ln/>
        </p:spPr>
        <p:txBody>
          <a:bodyPr wrap="square" lIns="0" tIns="0" rIns="0" bIns="0" rtlCol="0" anchor="t"/>
          <a:lstStyle/>
          <a:p>
            <a:pPr algn="l" indent="0" marL="0">
              <a:buNone/>
            </a:pPr>
            <a:r>
              <a:rPr lang="en-US" sz="1600" dirty="0">
                <a:solidFill>
                  <a:schemeClr val="accent6"/>
                </a:solidFill>
              </a:rPr>
              <a:t>learn-notes 1.8.0 — Claude가 고친 코드가 무엇을 어떻게 달라지게 했는지 턴마다 학습 노트로 보여 주고, 잊을 때쯤 내 코드로 퀴즈를 내며, 틀린 자리는 되물어 다시 풀게 하는 Claude Code 모드</a:t>
            </a:r>
            <a:endParaRPr lang="en-US" sz="1600" dirty="0"/>
          </a:p>
        </p:txBody>
      </p:sp>
      <p:sp>
        <p:nvSpPr>
          <p:cNvPr id="5" name="Text 3"/>
          <p:cNvSpPr txBox="1"/>
          <p:nvPr/>
        </p:nvSpPr>
        <p:spPr>
          <a:xfrm>
            <a:off x="640080" y="5989320"/>
            <a:ext cx="6400800" cy="320040"/>
          </a:xfrm>
          <a:prstGeom prst="rect">
            <a:avLst/>
          </a:prstGeom>
          <a:noFill/>
          <a:ln/>
        </p:spPr>
        <p:txBody>
          <a:bodyPr wrap="square" lIns="0" tIns="0" rIns="0" bIns="0" rtlCol="0" anchor="t"/>
          <a:lstStyle/>
          <a:p>
            <a:pPr indent="0" marL="0">
              <a:buNone/>
            </a:pPr>
            <a:r>
              <a:rPr lang="en-US" sz="1200" dirty="0">
                <a:solidFill>
                  <a:srgbClr val="A9C9BE"/>
                </a:solidFill>
              </a:rPr>
              <a:t>github.com/Owen-YC/learn-notes  ·  2026년 10월</a:t>
            </a:r>
            <a:endParaRPr lang="en-US" sz="1200" dirty="0"/>
          </a:p>
        </p:txBody>
      </p:sp>
      <p:pic>
        <p:nvPicPr>
          <p:cNvPr id="6" name="title-pane" descr="title-pane">    </p:cNvPr>
          <p:cNvPicPr>
            <a:picLocks noChangeAspect="1"/>
          </p:cNvPicPr>
          <p:nvPr/>
        </p:nvPicPr>
        <p:blipFill>
          <a:blip r:embed="rId1"/>
          <a:stretch>
            <a:fillRect/>
          </a:stretch>
        </p:blipFill>
        <p:spPr>
          <a:xfrm>
            <a:off x="7726680" y="685800"/>
            <a:ext cx="3886200" cy="5502244"/>
          </a:xfrm>
          <a:prstGeom prst="rect">
            <a:avLst/>
          </a:prstGeom>
          <a:effectLst>
            <a:outerShdw sx="100000" sy="100000" kx="0" ky="0" algn="bl" rotWithShape="0" blurRad="127000" dist="38100" dir="5400000">
              <a:srgbClr val="0F3D3E">
                <a:alpha val="28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이런 경험, 있으신가요?</a:t>
            </a:r>
            <a:endParaRPr lang="en-US" sz="3000" dirty="0"/>
          </a:p>
        </p:txBody>
      </p:sp>
      <p:sp>
        <p:nvSpPr>
          <p:cNvPr id="3" name="card"/>
          <p:cNvSpPr/>
          <p:nvPr/>
        </p:nvSpPr>
        <p:spPr>
          <a:xfrm>
            <a:off x="548640" y="1417320"/>
            <a:ext cx="3502152" cy="3063240"/>
          </a:xfrm>
          <a:prstGeom prst="roundRect">
            <a:avLst>
              <a:gd name="adj" fmla="val 2985"/>
            </a:avLst>
          </a:prstGeom>
          <a:solidFill>
            <a:schemeClr val="bg2"/>
          </a:solidFill>
          <a:ln w="9525">
            <a:solidFill>
              <a:schemeClr val="bg2"/>
            </a:solidFill>
            <a:prstDash val="solid"/>
          </a:ln>
        </p:spPr>
      </p:sp>
      <p:sp>
        <p:nvSpPr>
          <p:cNvPr id="4" name="badge-LuCircleHelp"/>
          <p:cNvSpPr/>
          <p:nvPr/>
        </p:nvSpPr>
        <p:spPr>
          <a:xfrm>
            <a:off x="868680" y="1737360"/>
            <a:ext cx="731520" cy="731520"/>
          </a:xfrm>
          <a:prstGeom prst="ellipse">
            <a:avLst/>
          </a:prstGeom>
          <a:solidFill>
            <a:schemeClr val="accent4"/>
          </a:solidFill>
          <a:ln w="12700">
            <a:solidFill>
              <a:schemeClr val="accent4"/>
            </a:solidFill>
            <a:prstDash val="solid"/>
          </a:ln>
        </p:spPr>
      </p:sp>
      <p:pic>
        <p:nvPicPr>
          <p:cNvPr id="5" name="icon-LuCircleHelp" descr="LuCircleHelp">    </p:cNvPr>
          <p:cNvPicPr>
            <a:picLocks noChangeAspect="1"/>
          </p:cNvPicPr>
          <p:nvPr/>
        </p:nvPicPr>
        <p:blipFill>
          <a:blip r:embed="rId1"/>
          <a:stretch>
            <a:fillRect/>
          </a:stretch>
        </p:blipFill>
        <p:spPr>
          <a:xfrm>
            <a:off x="1044245" y="1912925"/>
            <a:ext cx="380390" cy="380390"/>
          </a:xfrm>
          <a:prstGeom prst="rect">
            <a:avLst/>
          </a:prstGeom>
        </p:spPr>
      </p:pic>
      <p:sp>
        <p:nvSpPr>
          <p:cNvPr id="6" name="Text 3"/>
          <p:cNvSpPr txBox="1"/>
          <p:nvPr/>
        </p:nvSpPr>
        <p:spPr>
          <a:xfrm>
            <a:off x="868680" y="2651760"/>
            <a:ext cx="2926080" cy="457200"/>
          </a:xfrm>
          <a:prstGeom prst="rect">
            <a:avLst/>
          </a:prstGeom>
          <a:noFill/>
          <a:ln/>
        </p:spPr>
        <p:txBody>
          <a:bodyPr wrap="square" lIns="0" tIns="0" rIns="0" bIns="0" rtlCol="0" anchor="t"/>
          <a:lstStyle/>
          <a:p>
            <a:pPr indent="0" marL="0">
              <a:buNone/>
            </a:pPr>
            <a:r>
              <a:rPr lang="en-US" sz="1800" b="1" dirty="0">
                <a:solidFill>
                  <a:schemeClr val="tx2"/>
                </a:solidFill>
              </a:rPr>
              <a:t>왜 바뀌었는지 모릅니다</a:t>
            </a:r>
            <a:endParaRPr lang="en-US" sz="1800" dirty="0"/>
          </a:p>
        </p:txBody>
      </p:sp>
      <p:sp>
        <p:nvSpPr>
          <p:cNvPr id="7" name="Text 4"/>
          <p:cNvSpPr txBox="1"/>
          <p:nvPr/>
        </p:nvSpPr>
        <p:spPr>
          <a:xfrm>
            <a:off x="868680" y="3200400"/>
            <a:ext cx="2880360" cy="1143000"/>
          </a:xfrm>
          <a:prstGeom prst="rect">
            <a:avLst/>
          </a:prstGeom>
          <a:noFill/>
          <a:ln/>
        </p:spPr>
        <p:txBody>
          <a:bodyPr wrap="square" lIns="0" tIns="0" rIns="0" bIns="0" rtlCol="0" anchor="t"/>
          <a:lstStyle/>
          <a:p>
            <a:pPr indent="0" marL="0">
              <a:buNone/>
            </a:pPr>
            <a:r>
              <a:rPr lang="en-US" sz="1400" dirty="0">
                <a:solidFill>
                  <a:schemeClr val="tx1"/>
                </a:solidFill>
              </a:rPr>
              <a:t>Claude가 몇 초 만에 고친 코드. 설명은 대화 속에 묻히고, 전과 후를 다시 찾기 어렵습니다.</a:t>
            </a:r>
            <a:endParaRPr lang="en-US" sz="1400" dirty="0"/>
          </a:p>
        </p:txBody>
      </p:sp>
      <p:sp>
        <p:nvSpPr>
          <p:cNvPr id="8" name="card"/>
          <p:cNvSpPr/>
          <p:nvPr/>
        </p:nvSpPr>
        <p:spPr>
          <a:xfrm>
            <a:off x="4343400" y="1417320"/>
            <a:ext cx="3502152" cy="3063240"/>
          </a:xfrm>
          <a:prstGeom prst="roundRect">
            <a:avLst>
              <a:gd name="adj" fmla="val 2985"/>
            </a:avLst>
          </a:prstGeom>
          <a:solidFill>
            <a:schemeClr val="bg2"/>
          </a:solidFill>
          <a:ln w="9525">
            <a:solidFill>
              <a:schemeClr val="bg2"/>
            </a:solidFill>
            <a:prstDash val="solid"/>
          </a:ln>
        </p:spPr>
      </p:sp>
      <p:sp>
        <p:nvSpPr>
          <p:cNvPr id="9" name="badge-LuRepeat"/>
          <p:cNvSpPr/>
          <p:nvPr/>
        </p:nvSpPr>
        <p:spPr>
          <a:xfrm>
            <a:off x="4663440" y="1737360"/>
            <a:ext cx="731520" cy="731520"/>
          </a:xfrm>
          <a:prstGeom prst="ellipse">
            <a:avLst/>
          </a:prstGeom>
          <a:solidFill>
            <a:schemeClr val="accent4"/>
          </a:solidFill>
          <a:ln w="12700">
            <a:solidFill>
              <a:schemeClr val="accent4"/>
            </a:solidFill>
            <a:prstDash val="solid"/>
          </a:ln>
        </p:spPr>
      </p:sp>
      <p:pic>
        <p:nvPicPr>
          <p:cNvPr id="10" name="icon-LuRepeat" descr="LuRepeat">    </p:cNvPr>
          <p:cNvPicPr>
            <a:picLocks noChangeAspect="1"/>
          </p:cNvPicPr>
          <p:nvPr/>
        </p:nvPicPr>
        <p:blipFill>
          <a:blip r:embed="rId2"/>
          <a:stretch>
            <a:fillRect/>
          </a:stretch>
        </p:blipFill>
        <p:spPr>
          <a:xfrm>
            <a:off x="4839005" y="1912925"/>
            <a:ext cx="380390" cy="380390"/>
          </a:xfrm>
          <a:prstGeom prst="rect">
            <a:avLst/>
          </a:prstGeom>
        </p:spPr>
      </p:pic>
      <p:sp>
        <p:nvSpPr>
          <p:cNvPr id="11" name="Text 7"/>
          <p:cNvSpPr txBox="1"/>
          <p:nvPr/>
        </p:nvSpPr>
        <p:spPr>
          <a:xfrm>
            <a:off x="4663440" y="2651760"/>
            <a:ext cx="2926080" cy="457200"/>
          </a:xfrm>
          <a:prstGeom prst="rect">
            <a:avLst/>
          </a:prstGeom>
          <a:noFill/>
          <a:ln/>
        </p:spPr>
        <p:txBody>
          <a:bodyPr wrap="square" lIns="0" tIns="0" rIns="0" bIns="0" rtlCol="0" anchor="t"/>
          <a:lstStyle/>
          <a:p>
            <a:pPr indent="0" marL="0">
              <a:buNone/>
            </a:pPr>
            <a:r>
              <a:rPr lang="en-US" sz="1800" b="1" dirty="0">
                <a:solidFill>
                  <a:schemeClr val="tx2"/>
                </a:solidFill>
              </a:rPr>
              <a:t>매번 처음 보는 것 같습니다</a:t>
            </a:r>
            <a:endParaRPr lang="en-US" sz="1800" dirty="0"/>
          </a:p>
        </p:txBody>
      </p:sp>
      <p:sp>
        <p:nvSpPr>
          <p:cNvPr id="12" name="Text 8"/>
          <p:cNvSpPr txBox="1"/>
          <p:nvPr/>
        </p:nvSpPr>
        <p:spPr>
          <a:xfrm>
            <a:off x="4663440" y="3200400"/>
            <a:ext cx="2880360" cy="1143000"/>
          </a:xfrm>
          <a:prstGeom prst="rect">
            <a:avLst/>
          </a:prstGeom>
          <a:noFill/>
          <a:ln/>
        </p:spPr>
        <p:txBody>
          <a:bodyPr wrap="square" lIns="0" tIns="0" rIns="0" bIns="0" rtlCol="0" anchor="t"/>
          <a:lstStyle/>
          <a:p>
            <a:pPr indent="0" marL="0">
              <a:buNone/>
            </a:pPr>
            <a:r>
              <a:rPr lang="en-US" sz="1400" dirty="0">
                <a:solidFill>
                  <a:schemeClr val="tx1"/>
                </a:solidFill>
              </a:rPr>
              <a:t>지난주에 본 for...of를 오늘 또 처음 보는 것처럼 지나칩니다.</a:t>
            </a:r>
            <a:endParaRPr lang="en-US" sz="1400" dirty="0"/>
          </a:p>
        </p:txBody>
      </p:sp>
      <p:sp>
        <p:nvSpPr>
          <p:cNvPr id="13" name="card"/>
          <p:cNvSpPr/>
          <p:nvPr/>
        </p:nvSpPr>
        <p:spPr>
          <a:xfrm>
            <a:off x="8138160" y="1417320"/>
            <a:ext cx="3502152" cy="3063240"/>
          </a:xfrm>
          <a:prstGeom prst="roundRect">
            <a:avLst>
              <a:gd name="adj" fmla="val 2985"/>
            </a:avLst>
          </a:prstGeom>
          <a:solidFill>
            <a:schemeClr val="bg2"/>
          </a:solidFill>
          <a:ln w="9525">
            <a:solidFill>
              <a:schemeClr val="bg2"/>
            </a:solidFill>
            <a:prstDash val="solid"/>
          </a:ln>
        </p:spPr>
      </p:sp>
      <p:sp>
        <p:nvSpPr>
          <p:cNvPr id="14" name="badge-LuHourglass"/>
          <p:cNvSpPr/>
          <p:nvPr/>
        </p:nvSpPr>
        <p:spPr>
          <a:xfrm>
            <a:off x="8458200" y="1737360"/>
            <a:ext cx="731520" cy="731520"/>
          </a:xfrm>
          <a:prstGeom prst="ellipse">
            <a:avLst/>
          </a:prstGeom>
          <a:solidFill>
            <a:schemeClr val="accent4"/>
          </a:solidFill>
          <a:ln w="12700">
            <a:solidFill>
              <a:schemeClr val="accent4"/>
            </a:solidFill>
            <a:prstDash val="solid"/>
          </a:ln>
        </p:spPr>
      </p:sp>
      <p:pic>
        <p:nvPicPr>
          <p:cNvPr id="15" name="icon-LuHourglass" descr="LuHourglass">    </p:cNvPr>
          <p:cNvPicPr>
            <a:picLocks noChangeAspect="1"/>
          </p:cNvPicPr>
          <p:nvPr/>
        </p:nvPicPr>
        <p:blipFill>
          <a:blip r:embed="rId3"/>
          <a:stretch>
            <a:fillRect/>
          </a:stretch>
        </p:blipFill>
        <p:spPr>
          <a:xfrm>
            <a:off x="8633765" y="1912925"/>
            <a:ext cx="380390" cy="380390"/>
          </a:xfrm>
          <a:prstGeom prst="rect">
            <a:avLst/>
          </a:prstGeom>
        </p:spPr>
      </p:pic>
      <p:sp>
        <p:nvSpPr>
          <p:cNvPr id="16" name="Text 11"/>
          <p:cNvSpPr txBox="1"/>
          <p:nvPr/>
        </p:nvSpPr>
        <p:spPr>
          <a:xfrm>
            <a:off x="8458200" y="2651760"/>
            <a:ext cx="2926080" cy="457200"/>
          </a:xfrm>
          <a:prstGeom prst="rect">
            <a:avLst/>
          </a:prstGeom>
          <a:noFill/>
          <a:ln/>
        </p:spPr>
        <p:txBody>
          <a:bodyPr wrap="square" lIns="0" tIns="0" rIns="0" bIns="0" rtlCol="0" anchor="t"/>
          <a:lstStyle/>
          <a:p>
            <a:pPr indent="0" marL="0">
              <a:buNone/>
            </a:pPr>
            <a:r>
              <a:rPr lang="en-US" sz="1800" b="1" dirty="0">
                <a:solidFill>
                  <a:schemeClr val="tx2"/>
                </a:solidFill>
              </a:rPr>
              <a:t>배운 것이 남지 않습니다</a:t>
            </a:r>
            <a:endParaRPr lang="en-US" sz="1800" dirty="0"/>
          </a:p>
        </p:txBody>
      </p:sp>
      <p:sp>
        <p:nvSpPr>
          <p:cNvPr id="17" name="Text 12"/>
          <p:cNvSpPr txBox="1"/>
          <p:nvPr/>
        </p:nvSpPr>
        <p:spPr>
          <a:xfrm>
            <a:off x="8458200" y="3200400"/>
            <a:ext cx="2880360" cy="1143000"/>
          </a:xfrm>
          <a:prstGeom prst="rect">
            <a:avLst/>
          </a:prstGeom>
          <a:noFill/>
          <a:ln/>
        </p:spPr>
        <p:txBody>
          <a:bodyPr wrap="square" lIns="0" tIns="0" rIns="0" bIns="0" rtlCol="0" anchor="t"/>
          <a:lstStyle/>
          <a:p>
            <a:pPr indent="0" marL="0">
              <a:buNone/>
            </a:pPr>
            <a:r>
              <a:rPr lang="en-US" sz="1400" dirty="0">
                <a:solidFill>
                  <a:schemeClr val="tx1"/>
                </a:solidFill>
              </a:rPr>
              <a:t>무엇을 배웠는지 기록이 없어, 내가 성장했는지 알기 어렵습니다.</a:t>
            </a:r>
            <a:endParaRPr lang="en-US" sz="1400" dirty="0"/>
          </a:p>
        </p:txBody>
      </p:sp>
      <p:sp>
        <p:nvSpPr>
          <p:cNvPr id="18" name="statement"/>
          <p:cNvSpPr/>
          <p:nvPr/>
        </p:nvSpPr>
        <p:spPr>
          <a:xfrm>
            <a:off x="548640" y="4800600"/>
            <a:ext cx="11091672" cy="1143000"/>
          </a:xfrm>
          <a:prstGeom prst="roundRect">
            <a:avLst>
              <a:gd name="adj" fmla="val 8000"/>
            </a:avLst>
          </a:prstGeom>
          <a:solidFill>
            <a:schemeClr val="tx2"/>
          </a:solidFill>
          <a:ln w="12700">
            <a:solidFill>
              <a:schemeClr val="tx2"/>
            </a:solidFill>
            <a:prstDash val="solid"/>
          </a:ln>
        </p:spPr>
      </p:sp>
      <p:sp>
        <p:nvSpPr>
          <p:cNvPr id="19" name="badge-LuLightbulb"/>
          <p:cNvSpPr/>
          <p:nvPr/>
        </p:nvSpPr>
        <p:spPr>
          <a:xfrm>
            <a:off x="868680" y="5001768"/>
            <a:ext cx="731520" cy="731520"/>
          </a:xfrm>
          <a:prstGeom prst="ellipse">
            <a:avLst/>
          </a:prstGeom>
          <a:solidFill>
            <a:schemeClr val="accent2"/>
          </a:solidFill>
          <a:ln w="12700">
            <a:solidFill>
              <a:schemeClr val="accent2"/>
            </a:solidFill>
            <a:prstDash val="solid"/>
          </a:ln>
        </p:spPr>
      </p:sp>
      <p:pic>
        <p:nvPicPr>
          <p:cNvPr id="20" name="icon-LuLightbulb" descr="LuLightbulb">    </p:cNvPr>
          <p:cNvPicPr>
            <a:picLocks noChangeAspect="1"/>
          </p:cNvPicPr>
          <p:nvPr/>
        </p:nvPicPr>
        <p:blipFill>
          <a:blip r:embed="rId4"/>
          <a:stretch>
            <a:fillRect/>
          </a:stretch>
        </p:blipFill>
        <p:spPr>
          <a:xfrm>
            <a:off x="1044245" y="5177333"/>
            <a:ext cx="380390" cy="380390"/>
          </a:xfrm>
          <a:prstGeom prst="rect">
            <a:avLst/>
          </a:prstGeom>
        </p:spPr>
      </p:pic>
      <p:sp>
        <p:nvSpPr>
          <p:cNvPr id="21" name="Text 15"/>
          <p:cNvSpPr txBox="1"/>
          <p:nvPr/>
        </p:nvSpPr>
        <p:spPr>
          <a:xfrm>
            <a:off x="1828800" y="4800600"/>
            <a:ext cx="9509760" cy="1143000"/>
          </a:xfrm>
          <a:prstGeom prst="rect">
            <a:avLst/>
          </a:prstGeom>
          <a:noFill/>
          <a:ln/>
        </p:spPr>
        <p:txBody>
          <a:bodyPr wrap="square" lIns="0" tIns="0" rIns="0" bIns="0" rtlCol="0" anchor="ctr"/>
          <a:lstStyle/>
          <a:p>
            <a:pPr indent="0" marL="0">
              <a:buNone/>
            </a:pPr>
            <a:r>
              <a:rPr lang="en-US" sz="2200" b="1" dirty="0">
                <a:solidFill>
                  <a:schemeClr val="bg1"/>
                </a:solidFill>
              </a:rPr>
              <a:t>Claude가 코드를 고칠 때마다, 나에게 짧은 수업이 하나씩 남는다면?</a:t>
            </a:r>
            <a:endParaRPr lang="en-US" sz="2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learn-notes는 이렇게 돕습니다</a:t>
            </a:r>
            <a:endParaRPr lang="en-US" sz="3000" dirty="0"/>
          </a:p>
        </p:txBody>
      </p:sp>
      <p:sp>
        <p:nvSpPr>
          <p:cNvPr id="3" name="outline"/>
          <p:cNvSpPr/>
          <p:nvPr/>
        </p:nvSpPr>
        <p:spPr>
          <a:xfrm>
            <a:off x="548640" y="1463040"/>
            <a:ext cx="2560320" cy="3383280"/>
          </a:xfrm>
          <a:prstGeom prst="roundRect">
            <a:avLst>
              <a:gd name="adj" fmla="val 3571"/>
            </a:avLst>
          </a:prstGeom>
          <a:solidFill>
            <a:schemeClr val="bg1"/>
          </a:solidFill>
          <a:ln w="12700">
            <a:solidFill>
              <a:srgbClr val="D9E3DF"/>
            </a:solidFill>
            <a:prstDash val="solid"/>
          </a:ln>
        </p:spPr>
      </p:sp>
      <p:sp>
        <p:nvSpPr>
          <p:cNvPr id="4" name="badge-LuEye"/>
          <p:cNvSpPr/>
          <p:nvPr/>
        </p:nvSpPr>
        <p:spPr>
          <a:xfrm>
            <a:off x="822960" y="1783080"/>
            <a:ext cx="777240" cy="777240"/>
          </a:xfrm>
          <a:prstGeom prst="ellipse">
            <a:avLst/>
          </a:prstGeom>
          <a:solidFill>
            <a:schemeClr val="accent1"/>
          </a:solidFill>
          <a:ln w="12700">
            <a:solidFill>
              <a:schemeClr val="accent1"/>
            </a:solidFill>
            <a:prstDash val="solid"/>
          </a:ln>
        </p:spPr>
      </p:sp>
      <p:pic>
        <p:nvPicPr>
          <p:cNvPr id="5" name="icon-LuEye" descr="LuEye">    </p:cNvPr>
          <p:cNvPicPr>
            <a:picLocks noChangeAspect="1"/>
          </p:cNvPicPr>
          <p:nvPr/>
        </p:nvPicPr>
        <p:blipFill>
          <a:blip r:embed="rId1"/>
          <a:stretch>
            <a:fillRect/>
          </a:stretch>
        </p:blipFill>
        <p:spPr>
          <a:xfrm>
            <a:off x="1009498" y="1969618"/>
            <a:ext cx="404165" cy="404165"/>
          </a:xfrm>
          <a:prstGeom prst="rect">
            <a:avLst/>
          </a:prstGeom>
        </p:spPr>
      </p:pic>
      <p:sp>
        <p:nvSpPr>
          <p:cNvPr id="6" name="Text 3"/>
          <p:cNvSpPr txBox="1"/>
          <p:nvPr/>
        </p:nvSpPr>
        <p:spPr>
          <a:xfrm>
            <a:off x="2240280" y="1874520"/>
            <a:ext cx="640080" cy="457200"/>
          </a:xfrm>
          <a:prstGeom prst="rect">
            <a:avLst/>
          </a:prstGeom>
          <a:noFill/>
          <a:ln/>
        </p:spPr>
        <p:txBody>
          <a:bodyPr wrap="square" lIns="0" tIns="0" rIns="0" bIns="0" rtlCol="0" anchor="t"/>
          <a:lstStyle/>
          <a:p>
            <a:pPr algn="r" indent="0" marL="0">
              <a:buNone/>
            </a:pPr>
            <a:r>
              <a:rPr lang="en-US" sz="2000" b="1" dirty="0">
                <a:solidFill>
                  <a:srgbClr val="C5D3CE"/>
                </a:solidFill>
              </a:rPr>
              <a:t>01</a:t>
            </a:r>
            <a:endParaRPr lang="en-US" sz="2000" dirty="0"/>
          </a:p>
        </p:txBody>
      </p:sp>
      <p:sp>
        <p:nvSpPr>
          <p:cNvPr id="7" name="Text 4"/>
          <p:cNvSpPr txBox="1"/>
          <p:nvPr/>
        </p:nvSpPr>
        <p:spPr>
          <a:xfrm>
            <a:off x="822960" y="2788920"/>
            <a:ext cx="2103120" cy="457200"/>
          </a:xfrm>
          <a:prstGeom prst="rect">
            <a:avLst/>
          </a:prstGeom>
          <a:noFill/>
          <a:ln/>
        </p:spPr>
        <p:txBody>
          <a:bodyPr wrap="square" lIns="0" tIns="0" rIns="0" bIns="0" rtlCol="0" anchor="t"/>
          <a:lstStyle/>
          <a:p>
            <a:pPr indent="0" marL="0">
              <a:buNone/>
            </a:pPr>
            <a:r>
              <a:rPr lang="en-US" sz="2000" b="1" dirty="0">
                <a:solidFill>
                  <a:schemeClr val="tx2"/>
                </a:solidFill>
              </a:rPr>
              <a:t>모읍니다</a:t>
            </a:r>
            <a:endParaRPr lang="en-US" sz="2000" dirty="0"/>
          </a:p>
        </p:txBody>
      </p:sp>
      <p:sp>
        <p:nvSpPr>
          <p:cNvPr id="8" name="Text 5"/>
          <p:cNvSpPr txBox="1"/>
          <p:nvPr/>
        </p:nvSpPr>
        <p:spPr>
          <a:xfrm>
            <a:off x="822960" y="3310128"/>
            <a:ext cx="2057400" cy="1371600"/>
          </a:xfrm>
          <a:prstGeom prst="rect">
            <a:avLst/>
          </a:prstGeom>
          <a:noFill/>
          <a:ln/>
        </p:spPr>
        <p:txBody>
          <a:bodyPr wrap="square" lIns="0" tIns="0" rIns="0" bIns="0" rtlCol="0" anchor="t"/>
          <a:lstStyle/>
          <a:p>
            <a:pPr indent="0" marL="0">
              <a:buNone/>
            </a:pPr>
            <a:r>
              <a:rPr lang="en-US" sz="1400" dirty="0">
                <a:solidFill>
                  <a:schemeClr val="tx1"/>
                </a:solidFill>
              </a:rPr>
              <a:t>Claude가 파일을 고칠 때마다 바뀌기 전과 후를 모읍니다.</a:t>
            </a:r>
            <a:endParaRPr lang="en-US" sz="1400" dirty="0"/>
          </a:p>
        </p:txBody>
      </p:sp>
      <p:sp>
        <p:nvSpPr>
          <p:cNvPr id="9" name="arrow"/>
          <p:cNvSpPr/>
          <p:nvPr/>
        </p:nvSpPr>
        <p:spPr>
          <a:xfrm rot="5400000">
            <a:off x="3163824" y="3044952"/>
            <a:ext cx="201168" cy="219456"/>
          </a:xfrm>
          <a:prstGeom prst="triangle">
            <a:avLst/>
          </a:prstGeom>
          <a:solidFill>
            <a:srgbClr val="B9C7C2"/>
          </a:solidFill>
          <a:ln w="12700">
            <a:solidFill>
              <a:srgbClr val="B9C7C2"/>
            </a:solidFill>
            <a:prstDash val="solid"/>
          </a:ln>
        </p:spPr>
      </p:sp>
      <p:sp>
        <p:nvSpPr>
          <p:cNvPr id="10" name="outline"/>
          <p:cNvSpPr/>
          <p:nvPr/>
        </p:nvSpPr>
        <p:spPr>
          <a:xfrm>
            <a:off x="3410712" y="1463040"/>
            <a:ext cx="2560320" cy="3383280"/>
          </a:xfrm>
          <a:prstGeom prst="roundRect">
            <a:avLst>
              <a:gd name="adj" fmla="val 3571"/>
            </a:avLst>
          </a:prstGeom>
          <a:solidFill>
            <a:schemeClr val="bg1"/>
          </a:solidFill>
          <a:ln w="12700">
            <a:solidFill>
              <a:srgbClr val="D9E3DF"/>
            </a:solidFill>
            <a:prstDash val="solid"/>
          </a:ln>
        </p:spPr>
      </p:sp>
      <p:sp>
        <p:nvSpPr>
          <p:cNvPr id="11" name="badge-LuNotebookPen"/>
          <p:cNvSpPr/>
          <p:nvPr/>
        </p:nvSpPr>
        <p:spPr>
          <a:xfrm>
            <a:off x="3685032" y="1783080"/>
            <a:ext cx="777240" cy="777240"/>
          </a:xfrm>
          <a:prstGeom prst="ellipse">
            <a:avLst/>
          </a:prstGeom>
          <a:solidFill>
            <a:schemeClr val="accent3"/>
          </a:solidFill>
          <a:ln w="12700">
            <a:solidFill>
              <a:schemeClr val="accent3"/>
            </a:solidFill>
            <a:prstDash val="solid"/>
          </a:ln>
        </p:spPr>
      </p:sp>
      <p:pic>
        <p:nvPicPr>
          <p:cNvPr id="12" name="icon-LuNotebookPen" descr="LuNotebookPen">    </p:cNvPr>
          <p:cNvPicPr>
            <a:picLocks noChangeAspect="1"/>
          </p:cNvPicPr>
          <p:nvPr/>
        </p:nvPicPr>
        <p:blipFill>
          <a:blip r:embed="rId2"/>
          <a:stretch>
            <a:fillRect/>
          </a:stretch>
        </p:blipFill>
        <p:spPr>
          <a:xfrm>
            <a:off x="3871570" y="1969618"/>
            <a:ext cx="404165" cy="404165"/>
          </a:xfrm>
          <a:prstGeom prst="rect">
            <a:avLst/>
          </a:prstGeom>
        </p:spPr>
      </p:pic>
      <p:sp>
        <p:nvSpPr>
          <p:cNvPr id="13" name="Text 9"/>
          <p:cNvSpPr txBox="1"/>
          <p:nvPr/>
        </p:nvSpPr>
        <p:spPr>
          <a:xfrm>
            <a:off x="5102352" y="1874520"/>
            <a:ext cx="640080" cy="457200"/>
          </a:xfrm>
          <a:prstGeom prst="rect">
            <a:avLst/>
          </a:prstGeom>
          <a:noFill/>
          <a:ln/>
        </p:spPr>
        <p:txBody>
          <a:bodyPr wrap="square" lIns="0" tIns="0" rIns="0" bIns="0" rtlCol="0" anchor="t"/>
          <a:lstStyle/>
          <a:p>
            <a:pPr algn="r" indent="0" marL="0">
              <a:buNone/>
            </a:pPr>
            <a:r>
              <a:rPr lang="en-US" sz="2000" b="1" dirty="0">
                <a:solidFill>
                  <a:srgbClr val="C5D3CE"/>
                </a:solidFill>
              </a:rPr>
              <a:t>02</a:t>
            </a:r>
            <a:endParaRPr lang="en-US" sz="2000" dirty="0"/>
          </a:p>
        </p:txBody>
      </p:sp>
      <p:sp>
        <p:nvSpPr>
          <p:cNvPr id="14" name="Text 10"/>
          <p:cNvSpPr txBox="1"/>
          <p:nvPr/>
        </p:nvSpPr>
        <p:spPr>
          <a:xfrm>
            <a:off x="3685032" y="2788920"/>
            <a:ext cx="2103120" cy="457200"/>
          </a:xfrm>
          <a:prstGeom prst="rect">
            <a:avLst/>
          </a:prstGeom>
          <a:noFill/>
          <a:ln/>
        </p:spPr>
        <p:txBody>
          <a:bodyPr wrap="square" lIns="0" tIns="0" rIns="0" bIns="0" rtlCol="0" anchor="t"/>
          <a:lstStyle/>
          <a:p>
            <a:pPr indent="0" marL="0">
              <a:buNone/>
            </a:pPr>
            <a:r>
              <a:rPr lang="en-US" sz="2000" b="1" dirty="0">
                <a:solidFill>
                  <a:schemeClr val="tx2"/>
                </a:solidFill>
              </a:rPr>
              <a:t>노트를 씁니다</a:t>
            </a:r>
            <a:endParaRPr lang="en-US" sz="2000" dirty="0"/>
          </a:p>
        </p:txBody>
      </p:sp>
      <p:sp>
        <p:nvSpPr>
          <p:cNvPr id="15" name="Text 11"/>
          <p:cNvSpPr txBox="1"/>
          <p:nvPr/>
        </p:nvSpPr>
        <p:spPr>
          <a:xfrm>
            <a:off x="3685032" y="3310128"/>
            <a:ext cx="2057400" cy="1371600"/>
          </a:xfrm>
          <a:prstGeom prst="rect">
            <a:avLst/>
          </a:prstGeom>
          <a:noFill/>
          <a:ln/>
        </p:spPr>
        <p:txBody>
          <a:bodyPr wrap="square" lIns="0" tIns="0" rIns="0" bIns="0" rtlCol="0" anchor="t"/>
          <a:lstStyle/>
          <a:p>
            <a:pPr indent="0" marL="0">
              <a:buNone/>
            </a:pPr>
            <a:r>
              <a:rPr lang="en-US" sz="1400" dirty="0">
                <a:solidFill>
                  <a:schemeClr val="tx1"/>
                </a:solidFill>
              </a:rPr>
              <a:t>턴이 끝나면 무엇이·왜 바뀌었고 무엇을 배울지 정리합니다.</a:t>
            </a:r>
            <a:endParaRPr lang="en-US" sz="1400" dirty="0"/>
          </a:p>
        </p:txBody>
      </p:sp>
      <p:sp>
        <p:nvSpPr>
          <p:cNvPr id="16" name="arrow"/>
          <p:cNvSpPr/>
          <p:nvPr/>
        </p:nvSpPr>
        <p:spPr>
          <a:xfrm rot="5400000">
            <a:off x="6025896" y="3044952"/>
            <a:ext cx="201168" cy="219456"/>
          </a:xfrm>
          <a:prstGeom prst="triangle">
            <a:avLst/>
          </a:prstGeom>
          <a:solidFill>
            <a:srgbClr val="B9C7C2"/>
          </a:solidFill>
          <a:ln w="12700">
            <a:solidFill>
              <a:srgbClr val="B9C7C2"/>
            </a:solidFill>
            <a:prstDash val="solid"/>
          </a:ln>
        </p:spPr>
      </p:sp>
      <p:sp>
        <p:nvSpPr>
          <p:cNvPr id="17" name="outline"/>
          <p:cNvSpPr/>
          <p:nvPr/>
        </p:nvSpPr>
        <p:spPr>
          <a:xfrm>
            <a:off x="6272784" y="1463040"/>
            <a:ext cx="2560320" cy="3383280"/>
          </a:xfrm>
          <a:prstGeom prst="roundRect">
            <a:avLst>
              <a:gd name="adj" fmla="val 3571"/>
            </a:avLst>
          </a:prstGeom>
          <a:solidFill>
            <a:schemeClr val="bg1"/>
          </a:solidFill>
          <a:ln w="12700">
            <a:solidFill>
              <a:srgbClr val="D9E3DF"/>
            </a:solidFill>
            <a:prstDash val="solid"/>
          </a:ln>
        </p:spPr>
      </p:sp>
      <p:sp>
        <p:nvSpPr>
          <p:cNvPr id="18" name="badge-LuBrain"/>
          <p:cNvSpPr/>
          <p:nvPr/>
        </p:nvSpPr>
        <p:spPr>
          <a:xfrm>
            <a:off x="6547104" y="1783080"/>
            <a:ext cx="777240" cy="777240"/>
          </a:xfrm>
          <a:prstGeom prst="ellipse">
            <a:avLst/>
          </a:prstGeom>
          <a:solidFill>
            <a:schemeClr val="accent2"/>
          </a:solidFill>
          <a:ln w="12700">
            <a:solidFill>
              <a:schemeClr val="accent2"/>
            </a:solidFill>
            <a:prstDash val="solid"/>
          </a:ln>
        </p:spPr>
      </p:sp>
      <p:pic>
        <p:nvPicPr>
          <p:cNvPr id="19" name="icon-LuBrain" descr="LuBrain">    </p:cNvPr>
          <p:cNvPicPr>
            <a:picLocks noChangeAspect="1"/>
          </p:cNvPicPr>
          <p:nvPr/>
        </p:nvPicPr>
        <p:blipFill>
          <a:blip r:embed="rId3"/>
          <a:stretch>
            <a:fillRect/>
          </a:stretch>
        </p:blipFill>
        <p:spPr>
          <a:xfrm>
            <a:off x="6733642" y="1969618"/>
            <a:ext cx="404165" cy="404165"/>
          </a:xfrm>
          <a:prstGeom prst="rect">
            <a:avLst/>
          </a:prstGeom>
        </p:spPr>
      </p:pic>
      <p:sp>
        <p:nvSpPr>
          <p:cNvPr id="20" name="Text 15"/>
          <p:cNvSpPr txBox="1"/>
          <p:nvPr/>
        </p:nvSpPr>
        <p:spPr>
          <a:xfrm>
            <a:off x="7964424" y="1874520"/>
            <a:ext cx="640080" cy="457200"/>
          </a:xfrm>
          <a:prstGeom prst="rect">
            <a:avLst/>
          </a:prstGeom>
          <a:noFill/>
          <a:ln/>
        </p:spPr>
        <p:txBody>
          <a:bodyPr wrap="square" lIns="0" tIns="0" rIns="0" bIns="0" rtlCol="0" anchor="t"/>
          <a:lstStyle/>
          <a:p>
            <a:pPr algn="r" indent="0" marL="0">
              <a:buNone/>
            </a:pPr>
            <a:r>
              <a:rPr lang="en-US" sz="2000" b="1" dirty="0">
                <a:solidFill>
                  <a:srgbClr val="C5D3CE"/>
                </a:solidFill>
              </a:rPr>
              <a:t>03</a:t>
            </a:r>
            <a:endParaRPr lang="en-US" sz="2000" dirty="0"/>
          </a:p>
        </p:txBody>
      </p:sp>
      <p:sp>
        <p:nvSpPr>
          <p:cNvPr id="21" name="Text 16"/>
          <p:cNvSpPr txBox="1"/>
          <p:nvPr/>
        </p:nvSpPr>
        <p:spPr>
          <a:xfrm>
            <a:off x="6547104" y="2788920"/>
            <a:ext cx="2103120" cy="457200"/>
          </a:xfrm>
          <a:prstGeom prst="rect">
            <a:avLst/>
          </a:prstGeom>
          <a:noFill/>
          <a:ln/>
        </p:spPr>
        <p:txBody>
          <a:bodyPr wrap="square" lIns="0" tIns="0" rIns="0" bIns="0" rtlCol="0" anchor="t"/>
          <a:lstStyle/>
          <a:p>
            <a:pPr indent="0" marL="0">
              <a:buNone/>
            </a:pPr>
            <a:r>
              <a:rPr lang="en-US" sz="2000" b="1" dirty="0">
                <a:solidFill>
                  <a:schemeClr val="tx2"/>
                </a:solidFill>
              </a:rPr>
              <a:t>복습합니다</a:t>
            </a:r>
            <a:endParaRPr lang="en-US" sz="2000" dirty="0"/>
          </a:p>
        </p:txBody>
      </p:sp>
      <p:sp>
        <p:nvSpPr>
          <p:cNvPr id="22" name="Text 17"/>
          <p:cNvSpPr txBox="1"/>
          <p:nvPr/>
        </p:nvSpPr>
        <p:spPr>
          <a:xfrm>
            <a:off x="6547104" y="3310128"/>
            <a:ext cx="2057400" cy="1371600"/>
          </a:xfrm>
          <a:prstGeom prst="rect">
            <a:avLst/>
          </a:prstGeom>
          <a:noFill/>
          <a:ln/>
        </p:spPr>
        <p:txBody>
          <a:bodyPr wrap="square" lIns="0" tIns="0" rIns="0" bIns="0" rtlCol="0" anchor="t"/>
          <a:lstStyle/>
          <a:p>
            <a:pPr indent="0" marL="0">
              <a:buNone/>
            </a:pPr>
            <a:r>
              <a:rPr lang="en-US" sz="1400" dirty="0">
                <a:solidFill>
                  <a:schemeClr val="tx1"/>
                </a:solidFill>
              </a:rPr>
              <a:t>잊을 때쯤 내 코드로 퀴즈를 내고, 틀리면 되물어 한 번 더 풀게 합니다.</a:t>
            </a:r>
            <a:endParaRPr lang="en-US" sz="1400" dirty="0"/>
          </a:p>
        </p:txBody>
      </p:sp>
      <p:sp>
        <p:nvSpPr>
          <p:cNvPr id="23" name="arrow"/>
          <p:cNvSpPr/>
          <p:nvPr/>
        </p:nvSpPr>
        <p:spPr>
          <a:xfrm rot="5400000">
            <a:off x="8887968" y="3044952"/>
            <a:ext cx="201168" cy="219456"/>
          </a:xfrm>
          <a:prstGeom prst="triangle">
            <a:avLst/>
          </a:prstGeom>
          <a:solidFill>
            <a:srgbClr val="B9C7C2"/>
          </a:solidFill>
          <a:ln w="12700">
            <a:solidFill>
              <a:srgbClr val="B9C7C2"/>
            </a:solidFill>
            <a:prstDash val="solid"/>
          </a:ln>
        </p:spPr>
      </p:sp>
      <p:sp>
        <p:nvSpPr>
          <p:cNvPr id="24" name="outline"/>
          <p:cNvSpPr/>
          <p:nvPr/>
        </p:nvSpPr>
        <p:spPr>
          <a:xfrm>
            <a:off x="9134856" y="1463040"/>
            <a:ext cx="2560320" cy="3383280"/>
          </a:xfrm>
          <a:prstGeom prst="roundRect">
            <a:avLst>
              <a:gd name="adj" fmla="val 3571"/>
            </a:avLst>
          </a:prstGeom>
          <a:solidFill>
            <a:schemeClr val="bg1"/>
          </a:solidFill>
          <a:ln w="12700">
            <a:solidFill>
              <a:srgbClr val="D9E3DF"/>
            </a:solidFill>
            <a:prstDash val="solid"/>
          </a:ln>
        </p:spPr>
      </p:sp>
      <p:sp>
        <p:nvSpPr>
          <p:cNvPr id="25" name="badge-LuChartColumn"/>
          <p:cNvSpPr/>
          <p:nvPr/>
        </p:nvSpPr>
        <p:spPr>
          <a:xfrm>
            <a:off x="9409176" y="1783080"/>
            <a:ext cx="777240" cy="777240"/>
          </a:xfrm>
          <a:prstGeom prst="ellipse">
            <a:avLst/>
          </a:prstGeom>
          <a:solidFill>
            <a:schemeClr val="accent5"/>
          </a:solidFill>
          <a:ln w="12700">
            <a:solidFill>
              <a:schemeClr val="accent5"/>
            </a:solidFill>
            <a:prstDash val="solid"/>
          </a:ln>
        </p:spPr>
      </p:sp>
      <p:pic>
        <p:nvPicPr>
          <p:cNvPr id="26" name="icon-LuChartColumn" descr="LuChartColumn">    </p:cNvPr>
          <p:cNvPicPr>
            <a:picLocks noChangeAspect="1"/>
          </p:cNvPicPr>
          <p:nvPr/>
        </p:nvPicPr>
        <p:blipFill>
          <a:blip r:embed="rId4"/>
          <a:stretch>
            <a:fillRect/>
          </a:stretch>
        </p:blipFill>
        <p:spPr>
          <a:xfrm>
            <a:off x="9595714" y="1969618"/>
            <a:ext cx="404165" cy="404165"/>
          </a:xfrm>
          <a:prstGeom prst="rect">
            <a:avLst/>
          </a:prstGeom>
        </p:spPr>
      </p:pic>
      <p:sp>
        <p:nvSpPr>
          <p:cNvPr id="27" name="Text 21"/>
          <p:cNvSpPr txBox="1"/>
          <p:nvPr/>
        </p:nvSpPr>
        <p:spPr>
          <a:xfrm>
            <a:off x="10826496" y="1874520"/>
            <a:ext cx="640080" cy="457200"/>
          </a:xfrm>
          <a:prstGeom prst="rect">
            <a:avLst/>
          </a:prstGeom>
          <a:noFill/>
          <a:ln/>
        </p:spPr>
        <p:txBody>
          <a:bodyPr wrap="square" lIns="0" tIns="0" rIns="0" bIns="0" rtlCol="0" anchor="t"/>
          <a:lstStyle/>
          <a:p>
            <a:pPr algn="r" indent="0" marL="0">
              <a:buNone/>
            </a:pPr>
            <a:r>
              <a:rPr lang="en-US" sz="2000" b="1" dirty="0">
                <a:solidFill>
                  <a:srgbClr val="C5D3CE"/>
                </a:solidFill>
              </a:rPr>
              <a:t>04</a:t>
            </a:r>
            <a:endParaRPr lang="en-US" sz="2000" dirty="0"/>
          </a:p>
        </p:txBody>
      </p:sp>
      <p:sp>
        <p:nvSpPr>
          <p:cNvPr id="28" name="Text 22"/>
          <p:cNvSpPr txBox="1"/>
          <p:nvPr/>
        </p:nvSpPr>
        <p:spPr>
          <a:xfrm>
            <a:off x="9409176" y="2788920"/>
            <a:ext cx="2103120" cy="457200"/>
          </a:xfrm>
          <a:prstGeom prst="rect">
            <a:avLst/>
          </a:prstGeom>
          <a:noFill/>
          <a:ln/>
        </p:spPr>
        <p:txBody>
          <a:bodyPr wrap="square" lIns="0" tIns="0" rIns="0" bIns="0" rtlCol="0" anchor="t"/>
          <a:lstStyle/>
          <a:p>
            <a:pPr indent="0" marL="0">
              <a:buNone/>
            </a:pPr>
            <a:r>
              <a:rPr lang="en-US" sz="2000" b="1" dirty="0">
                <a:solidFill>
                  <a:schemeClr val="tx2"/>
                </a:solidFill>
              </a:rPr>
              <a:t>쌓입니다</a:t>
            </a:r>
            <a:endParaRPr lang="en-US" sz="2000" dirty="0"/>
          </a:p>
        </p:txBody>
      </p:sp>
      <p:sp>
        <p:nvSpPr>
          <p:cNvPr id="29" name="Text 23"/>
          <p:cNvSpPr txBox="1"/>
          <p:nvPr/>
        </p:nvSpPr>
        <p:spPr>
          <a:xfrm>
            <a:off x="9409176" y="3310128"/>
            <a:ext cx="2057400" cy="1371600"/>
          </a:xfrm>
          <a:prstGeom prst="rect">
            <a:avLst/>
          </a:prstGeom>
          <a:noFill/>
          <a:ln/>
        </p:spPr>
        <p:txBody>
          <a:bodyPr wrap="square" lIns="0" tIns="0" rIns="0" bIns="0" rtlCol="0" anchor="t"/>
          <a:lstStyle/>
          <a:p>
            <a:pPr indent="0" marL="0">
              <a:buNone/>
            </a:pPr>
            <a:r>
              <a:rPr lang="en-US" sz="1400" dirty="0">
                <a:solidFill>
                  <a:schemeClr val="tx1"/>
                </a:solidFill>
              </a:rPr>
              <a:t>일지·개념 모음·연속 학습일로 성장이 눈에 보입니다.</a:t>
            </a:r>
            <a:endParaRPr lang="en-US" sz="1400" dirty="0"/>
          </a:p>
        </p:txBody>
      </p:sp>
      <p:sp>
        <p:nvSpPr>
          <p:cNvPr id="30" name="card"/>
          <p:cNvSpPr/>
          <p:nvPr/>
        </p:nvSpPr>
        <p:spPr>
          <a:xfrm>
            <a:off x="548640" y="5166360"/>
            <a:ext cx="11091672" cy="868680"/>
          </a:xfrm>
          <a:prstGeom prst="roundRect">
            <a:avLst>
              <a:gd name="adj" fmla="val 10526"/>
            </a:avLst>
          </a:prstGeom>
          <a:solidFill>
            <a:schemeClr val="bg2"/>
          </a:solidFill>
          <a:ln w="9525">
            <a:solidFill>
              <a:schemeClr val="bg2"/>
            </a:solidFill>
            <a:prstDash val="solid"/>
          </a:ln>
        </p:spPr>
      </p:sp>
      <p:sp>
        <p:nvSpPr>
          <p:cNvPr id="31" name="badge-LuSparkles"/>
          <p:cNvSpPr/>
          <p:nvPr/>
        </p:nvSpPr>
        <p:spPr>
          <a:xfrm>
            <a:off x="777240" y="5303520"/>
            <a:ext cx="594360" cy="594360"/>
          </a:xfrm>
          <a:prstGeom prst="ellipse">
            <a:avLst/>
          </a:prstGeom>
          <a:solidFill>
            <a:schemeClr val="accent1"/>
          </a:solidFill>
          <a:ln w="12700">
            <a:solidFill>
              <a:schemeClr val="accent1"/>
            </a:solidFill>
            <a:prstDash val="solid"/>
          </a:ln>
        </p:spPr>
      </p:sp>
      <p:pic>
        <p:nvPicPr>
          <p:cNvPr id="32" name="icon-LuSparkles" descr="LuSparkles">    </p:cNvPr>
          <p:cNvPicPr>
            <a:picLocks noChangeAspect="1"/>
          </p:cNvPicPr>
          <p:nvPr/>
        </p:nvPicPr>
        <p:blipFill>
          <a:blip r:embed="rId5"/>
          <a:stretch>
            <a:fillRect/>
          </a:stretch>
        </p:blipFill>
        <p:spPr>
          <a:xfrm>
            <a:off x="919886" y="5446166"/>
            <a:ext cx="309067" cy="309067"/>
          </a:xfrm>
          <a:prstGeom prst="rect">
            <a:avLst/>
          </a:prstGeom>
        </p:spPr>
      </p:pic>
      <p:sp>
        <p:nvSpPr>
          <p:cNvPr id="33" name="Text 26"/>
          <p:cNvSpPr txBox="1"/>
          <p:nvPr/>
        </p:nvSpPr>
        <p:spPr>
          <a:xfrm>
            <a:off x="1600200" y="5166360"/>
            <a:ext cx="9875520" cy="868680"/>
          </a:xfrm>
          <a:prstGeom prst="rect">
            <a:avLst/>
          </a:prstGeom>
          <a:noFill/>
          <a:ln/>
        </p:spPr>
        <p:txBody>
          <a:bodyPr wrap="square" lIns="0" tIns="0" rIns="0" bIns="0" rtlCol="0" anchor="ctr"/>
          <a:lstStyle/>
          <a:p>
            <a:pPr indent="0" marL="0">
              <a:buNone/>
            </a:pPr>
            <a:r>
              <a:rPr lang="en-US" sz="1700" b="1" dirty="0">
                <a:solidFill>
                  <a:schemeClr val="tx2"/>
                </a:solidFill>
              </a:rPr>
              <a:t>평소처럼 코딩만 요청하세요. 따로 공부 시간을 내지 않아도, 노트와 복습이 저절로 쌓입니다.</a:t>
            </a:r>
            <a:endParaRPr lang="en-US" sz="17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3657600" cy="1005840"/>
          </a:xfrm>
          <a:prstGeom prst="rect">
            <a:avLst/>
          </a:prstGeom>
          <a:noFill/>
          <a:ln/>
        </p:spPr>
        <p:txBody>
          <a:bodyPr wrap="square" lIns="0" tIns="0" rIns="0" bIns="0" rtlCol="0" anchor="t"/>
          <a:lstStyle/>
          <a:p>
            <a:pPr algn="l" indent="0" marL="0">
              <a:buNone/>
            </a:pPr>
            <a:r>
              <a:rPr lang="en-US" sz="6000" b="1" dirty="0">
                <a:solidFill>
                  <a:schemeClr val="accent6"/>
                </a:solidFill>
              </a:rPr>
              <a:t>01</a:t>
            </a:r>
            <a:endParaRPr lang="en-US" sz="6000" dirty="0"/>
          </a:p>
        </p:txBody>
      </p:sp>
      <p:sp>
        <p:nvSpPr>
          <p:cNvPr id="3" name="Text 0"/>
          <p:cNvSpPr/>
          <p:nvPr>
            <p:ph idx="101" type="title" hasCustomPrompt="1"/>
          </p:nvPr>
        </p:nvSpPr>
        <p:spPr>
          <a:xfrm>
            <a:off x="640080" y="2743200"/>
            <a:ext cx="10515600" cy="1005840"/>
          </a:xfrm>
          <a:prstGeom prst="rect">
            <a:avLst/>
          </a:prstGeom>
          <a:noFill/>
          <a:ln/>
        </p:spPr>
        <p:txBody>
          <a:bodyPr wrap="square" lIns="0" tIns="0" rIns="0" bIns="0" rtlCol="0" anchor="t"/>
          <a:lstStyle/>
          <a:p>
            <a:pPr algn="l" indent="0" marL="0">
              <a:buNone/>
            </a:pPr>
            <a:r>
              <a:rPr lang="en-US" sz="4000" b="1" dirty="0">
                <a:solidFill>
                  <a:schemeClr val="bg1"/>
                </a:solidFill>
              </a:rPr>
              <a:t>모드(MOD)란?</a:t>
            </a:r>
            <a:endParaRPr lang="en-US" sz="4000" dirty="0"/>
          </a:p>
        </p:txBody>
      </p:sp>
      <p:sp>
        <p:nvSpPr>
          <p:cNvPr id="4" name="Text 0"/>
          <p:cNvSpPr/>
          <p:nvPr>
            <p:ph idx="102" type="body" hasCustomPrompt="1"/>
          </p:nvPr>
        </p:nvSpPr>
        <p:spPr>
          <a:xfrm>
            <a:off x="640080" y="3886200"/>
            <a:ext cx="10058400" cy="822960"/>
          </a:xfrm>
          <a:prstGeom prst="rect">
            <a:avLst/>
          </a:prstGeom>
          <a:noFill/>
          <a:ln/>
        </p:spPr>
        <p:txBody>
          <a:bodyPr wrap="square" lIns="0" tIns="0" rIns="0" bIns="0" rtlCol="0" anchor="t"/>
          <a:lstStyle/>
          <a:p>
            <a:pPr algn="l" indent="0" marL="0">
              <a:buNone/>
            </a:pPr>
            <a:r>
              <a:rPr lang="en-US" sz="1800" dirty="0">
                <a:solidFill>
                  <a:schemeClr val="accent6"/>
                </a:solidFill>
              </a:rPr>
              <a:t>Claude Code에 끼우는 작은 확장, 그리고 그것이 동작하는 방식</a:t>
            </a:r>
            <a:endParaRPr lang="en-US" sz="1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Claude Code와 모드</a:t>
            </a:r>
            <a:endParaRPr lang="en-US" sz="3000" dirty="0"/>
          </a:p>
        </p:txBody>
      </p:sp>
      <p:sp>
        <p:nvSpPr>
          <p:cNvPr id="3" name="card"/>
          <p:cNvSpPr/>
          <p:nvPr/>
        </p:nvSpPr>
        <p:spPr>
          <a:xfrm>
            <a:off x="548640" y="1417320"/>
            <a:ext cx="5394960" cy="3429000"/>
          </a:xfrm>
          <a:prstGeom prst="roundRect">
            <a:avLst>
              <a:gd name="adj" fmla="val 2667"/>
            </a:avLst>
          </a:prstGeom>
          <a:solidFill>
            <a:schemeClr val="bg2"/>
          </a:solidFill>
          <a:ln w="9525">
            <a:solidFill>
              <a:schemeClr val="bg2"/>
            </a:solidFill>
            <a:prstDash val="solid"/>
          </a:ln>
        </p:spPr>
      </p:sp>
      <p:sp>
        <p:nvSpPr>
          <p:cNvPr id="4" name="badge-LuTerminal"/>
          <p:cNvSpPr/>
          <p:nvPr/>
        </p:nvSpPr>
        <p:spPr>
          <a:xfrm>
            <a:off x="868680" y="1737360"/>
            <a:ext cx="777240" cy="777240"/>
          </a:xfrm>
          <a:prstGeom prst="ellipse">
            <a:avLst/>
          </a:prstGeom>
          <a:solidFill>
            <a:schemeClr val="tx2"/>
          </a:solidFill>
          <a:ln w="12700">
            <a:solidFill>
              <a:schemeClr val="tx2"/>
            </a:solidFill>
            <a:prstDash val="solid"/>
          </a:ln>
        </p:spPr>
      </p:sp>
      <p:pic>
        <p:nvPicPr>
          <p:cNvPr id="5" name="icon-LuTerminal" descr="LuTerminal">    </p:cNvPr>
          <p:cNvPicPr>
            <a:picLocks noChangeAspect="1"/>
          </p:cNvPicPr>
          <p:nvPr/>
        </p:nvPicPr>
        <p:blipFill>
          <a:blip r:embed="rId1"/>
          <a:stretch>
            <a:fillRect/>
          </a:stretch>
        </p:blipFill>
        <p:spPr>
          <a:xfrm>
            <a:off x="1055218" y="1923898"/>
            <a:ext cx="404165" cy="404165"/>
          </a:xfrm>
          <a:prstGeom prst="rect">
            <a:avLst/>
          </a:prstGeom>
        </p:spPr>
      </p:pic>
      <p:sp>
        <p:nvSpPr>
          <p:cNvPr id="6" name="Text 3"/>
          <p:cNvSpPr txBox="1"/>
          <p:nvPr/>
        </p:nvSpPr>
        <p:spPr>
          <a:xfrm>
            <a:off x="868680" y="2697480"/>
            <a:ext cx="4572000" cy="457200"/>
          </a:xfrm>
          <a:prstGeom prst="rect">
            <a:avLst/>
          </a:prstGeom>
          <a:noFill/>
          <a:ln/>
        </p:spPr>
        <p:txBody>
          <a:bodyPr wrap="square" lIns="0" tIns="0" rIns="0" bIns="0" rtlCol="0" anchor="t"/>
          <a:lstStyle/>
          <a:p>
            <a:pPr indent="0" marL="0">
              <a:buNone/>
            </a:pPr>
            <a:r>
              <a:rPr lang="en-US" sz="2200" b="1" dirty="0">
                <a:solidFill>
                  <a:schemeClr val="tx2"/>
                </a:solidFill>
              </a:rPr>
              <a:t>Claude Code</a:t>
            </a:r>
            <a:endParaRPr lang="en-US" sz="2200" dirty="0"/>
          </a:p>
        </p:txBody>
      </p:sp>
      <p:sp>
        <p:nvSpPr>
          <p:cNvPr id="7" name="Text 4"/>
          <p:cNvSpPr txBox="1"/>
          <p:nvPr/>
        </p:nvSpPr>
        <p:spPr>
          <a:xfrm>
            <a:off x="868680" y="3200400"/>
            <a:ext cx="4800600" cy="1005840"/>
          </a:xfrm>
          <a:prstGeom prst="rect">
            <a:avLst/>
          </a:prstGeom>
          <a:noFill/>
          <a:ln/>
        </p:spPr>
        <p:txBody>
          <a:bodyPr wrap="square" lIns="0" tIns="0" rIns="0" bIns="0" rtlCol="0" anchor="t"/>
          <a:lstStyle/>
          <a:p>
            <a:pPr indent="0" marL="0">
              <a:buNone/>
            </a:pPr>
            <a:r>
              <a:rPr lang="en-US" sz="1500" dirty="0">
                <a:solidFill>
                  <a:schemeClr val="tx1"/>
                </a:solidFill>
              </a:rPr>
              <a:t>Anthropic의 AI 코딩 도우미입니다. 터미널이나 데스크톱 앱에서 대화하면 Claude가 파일을 읽고, 코드를 고치고, 명령을 실행합니다.</a:t>
            </a:r>
            <a:endParaRPr lang="en-US" sz="1500" dirty="0"/>
          </a:p>
        </p:txBody>
      </p:sp>
      <p:sp>
        <p:nvSpPr>
          <p:cNvPr id="8" name="Text 5"/>
          <p:cNvSpPr txBox="1"/>
          <p:nvPr/>
        </p:nvSpPr>
        <p:spPr>
          <a:xfrm>
            <a:off x="868680" y="4206240"/>
            <a:ext cx="4800600" cy="548640"/>
          </a:xfrm>
          <a:prstGeom prst="rect">
            <a:avLst/>
          </a:prstGeom>
          <a:noFill/>
          <a:ln/>
        </p:spPr>
        <p:txBody>
          <a:bodyPr wrap="square" lIns="0" tIns="0" rIns="0" bIns="0" rtlCol="0" anchor="t"/>
          <a:lstStyle/>
          <a:p>
            <a:pPr indent="0" marL="0">
              <a:buNone/>
            </a:pPr>
            <a:r>
              <a:rPr lang="en-US" sz="1300" dirty="0">
                <a:solidFill>
                  <a:srgbClr val="5A6B70"/>
                </a:solidFill>
              </a:rPr>
              <a:t>요청을 보내고 Claude가 일을 마치기까지를 "턴(turn)" 하나라고 부릅니다.</a:t>
            </a:r>
            <a:endParaRPr lang="en-US" sz="1300" dirty="0"/>
          </a:p>
        </p:txBody>
      </p:sp>
      <p:sp>
        <p:nvSpPr>
          <p:cNvPr id="9" name="card"/>
          <p:cNvSpPr/>
          <p:nvPr/>
        </p:nvSpPr>
        <p:spPr>
          <a:xfrm>
            <a:off x="6245352" y="1417320"/>
            <a:ext cx="5394960" cy="3429000"/>
          </a:xfrm>
          <a:prstGeom prst="roundRect">
            <a:avLst>
              <a:gd name="adj" fmla="val 2667"/>
            </a:avLst>
          </a:prstGeom>
          <a:solidFill>
            <a:schemeClr val="bg2"/>
          </a:solidFill>
          <a:ln w="9525">
            <a:solidFill>
              <a:schemeClr val="bg2"/>
            </a:solidFill>
            <a:prstDash val="solid"/>
          </a:ln>
        </p:spPr>
      </p:sp>
      <p:sp>
        <p:nvSpPr>
          <p:cNvPr id="10" name="badge-LuPuzzle"/>
          <p:cNvSpPr/>
          <p:nvPr/>
        </p:nvSpPr>
        <p:spPr>
          <a:xfrm>
            <a:off x="6565392" y="1737360"/>
            <a:ext cx="777240" cy="777240"/>
          </a:xfrm>
          <a:prstGeom prst="ellipse">
            <a:avLst/>
          </a:prstGeom>
          <a:solidFill>
            <a:schemeClr val="accent1"/>
          </a:solidFill>
          <a:ln w="12700">
            <a:solidFill>
              <a:schemeClr val="accent1"/>
            </a:solidFill>
            <a:prstDash val="solid"/>
          </a:ln>
        </p:spPr>
      </p:sp>
      <p:pic>
        <p:nvPicPr>
          <p:cNvPr id="11" name="icon-LuPuzzle" descr="LuPuzzle">    </p:cNvPr>
          <p:cNvPicPr>
            <a:picLocks noChangeAspect="1"/>
          </p:cNvPicPr>
          <p:nvPr/>
        </p:nvPicPr>
        <p:blipFill>
          <a:blip r:embed="rId2"/>
          <a:stretch>
            <a:fillRect/>
          </a:stretch>
        </p:blipFill>
        <p:spPr>
          <a:xfrm>
            <a:off x="6751930" y="1923898"/>
            <a:ext cx="404165" cy="404165"/>
          </a:xfrm>
          <a:prstGeom prst="rect">
            <a:avLst/>
          </a:prstGeom>
        </p:spPr>
      </p:pic>
      <p:sp>
        <p:nvSpPr>
          <p:cNvPr id="12" name="Text 8"/>
          <p:cNvSpPr txBox="1"/>
          <p:nvPr/>
        </p:nvSpPr>
        <p:spPr>
          <a:xfrm>
            <a:off x="6565392" y="2697480"/>
            <a:ext cx="4572000" cy="457200"/>
          </a:xfrm>
          <a:prstGeom prst="rect">
            <a:avLst/>
          </a:prstGeom>
          <a:noFill/>
          <a:ln/>
        </p:spPr>
        <p:txBody>
          <a:bodyPr wrap="square" lIns="0" tIns="0" rIns="0" bIns="0" rtlCol="0" anchor="t"/>
          <a:lstStyle/>
          <a:p>
            <a:pPr indent="0" marL="0">
              <a:buNone/>
            </a:pPr>
            <a:r>
              <a:rPr lang="en-US" sz="2200" b="1" dirty="0">
                <a:solidFill>
                  <a:schemeClr val="tx2"/>
                </a:solidFill>
              </a:rPr>
              <a:t>모드 (MOD)</a:t>
            </a:r>
            <a:endParaRPr lang="en-US" sz="2200" dirty="0"/>
          </a:p>
        </p:txBody>
      </p:sp>
      <p:sp>
        <p:nvSpPr>
          <p:cNvPr id="13" name="Text 9"/>
          <p:cNvSpPr txBox="1"/>
          <p:nvPr/>
        </p:nvSpPr>
        <p:spPr>
          <a:xfrm>
            <a:off x="6565392" y="3200400"/>
            <a:ext cx="4800600" cy="1005840"/>
          </a:xfrm>
          <a:prstGeom prst="rect">
            <a:avLst/>
          </a:prstGeom>
          <a:noFill/>
          <a:ln/>
        </p:spPr>
        <p:txBody>
          <a:bodyPr wrap="square" lIns="0" tIns="0" rIns="0" bIns="0" rtlCol="0" anchor="t"/>
          <a:lstStyle/>
          <a:p>
            <a:pPr indent="0" marL="0">
              <a:buNone/>
            </a:pPr>
            <a:r>
              <a:rPr lang="en-US" sz="1500" dirty="0">
                <a:solidFill>
                  <a:schemeClr val="tx1"/>
                </a:solidFill>
              </a:rPr>
              <a:t>Claude Code에 끼우는 작은 확장입니다. 원래 프로그램은 그대로 두고, 그 위에 새 화면과 동작을 얹습니다.</a:t>
            </a:r>
            <a:endParaRPr lang="en-US" sz="1500" dirty="0"/>
          </a:p>
        </p:txBody>
      </p:sp>
      <p:sp>
        <p:nvSpPr>
          <p:cNvPr id="14" name="badge-LuSmartphone"/>
          <p:cNvSpPr/>
          <p:nvPr/>
        </p:nvSpPr>
        <p:spPr>
          <a:xfrm>
            <a:off x="6565392" y="4206240"/>
            <a:ext cx="457200" cy="457200"/>
          </a:xfrm>
          <a:prstGeom prst="ellipse">
            <a:avLst/>
          </a:prstGeom>
          <a:solidFill>
            <a:schemeClr val="accent3"/>
          </a:solidFill>
          <a:ln w="12700">
            <a:solidFill>
              <a:schemeClr val="accent3"/>
            </a:solidFill>
            <a:prstDash val="solid"/>
          </a:ln>
        </p:spPr>
      </p:sp>
      <p:pic>
        <p:nvPicPr>
          <p:cNvPr id="15" name="icon-LuSmartphone" descr="LuSmartphone">    </p:cNvPr>
          <p:cNvPicPr>
            <a:picLocks noChangeAspect="1"/>
          </p:cNvPicPr>
          <p:nvPr/>
        </p:nvPicPr>
        <p:blipFill>
          <a:blip r:embed="rId3"/>
          <a:stretch>
            <a:fillRect/>
          </a:stretch>
        </p:blipFill>
        <p:spPr>
          <a:xfrm>
            <a:off x="6675120" y="4315968"/>
            <a:ext cx="237744" cy="237744"/>
          </a:xfrm>
          <a:prstGeom prst="rect">
            <a:avLst/>
          </a:prstGeom>
        </p:spPr>
      </p:pic>
      <p:sp>
        <p:nvSpPr>
          <p:cNvPr id="16" name="Text 11"/>
          <p:cNvSpPr txBox="1"/>
          <p:nvPr/>
        </p:nvSpPr>
        <p:spPr>
          <a:xfrm>
            <a:off x="7114032" y="4206240"/>
            <a:ext cx="2011680" cy="457200"/>
          </a:xfrm>
          <a:prstGeom prst="rect">
            <a:avLst/>
          </a:prstGeom>
          <a:noFill/>
          <a:ln/>
        </p:spPr>
        <p:txBody>
          <a:bodyPr wrap="square" lIns="0" tIns="0" rIns="0" bIns="0" rtlCol="0" anchor="ctr"/>
          <a:lstStyle/>
          <a:p>
            <a:pPr indent="0" marL="0">
              <a:buNone/>
            </a:pPr>
            <a:r>
              <a:rPr lang="en-US" sz="1300" dirty="0">
                <a:solidFill>
                  <a:srgbClr val="5A6B70"/>
                </a:solidFill>
              </a:rPr>
              <a:t>스마트폰에 앱을 깔듯</a:t>
            </a:r>
            <a:endParaRPr lang="en-US" sz="1300" dirty="0"/>
          </a:p>
        </p:txBody>
      </p:sp>
      <p:sp>
        <p:nvSpPr>
          <p:cNvPr id="17" name="badge-LuGamepad2"/>
          <p:cNvSpPr/>
          <p:nvPr/>
        </p:nvSpPr>
        <p:spPr>
          <a:xfrm>
            <a:off x="9098280" y="4206240"/>
            <a:ext cx="457200" cy="457200"/>
          </a:xfrm>
          <a:prstGeom prst="ellipse">
            <a:avLst/>
          </a:prstGeom>
          <a:solidFill>
            <a:schemeClr val="accent5"/>
          </a:solidFill>
          <a:ln w="12700">
            <a:solidFill>
              <a:schemeClr val="accent5"/>
            </a:solidFill>
            <a:prstDash val="solid"/>
          </a:ln>
        </p:spPr>
      </p:sp>
      <p:pic>
        <p:nvPicPr>
          <p:cNvPr id="18" name="icon-LuGamepad2" descr="LuGamepad2">    </p:cNvPr>
          <p:cNvPicPr>
            <a:picLocks noChangeAspect="1"/>
          </p:cNvPicPr>
          <p:nvPr/>
        </p:nvPicPr>
        <p:blipFill>
          <a:blip r:embed="rId4"/>
          <a:stretch>
            <a:fillRect/>
          </a:stretch>
        </p:blipFill>
        <p:spPr>
          <a:xfrm>
            <a:off x="9208008" y="4315968"/>
            <a:ext cx="237744" cy="237744"/>
          </a:xfrm>
          <a:prstGeom prst="rect">
            <a:avLst/>
          </a:prstGeom>
        </p:spPr>
      </p:pic>
      <p:sp>
        <p:nvSpPr>
          <p:cNvPr id="19" name="Text 13"/>
          <p:cNvSpPr txBox="1"/>
          <p:nvPr/>
        </p:nvSpPr>
        <p:spPr>
          <a:xfrm>
            <a:off x="9646920" y="4206240"/>
            <a:ext cx="1828800" cy="457200"/>
          </a:xfrm>
          <a:prstGeom prst="rect">
            <a:avLst/>
          </a:prstGeom>
          <a:noFill/>
          <a:ln/>
        </p:spPr>
        <p:txBody>
          <a:bodyPr wrap="square" lIns="0" tIns="0" rIns="0" bIns="0" rtlCol="0" anchor="ctr"/>
          <a:lstStyle/>
          <a:p>
            <a:pPr indent="0" marL="0">
              <a:buNone/>
            </a:pPr>
            <a:r>
              <a:rPr lang="en-US" sz="1300" dirty="0">
                <a:solidFill>
                  <a:srgbClr val="5A6B70"/>
                </a:solidFill>
              </a:rPr>
              <a:t>게임에 모드를 얹듯</a:t>
            </a:r>
            <a:endParaRPr lang="en-US" sz="1300" dirty="0"/>
          </a:p>
        </p:txBody>
      </p:sp>
      <p:sp>
        <p:nvSpPr>
          <p:cNvPr id="20" name="equation"/>
          <p:cNvSpPr/>
          <p:nvPr/>
        </p:nvSpPr>
        <p:spPr>
          <a:xfrm>
            <a:off x="548640" y="5120640"/>
            <a:ext cx="11091672" cy="914400"/>
          </a:xfrm>
          <a:prstGeom prst="roundRect">
            <a:avLst>
              <a:gd name="adj" fmla="val 10000"/>
            </a:avLst>
          </a:prstGeom>
          <a:solidFill>
            <a:schemeClr val="tx2"/>
          </a:solidFill>
          <a:ln w="12700">
            <a:solidFill>
              <a:schemeClr val="tx2"/>
            </a:solidFill>
            <a:prstDash val="solid"/>
          </a:ln>
        </p:spPr>
      </p:sp>
      <p:sp>
        <p:nvSpPr>
          <p:cNvPr id="21" name="Text 15"/>
          <p:cNvSpPr txBox="1"/>
          <p:nvPr/>
        </p:nvSpPr>
        <p:spPr>
          <a:xfrm>
            <a:off x="868680" y="5120640"/>
            <a:ext cx="10515600" cy="914400"/>
          </a:xfrm>
          <a:prstGeom prst="rect">
            <a:avLst/>
          </a:prstGeom>
          <a:noFill/>
          <a:ln/>
        </p:spPr>
        <p:txBody>
          <a:bodyPr wrap="square" lIns="0" tIns="0" rIns="0" bIns="0" rtlCol="0" anchor="ctr"/>
          <a:lstStyle/>
          <a:p>
            <a:pPr indent="0" marL="0">
              <a:buNone/>
            </a:pPr>
            <a:r>
              <a:rPr lang="en-US" sz="1900" b="1" dirty="0">
                <a:solidFill>
                  <a:schemeClr val="bg1"/>
                </a:solidFill>
              </a:rPr>
              <a:t>Claude Code</a:t>
            </a:r>
            <a:r>
              <a:rPr lang="en-US" sz="1900" dirty="0">
                <a:solidFill>
                  <a:schemeClr val="accent6"/>
                </a:solidFill>
              </a:rPr>
              <a:t>  +  </a:t>
            </a:r>
            <a:r>
              <a:rPr lang="en-US" sz="1900" b="1" dirty="0">
                <a:solidFill>
                  <a:schemeClr val="accent6"/>
                </a:solidFill>
              </a:rPr>
              <a:t>learn-notes 모드</a:t>
            </a:r>
            <a:r>
              <a:rPr lang="en-US" sz="1900" dirty="0">
                <a:solidFill>
                  <a:schemeClr val="accent6"/>
                </a:solidFill>
              </a:rPr>
              <a:t>  =  </a:t>
            </a:r>
            <a:r>
              <a:rPr lang="en-US" sz="1900" b="1" dirty="0">
                <a:solidFill>
                  <a:schemeClr val="bg1"/>
                </a:solidFill>
              </a:rPr>
              <a:t>학습 노트 패널 · /learn 명령 · 복습 알림</a:t>
            </a:r>
            <a:endParaRPr lang="en-US" sz="19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알아 두면 좋은 용어</a:t>
            </a:r>
            <a:endParaRPr lang="en-US" sz="3000" dirty="0"/>
          </a:p>
        </p:txBody>
      </p:sp>
      <p:sp>
        <p:nvSpPr>
          <p:cNvPr id="3" name="marketplace"/>
          <p:cNvSpPr/>
          <p:nvPr/>
        </p:nvSpPr>
        <p:spPr>
          <a:xfrm>
            <a:off x="548640" y="1417320"/>
            <a:ext cx="5760720" cy="4617720"/>
          </a:xfrm>
          <a:prstGeom prst="roundRect">
            <a:avLst>
              <a:gd name="adj" fmla="val 1980"/>
            </a:avLst>
          </a:prstGeom>
          <a:solidFill>
            <a:schemeClr val="bg2"/>
          </a:solidFill>
          <a:ln w="9525">
            <a:solidFill>
              <a:schemeClr val="bg2"/>
            </a:solidFill>
            <a:prstDash val="solid"/>
          </a:ln>
        </p:spPr>
      </p:sp>
      <p:sp>
        <p:nvSpPr>
          <p:cNvPr id="4" name="Text 2"/>
          <p:cNvSpPr txBox="1"/>
          <p:nvPr/>
        </p:nvSpPr>
        <p:spPr>
          <a:xfrm>
            <a:off x="822960" y="1600200"/>
            <a:ext cx="2743200" cy="411480"/>
          </a:xfrm>
          <a:prstGeom prst="rect">
            <a:avLst/>
          </a:prstGeom>
          <a:noFill/>
          <a:ln/>
        </p:spPr>
        <p:txBody>
          <a:bodyPr wrap="square" lIns="0" tIns="0" rIns="0" bIns="0" rtlCol="0" anchor="t"/>
          <a:lstStyle/>
          <a:p>
            <a:pPr indent="0" marL="0">
              <a:buNone/>
            </a:pPr>
            <a:r>
              <a:rPr lang="en-US" sz="1800" b="1" dirty="0">
                <a:solidFill>
                  <a:schemeClr val="tx2"/>
                </a:solidFill>
              </a:rPr>
              <a:t>마켓플레이스</a:t>
            </a:r>
            <a:endParaRPr lang="en-US" sz="1800" dirty="0"/>
          </a:p>
        </p:txBody>
      </p:sp>
      <p:sp>
        <p:nvSpPr>
          <p:cNvPr id="5" name="Text 3"/>
          <p:cNvSpPr txBox="1"/>
          <p:nvPr/>
        </p:nvSpPr>
        <p:spPr>
          <a:xfrm>
            <a:off x="822960" y="2011680"/>
            <a:ext cx="5303520" cy="320040"/>
          </a:xfrm>
          <a:prstGeom prst="rect">
            <a:avLst/>
          </a:prstGeom>
          <a:noFill/>
          <a:ln/>
        </p:spPr>
        <p:txBody>
          <a:bodyPr wrap="square" lIns="0" tIns="0" rIns="0" bIns="0" rtlCol="0" anchor="t"/>
          <a:lstStyle/>
          <a:p>
            <a:pPr indent="0" marL="0">
              <a:buNone/>
            </a:pPr>
            <a:r>
              <a:rPr lang="en-US" sz="1300" dirty="0">
                <a:solidFill>
                  <a:srgbClr val="5A6B70"/>
                </a:solidFill>
              </a:rPr>
              <a:t>모드를 나눠 주는 목록 · 보통 GitHub 저장소</a:t>
            </a:r>
            <a:endParaRPr lang="en-US" sz="1300" dirty="0"/>
          </a:p>
        </p:txBody>
      </p:sp>
      <p:sp>
        <p:nvSpPr>
          <p:cNvPr id="6" name="Text 4"/>
          <p:cNvSpPr txBox="1"/>
          <p:nvPr/>
        </p:nvSpPr>
        <p:spPr>
          <a:xfrm>
            <a:off x="822960" y="2331720"/>
            <a:ext cx="530352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Owen-YC/learn-notes</a:t>
            </a:r>
            <a:endParaRPr lang="en-US" sz="1300" dirty="0"/>
          </a:p>
        </p:txBody>
      </p:sp>
      <p:sp>
        <p:nvSpPr>
          <p:cNvPr id="7" name="plugin"/>
          <p:cNvSpPr/>
          <p:nvPr/>
        </p:nvSpPr>
        <p:spPr>
          <a:xfrm>
            <a:off x="914400" y="2788920"/>
            <a:ext cx="5074920" cy="3017520"/>
          </a:xfrm>
          <a:prstGeom prst="roundRect">
            <a:avLst>
              <a:gd name="adj" fmla="val 3030"/>
            </a:avLst>
          </a:prstGeom>
          <a:solidFill>
            <a:schemeClr val="bg1"/>
          </a:solidFill>
          <a:ln w="12700">
            <a:solidFill>
              <a:srgbClr val="2E8B6E"/>
            </a:solidFill>
            <a:prstDash val="solid"/>
          </a:ln>
        </p:spPr>
      </p:sp>
      <p:sp>
        <p:nvSpPr>
          <p:cNvPr id="8" name="Text 6"/>
          <p:cNvSpPr txBox="1"/>
          <p:nvPr/>
        </p:nvSpPr>
        <p:spPr>
          <a:xfrm>
            <a:off x="1188720" y="2926080"/>
            <a:ext cx="2743200" cy="411480"/>
          </a:xfrm>
          <a:prstGeom prst="rect">
            <a:avLst/>
          </a:prstGeom>
          <a:noFill/>
          <a:ln/>
        </p:spPr>
        <p:txBody>
          <a:bodyPr wrap="square" lIns="0" tIns="0" rIns="0" bIns="0" rtlCol="0" anchor="t"/>
          <a:lstStyle/>
          <a:p>
            <a:pPr indent="0" marL="0">
              <a:buNone/>
            </a:pPr>
            <a:r>
              <a:rPr lang="en-US" sz="1800" b="1" dirty="0">
                <a:solidFill>
                  <a:schemeClr val="tx2"/>
                </a:solidFill>
              </a:rPr>
              <a:t>플러그인</a:t>
            </a:r>
            <a:endParaRPr lang="en-US" sz="1800" dirty="0"/>
          </a:p>
        </p:txBody>
      </p:sp>
      <p:sp>
        <p:nvSpPr>
          <p:cNvPr id="9" name="Text 7"/>
          <p:cNvSpPr txBox="1"/>
          <p:nvPr/>
        </p:nvSpPr>
        <p:spPr>
          <a:xfrm>
            <a:off x="1188720" y="3337560"/>
            <a:ext cx="4663440" cy="320040"/>
          </a:xfrm>
          <a:prstGeom prst="rect">
            <a:avLst/>
          </a:prstGeom>
          <a:noFill/>
          <a:ln/>
        </p:spPr>
        <p:txBody>
          <a:bodyPr wrap="square" lIns="0" tIns="0" rIns="0" bIns="0" rtlCol="0" anchor="t"/>
          <a:lstStyle/>
          <a:p>
            <a:pPr indent="0" marL="0">
              <a:buNone/>
            </a:pPr>
            <a:r>
              <a:rPr lang="en-US" sz="1300" dirty="0">
                <a:solidFill>
                  <a:srgbClr val="5A6B70"/>
                </a:solidFill>
              </a:rPr>
              <a:t>설치하고 지우는 단위 · 설정과 명령을 담은 꾸러미</a:t>
            </a:r>
            <a:endParaRPr lang="en-US" sz="1300" dirty="0"/>
          </a:p>
        </p:txBody>
      </p:sp>
      <p:sp>
        <p:nvSpPr>
          <p:cNvPr id="10" name="Text 8"/>
          <p:cNvSpPr txBox="1"/>
          <p:nvPr/>
        </p:nvSpPr>
        <p:spPr>
          <a:xfrm>
            <a:off x="1188720" y="3657600"/>
            <a:ext cx="4663440" cy="320040"/>
          </a:xfrm>
          <a:prstGeom prst="rect">
            <a:avLst/>
          </a:prstGeom>
          <a:noFill/>
          <a:ln/>
        </p:spPr>
        <p:txBody>
          <a:bodyPr wrap="square" lIns="0" tIns="0" rIns="0" bIns="0" rtlCol="0" anchor="t"/>
          <a:lstStyle/>
          <a:p>
            <a:pPr indent="0" marL="0">
              <a:buNone/>
            </a:pPr>
            <a:r>
              <a:rPr lang="en-US" sz="1300" dirty="0">
                <a:solidFill>
                  <a:schemeClr val="accent1"/>
                </a:solidFill>
                <a:latin typeface="Courier New" pitchFamily="34" charset="0"/>
                <a:ea typeface="Courier New" pitchFamily="34" charset="-122"/>
                <a:cs typeface="Courier New" pitchFamily="34" charset="-120"/>
              </a:rPr>
              <a:t>learn-notes@learn-notes</a:t>
            </a:r>
            <a:endParaRPr lang="en-US" sz="1300" dirty="0"/>
          </a:p>
        </p:txBody>
      </p:sp>
      <p:sp>
        <p:nvSpPr>
          <p:cNvPr id="11" name="mod"/>
          <p:cNvSpPr/>
          <p:nvPr/>
        </p:nvSpPr>
        <p:spPr>
          <a:xfrm>
            <a:off x="1280160" y="4160520"/>
            <a:ext cx="4389120" cy="1417320"/>
          </a:xfrm>
          <a:prstGeom prst="roundRect">
            <a:avLst>
              <a:gd name="adj" fmla="val 6452"/>
            </a:avLst>
          </a:prstGeom>
          <a:solidFill>
            <a:schemeClr val="accent1"/>
          </a:solidFill>
          <a:ln w="12700">
            <a:solidFill>
              <a:schemeClr val="accent1"/>
            </a:solidFill>
            <a:prstDash val="solid"/>
          </a:ln>
        </p:spPr>
      </p:sp>
      <p:sp>
        <p:nvSpPr>
          <p:cNvPr id="12" name="Text 10"/>
          <p:cNvSpPr txBox="1"/>
          <p:nvPr/>
        </p:nvSpPr>
        <p:spPr>
          <a:xfrm>
            <a:off x="1554480" y="4297680"/>
            <a:ext cx="3931920" cy="411480"/>
          </a:xfrm>
          <a:prstGeom prst="rect">
            <a:avLst/>
          </a:prstGeom>
          <a:noFill/>
          <a:ln/>
        </p:spPr>
        <p:txBody>
          <a:bodyPr wrap="square" lIns="0" tIns="0" rIns="0" bIns="0" rtlCol="0" anchor="t"/>
          <a:lstStyle/>
          <a:p>
            <a:pPr indent="0" marL="0">
              <a:buNone/>
            </a:pPr>
            <a:r>
              <a:rPr lang="en-US" sz="1800" b="1" dirty="0">
                <a:solidFill>
                  <a:schemeClr val="bg1"/>
                </a:solidFill>
              </a:rPr>
              <a:t>모드 (훅 코드)</a:t>
            </a:r>
            <a:endParaRPr lang="en-US" sz="1800" dirty="0"/>
          </a:p>
        </p:txBody>
      </p:sp>
      <p:sp>
        <p:nvSpPr>
          <p:cNvPr id="13" name="Text 11"/>
          <p:cNvSpPr txBox="1"/>
          <p:nvPr/>
        </p:nvSpPr>
        <p:spPr>
          <a:xfrm>
            <a:off x="1554480" y="4709160"/>
            <a:ext cx="3931920" cy="777240"/>
          </a:xfrm>
          <a:prstGeom prst="rect">
            <a:avLst/>
          </a:prstGeom>
          <a:noFill/>
          <a:ln/>
        </p:spPr>
        <p:txBody>
          <a:bodyPr wrap="square" lIns="0" tIns="0" rIns="0" bIns="0" rtlCol="0" anchor="t"/>
          <a:lstStyle/>
          <a:p>
            <a:pPr indent="0" marL="0">
              <a:buNone/>
            </a:pPr>
            <a:r>
              <a:rPr lang="en-US" sz="1300" dirty="0">
                <a:solidFill>
                  <a:schemeClr val="bg1"/>
                </a:solidFill>
              </a:rPr>
              <a:t>Claude Code의 화면과 동작을 바꾸는 코드. 노트·패널·퀴즈가 여기서 나옵니다.</a:t>
            </a:r>
            <a:endParaRPr lang="en-US" sz="1300" dirty="0"/>
          </a:p>
        </p:txBody>
      </p:sp>
      <p:sp>
        <p:nvSpPr>
          <p:cNvPr id="14" name="badge-LuZap"/>
          <p:cNvSpPr/>
          <p:nvPr/>
        </p:nvSpPr>
        <p:spPr>
          <a:xfrm>
            <a:off x="6675120" y="1463040"/>
            <a:ext cx="731520" cy="731520"/>
          </a:xfrm>
          <a:prstGeom prst="ellipse">
            <a:avLst/>
          </a:prstGeom>
          <a:solidFill>
            <a:schemeClr val="accent2"/>
          </a:solidFill>
          <a:ln w="12700">
            <a:solidFill>
              <a:schemeClr val="accent2"/>
            </a:solidFill>
            <a:prstDash val="solid"/>
          </a:ln>
        </p:spPr>
      </p:sp>
      <p:pic>
        <p:nvPicPr>
          <p:cNvPr id="15" name="icon-LuZap" descr="LuZap">    </p:cNvPr>
          <p:cNvPicPr>
            <a:picLocks noChangeAspect="1"/>
          </p:cNvPicPr>
          <p:nvPr/>
        </p:nvPicPr>
        <p:blipFill>
          <a:blip r:embed="rId1"/>
          <a:stretch>
            <a:fillRect/>
          </a:stretch>
        </p:blipFill>
        <p:spPr>
          <a:xfrm>
            <a:off x="6850685" y="1638605"/>
            <a:ext cx="380390" cy="380390"/>
          </a:xfrm>
          <a:prstGeom prst="rect">
            <a:avLst/>
          </a:prstGeom>
        </p:spPr>
      </p:pic>
      <p:sp>
        <p:nvSpPr>
          <p:cNvPr id="16" name="Text 13"/>
          <p:cNvSpPr txBox="1"/>
          <p:nvPr/>
        </p:nvSpPr>
        <p:spPr>
          <a:xfrm>
            <a:off x="7635240" y="1463040"/>
            <a:ext cx="3931920" cy="411480"/>
          </a:xfrm>
          <a:prstGeom prst="rect">
            <a:avLst/>
          </a:prstGeom>
          <a:noFill/>
          <a:ln/>
        </p:spPr>
        <p:txBody>
          <a:bodyPr wrap="square" lIns="0" tIns="0" rIns="0" bIns="0" rtlCol="0" anchor="t"/>
          <a:lstStyle/>
          <a:p>
            <a:pPr indent="0" marL="0">
              <a:buNone/>
            </a:pPr>
            <a:r>
              <a:rPr lang="en-US" sz="1800" b="1" dirty="0">
                <a:solidFill>
                  <a:schemeClr val="tx2"/>
                </a:solidFill>
              </a:rPr>
              <a:t>이벤트</a:t>
            </a:r>
            <a:endParaRPr lang="en-US" sz="1800" dirty="0"/>
          </a:p>
        </p:txBody>
      </p:sp>
      <p:sp>
        <p:nvSpPr>
          <p:cNvPr id="17" name="Text 14"/>
          <p:cNvSpPr txBox="1"/>
          <p:nvPr/>
        </p:nvSpPr>
        <p:spPr>
          <a:xfrm>
            <a:off x="7635240" y="1901952"/>
            <a:ext cx="3977640" cy="960120"/>
          </a:xfrm>
          <a:prstGeom prst="rect">
            <a:avLst/>
          </a:prstGeom>
          <a:noFill/>
          <a:ln/>
        </p:spPr>
        <p:txBody>
          <a:bodyPr wrap="square" lIns="0" tIns="0" rIns="0" bIns="0" rtlCol="0" anchor="t"/>
          <a:lstStyle/>
          <a:p>
            <a:pPr indent="0" marL="0">
              <a:buNone/>
            </a:pPr>
            <a:r>
              <a:rPr lang="en-US" sz="1350" dirty="0">
                <a:solidFill>
                  <a:schemeClr val="tx1"/>
                </a:solidFill>
              </a:rPr>
              <a:t>Claude Code 안에서 일어나는 일. 요청 제출, 턴 시작, 파일 수정, 턴 끝, 화면 그리기.</a:t>
            </a:r>
            <a:endParaRPr lang="en-US" sz="1350" dirty="0"/>
          </a:p>
        </p:txBody>
      </p:sp>
      <p:sp>
        <p:nvSpPr>
          <p:cNvPr id="18" name="badge-LuWand"/>
          <p:cNvSpPr/>
          <p:nvPr/>
        </p:nvSpPr>
        <p:spPr>
          <a:xfrm>
            <a:off x="6675120" y="3017520"/>
            <a:ext cx="731520" cy="731520"/>
          </a:xfrm>
          <a:prstGeom prst="ellipse">
            <a:avLst/>
          </a:prstGeom>
          <a:solidFill>
            <a:schemeClr val="accent3"/>
          </a:solidFill>
          <a:ln w="12700">
            <a:solidFill>
              <a:schemeClr val="accent3"/>
            </a:solidFill>
            <a:prstDash val="solid"/>
          </a:ln>
        </p:spPr>
      </p:sp>
      <p:pic>
        <p:nvPicPr>
          <p:cNvPr id="19" name="icon-LuWand" descr="LuWand">    </p:cNvPr>
          <p:cNvPicPr>
            <a:picLocks noChangeAspect="1"/>
          </p:cNvPicPr>
          <p:nvPr/>
        </p:nvPicPr>
        <p:blipFill>
          <a:blip r:embed="rId2"/>
          <a:stretch>
            <a:fillRect/>
          </a:stretch>
        </p:blipFill>
        <p:spPr>
          <a:xfrm>
            <a:off x="6850685" y="3193085"/>
            <a:ext cx="380390" cy="380390"/>
          </a:xfrm>
          <a:prstGeom prst="rect">
            <a:avLst/>
          </a:prstGeom>
        </p:spPr>
      </p:pic>
      <p:sp>
        <p:nvSpPr>
          <p:cNvPr id="20" name="Text 16"/>
          <p:cNvSpPr txBox="1"/>
          <p:nvPr/>
        </p:nvSpPr>
        <p:spPr>
          <a:xfrm>
            <a:off x="7635240" y="3017520"/>
            <a:ext cx="3931920" cy="411480"/>
          </a:xfrm>
          <a:prstGeom prst="rect">
            <a:avLst/>
          </a:prstGeom>
          <a:noFill/>
          <a:ln/>
        </p:spPr>
        <p:txBody>
          <a:bodyPr wrap="square" lIns="0" tIns="0" rIns="0" bIns="0" rtlCol="0" anchor="t"/>
          <a:lstStyle/>
          <a:p>
            <a:pPr indent="0" marL="0">
              <a:buNone/>
            </a:pPr>
            <a:r>
              <a:rPr lang="en-US" sz="1800" b="1" dirty="0">
                <a:solidFill>
                  <a:schemeClr val="tx2"/>
                </a:solidFill>
              </a:rPr>
              <a:t>훅 (hook)</a:t>
            </a:r>
            <a:endParaRPr lang="en-US" sz="1800" dirty="0"/>
          </a:p>
        </p:txBody>
      </p:sp>
      <p:sp>
        <p:nvSpPr>
          <p:cNvPr id="21" name="Text 17"/>
          <p:cNvSpPr txBox="1"/>
          <p:nvPr/>
        </p:nvSpPr>
        <p:spPr>
          <a:xfrm>
            <a:off x="7635240" y="3456432"/>
            <a:ext cx="3977640" cy="960120"/>
          </a:xfrm>
          <a:prstGeom prst="rect">
            <a:avLst/>
          </a:prstGeom>
          <a:noFill/>
          <a:ln/>
        </p:spPr>
        <p:txBody>
          <a:bodyPr wrap="square" lIns="0" tIns="0" rIns="0" bIns="0" rtlCol="0" anchor="t"/>
          <a:lstStyle/>
          <a:p>
            <a:pPr indent="0" marL="0">
              <a:buNone/>
            </a:pPr>
            <a:r>
              <a:rPr lang="en-US" sz="1350" dirty="0">
                <a:solidFill>
                  <a:schemeClr val="tx1"/>
                </a:solidFill>
              </a:rPr>
              <a:t>이벤트가 일어날 때 끼어들어 실행되는 함수. learn-notes는 파일이 바뀌는 순간을 지켜봅니다.</a:t>
            </a:r>
            <a:endParaRPr lang="en-US" sz="1350" dirty="0"/>
          </a:p>
        </p:txBody>
      </p:sp>
      <p:sp>
        <p:nvSpPr>
          <p:cNvPr id="22" name="badge-LuPanelRight"/>
          <p:cNvSpPr/>
          <p:nvPr/>
        </p:nvSpPr>
        <p:spPr>
          <a:xfrm>
            <a:off x="6675120" y="4572000"/>
            <a:ext cx="731520" cy="731520"/>
          </a:xfrm>
          <a:prstGeom prst="ellipse">
            <a:avLst/>
          </a:prstGeom>
          <a:solidFill>
            <a:schemeClr val="tx2"/>
          </a:solidFill>
          <a:ln w="12700">
            <a:solidFill>
              <a:schemeClr val="tx2"/>
            </a:solidFill>
            <a:prstDash val="solid"/>
          </a:ln>
        </p:spPr>
      </p:sp>
      <p:pic>
        <p:nvPicPr>
          <p:cNvPr id="23" name="icon-LuPanelRight" descr="LuPanelRight">    </p:cNvPr>
          <p:cNvPicPr>
            <a:picLocks noChangeAspect="1"/>
          </p:cNvPicPr>
          <p:nvPr/>
        </p:nvPicPr>
        <p:blipFill>
          <a:blip r:embed="rId3"/>
          <a:stretch>
            <a:fillRect/>
          </a:stretch>
        </p:blipFill>
        <p:spPr>
          <a:xfrm>
            <a:off x="6850685" y="4747565"/>
            <a:ext cx="380390" cy="380390"/>
          </a:xfrm>
          <a:prstGeom prst="rect">
            <a:avLst/>
          </a:prstGeom>
        </p:spPr>
      </p:pic>
      <p:sp>
        <p:nvSpPr>
          <p:cNvPr id="24" name="Text 19"/>
          <p:cNvSpPr txBox="1"/>
          <p:nvPr/>
        </p:nvSpPr>
        <p:spPr>
          <a:xfrm>
            <a:off x="7635240" y="4572000"/>
            <a:ext cx="3931920" cy="411480"/>
          </a:xfrm>
          <a:prstGeom prst="rect">
            <a:avLst/>
          </a:prstGeom>
          <a:noFill/>
          <a:ln/>
        </p:spPr>
        <p:txBody>
          <a:bodyPr wrap="square" lIns="0" tIns="0" rIns="0" bIns="0" rtlCol="0" anchor="t"/>
          <a:lstStyle/>
          <a:p>
            <a:pPr indent="0" marL="0">
              <a:buNone/>
            </a:pPr>
            <a:r>
              <a:rPr lang="en-US" sz="1800" b="1" dirty="0">
                <a:solidFill>
                  <a:schemeClr val="tx2"/>
                </a:solidFill>
              </a:rPr>
              <a:t>패널</a:t>
            </a:r>
            <a:endParaRPr lang="en-US" sz="1800" dirty="0"/>
          </a:p>
        </p:txBody>
      </p:sp>
      <p:sp>
        <p:nvSpPr>
          <p:cNvPr id="25" name="Text 20"/>
          <p:cNvSpPr txBox="1"/>
          <p:nvPr/>
        </p:nvSpPr>
        <p:spPr>
          <a:xfrm>
            <a:off x="7635240" y="5010912"/>
            <a:ext cx="3977640" cy="960120"/>
          </a:xfrm>
          <a:prstGeom prst="rect">
            <a:avLst/>
          </a:prstGeom>
          <a:noFill/>
          <a:ln/>
        </p:spPr>
        <p:txBody>
          <a:bodyPr wrap="square" lIns="0" tIns="0" rIns="0" bIns="0" rtlCol="0" anchor="t"/>
          <a:lstStyle/>
          <a:p>
            <a:pPr indent="0" marL="0">
              <a:buNone/>
            </a:pPr>
            <a:r>
              <a:rPr lang="en-US" sz="1350" dirty="0">
                <a:solidFill>
                  <a:schemeClr val="tx1"/>
                </a:solidFill>
              </a:rPr>
              <a:t>대화 오른쪽(또는 프롬프트 위)에 붙는 모드 전용 화면.</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모드는 이렇게 동작합니다</a:t>
            </a:r>
            <a:endParaRPr lang="en-US" sz="3000" dirty="0"/>
          </a:p>
        </p:txBody>
      </p:sp>
      <p:sp>
        <p:nvSpPr>
          <p:cNvPr id="3" name="event-0"/>
          <p:cNvSpPr/>
          <p:nvPr/>
        </p:nvSpPr>
        <p:spPr>
          <a:xfrm>
            <a:off x="548640" y="1463040"/>
            <a:ext cx="2011680" cy="1097280"/>
          </a:xfrm>
          <a:prstGeom prst="roundRect">
            <a:avLst>
              <a:gd name="adj" fmla="val 8333"/>
            </a:avLst>
          </a:prstGeom>
          <a:solidFill>
            <a:schemeClr val="tx2"/>
          </a:solidFill>
          <a:ln w="12700">
            <a:solidFill>
              <a:schemeClr val="tx2"/>
            </a:solidFill>
            <a:prstDash val="solid"/>
          </a:ln>
        </p:spPr>
      </p:sp>
      <p:sp>
        <p:nvSpPr>
          <p:cNvPr id="4" name="Text 2"/>
          <p:cNvSpPr txBox="1"/>
          <p:nvPr/>
        </p:nvSpPr>
        <p:spPr>
          <a:xfrm>
            <a:off x="548640" y="1572768"/>
            <a:ext cx="2011680" cy="457200"/>
          </a:xfrm>
          <a:prstGeom prst="rect">
            <a:avLst/>
          </a:prstGeom>
          <a:noFill/>
          <a:ln/>
        </p:spPr>
        <p:txBody>
          <a:bodyPr wrap="square" lIns="0" tIns="0" rIns="0" bIns="0" rtlCol="0" anchor="t"/>
          <a:lstStyle/>
          <a:p>
            <a:pPr algn="ctr" indent="0" marL="0">
              <a:buNone/>
            </a:pPr>
            <a:r>
              <a:rPr lang="en-US" sz="1700" b="1" dirty="0">
                <a:solidFill>
                  <a:schemeClr val="bg1"/>
                </a:solidFill>
              </a:rPr>
              <a:t>요청 제출</a:t>
            </a:r>
            <a:endParaRPr lang="en-US" sz="1700" dirty="0"/>
          </a:p>
        </p:txBody>
      </p:sp>
      <p:sp>
        <p:nvSpPr>
          <p:cNvPr id="5" name="Text 3"/>
          <p:cNvSpPr txBox="1"/>
          <p:nvPr/>
        </p:nvSpPr>
        <p:spPr>
          <a:xfrm>
            <a:off x="548640" y="2057400"/>
            <a:ext cx="2011680" cy="320040"/>
          </a:xfrm>
          <a:prstGeom prst="rect">
            <a:avLst/>
          </a:prstGeom>
          <a:noFill/>
          <a:ln/>
        </p:spPr>
        <p:txBody>
          <a:bodyPr wrap="square" lIns="0" tIns="0" rIns="0" bIns="0" rtlCol="0" anchor="t"/>
          <a:lstStyle/>
          <a:p>
            <a:pPr algn="ctr" indent="0" marL="0">
              <a:buNone/>
            </a:pPr>
            <a:r>
              <a:rPr lang="en-US" sz="1100" dirty="0">
                <a:solidFill>
                  <a:srgbClr val="BFE0D4"/>
                </a:solidFill>
                <a:latin typeface="Courier New" pitchFamily="34" charset="0"/>
                <a:ea typeface="Courier New" pitchFamily="34" charset="-122"/>
                <a:cs typeface="Courier New" pitchFamily="34" charset="-120"/>
              </a:rPr>
              <a:t>prompt.submit</a:t>
            </a:r>
            <a:endParaRPr lang="en-US" sz="1100" dirty="0"/>
          </a:p>
        </p:txBody>
      </p:sp>
      <p:sp>
        <p:nvSpPr>
          <p:cNvPr id="6" name="Text 4"/>
          <p:cNvSpPr txBox="1"/>
          <p:nvPr/>
        </p:nvSpPr>
        <p:spPr>
          <a:xfrm>
            <a:off x="594360" y="2743200"/>
            <a:ext cx="1920240" cy="914400"/>
          </a:xfrm>
          <a:prstGeom prst="rect">
            <a:avLst/>
          </a:prstGeom>
          <a:noFill/>
          <a:ln/>
        </p:spPr>
        <p:txBody>
          <a:bodyPr wrap="square" lIns="0" tIns="0" rIns="0" bIns="0" rtlCol="0" anchor="t"/>
          <a:lstStyle/>
          <a:p>
            <a:pPr algn="ctr" indent="0" marL="0">
              <a:buNone/>
            </a:pPr>
            <a:r>
              <a:rPr lang="en-US" sz="1300" dirty="0">
                <a:solidFill>
                  <a:schemeClr val="tx1"/>
                </a:solidFill>
              </a:rPr>
              <a:t>누가 보낸 요청인지 기억합니다</a:t>
            </a:r>
            <a:endParaRPr lang="en-US" sz="1300" dirty="0"/>
          </a:p>
        </p:txBody>
      </p:sp>
      <p:sp>
        <p:nvSpPr>
          <p:cNvPr id="7" name="arrow"/>
          <p:cNvSpPr/>
          <p:nvPr/>
        </p:nvSpPr>
        <p:spPr>
          <a:xfrm rot="5400000">
            <a:off x="2606040" y="1901952"/>
            <a:ext cx="182880" cy="219456"/>
          </a:xfrm>
          <a:prstGeom prst="triangle">
            <a:avLst/>
          </a:prstGeom>
          <a:solidFill>
            <a:srgbClr val="B9C7C2"/>
          </a:solidFill>
          <a:ln w="12700">
            <a:solidFill>
              <a:srgbClr val="B9C7C2"/>
            </a:solidFill>
            <a:prstDash val="solid"/>
          </a:ln>
        </p:spPr>
      </p:sp>
      <p:sp>
        <p:nvSpPr>
          <p:cNvPr id="8" name="event-1"/>
          <p:cNvSpPr/>
          <p:nvPr/>
        </p:nvSpPr>
        <p:spPr>
          <a:xfrm>
            <a:off x="2816352" y="1463040"/>
            <a:ext cx="2011680" cy="1097280"/>
          </a:xfrm>
          <a:prstGeom prst="roundRect">
            <a:avLst>
              <a:gd name="adj" fmla="val 8333"/>
            </a:avLst>
          </a:prstGeom>
          <a:solidFill>
            <a:schemeClr val="tx2"/>
          </a:solidFill>
          <a:ln w="12700">
            <a:solidFill>
              <a:schemeClr val="tx2"/>
            </a:solidFill>
            <a:prstDash val="solid"/>
          </a:ln>
        </p:spPr>
      </p:sp>
      <p:sp>
        <p:nvSpPr>
          <p:cNvPr id="9" name="Text 7"/>
          <p:cNvSpPr txBox="1"/>
          <p:nvPr/>
        </p:nvSpPr>
        <p:spPr>
          <a:xfrm>
            <a:off x="2816352" y="1572768"/>
            <a:ext cx="2011680" cy="457200"/>
          </a:xfrm>
          <a:prstGeom prst="rect">
            <a:avLst/>
          </a:prstGeom>
          <a:noFill/>
          <a:ln/>
        </p:spPr>
        <p:txBody>
          <a:bodyPr wrap="square" lIns="0" tIns="0" rIns="0" bIns="0" rtlCol="0" anchor="t"/>
          <a:lstStyle/>
          <a:p>
            <a:pPr algn="ctr" indent="0" marL="0">
              <a:buNone/>
            </a:pPr>
            <a:r>
              <a:rPr lang="en-US" sz="1700" b="1" dirty="0">
                <a:solidFill>
                  <a:schemeClr val="bg1"/>
                </a:solidFill>
              </a:rPr>
              <a:t>턴 시작</a:t>
            </a:r>
            <a:endParaRPr lang="en-US" sz="1700" dirty="0"/>
          </a:p>
        </p:txBody>
      </p:sp>
      <p:sp>
        <p:nvSpPr>
          <p:cNvPr id="10" name="Text 8"/>
          <p:cNvSpPr txBox="1"/>
          <p:nvPr/>
        </p:nvSpPr>
        <p:spPr>
          <a:xfrm>
            <a:off x="2816352" y="2057400"/>
            <a:ext cx="2011680" cy="320040"/>
          </a:xfrm>
          <a:prstGeom prst="rect">
            <a:avLst/>
          </a:prstGeom>
          <a:noFill/>
          <a:ln/>
        </p:spPr>
        <p:txBody>
          <a:bodyPr wrap="square" lIns="0" tIns="0" rIns="0" bIns="0" rtlCol="0" anchor="t"/>
          <a:lstStyle/>
          <a:p>
            <a:pPr algn="ctr" indent="0" marL="0">
              <a:buNone/>
            </a:pPr>
            <a:r>
              <a:rPr lang="en-US" sz="1100" dirty="0">
                <a:solidFill>
                  <a:srgbClr val="BFE0D4"/>
                </a:solidFill>
                <a:latin typeface="Courier New" pitchFamily="34" charset="0"/>
                <a:ea typeface="Courier New" pitchFamily="34" charset="-122"/>
                <a:cs typeface="Courier New" pitchFamily="34" charset="-120"/>
              </a:rPr>
              <a:t>turn.start</a:t>
            </a:r>
            <a:endParaRPr lang="en-US" sz="1100" dirty="0"/>
          </a:p>
        </p:txBody>
      </p:sp>
      <p:sp>
        <p:nvSpPr>
          <p:cNvPr id="11" name="Text 9"/>
          <p:cNvSpPr txBox="1"/>
          <p:nvPr/>
        </p:nvSpPr>
        <p:spPr>
          <a:xfrm>
            <a:off x="2862072" y="2743200"/>
            <a:ext cx="1920240" cy="914400"/>
          </a:xfrm>
          <a:prstGeom prst="rect">
            <a:avLst/>
          </a:prstGeom>
          <a:noFill/>
          <a:ln/>
        </p:spPr>
        <p:txBody>
          <a:bodyPr wrap="square" lIns="0" tIns="0" rIns="0" bIns="0" rtlCol="0" anchor="t"/>
          <a:lstStyle/>
          <a:p>
            <a:pPr algn="ctr" indent="0" marL="0">
              <a:buNone/>
            </a:pPr>
            <a:r>
              <a:rPr lang="en-US" sz="1300" dirty="0">
                <a:solidFill>
                  <a:schemeClr val="tx1"/>
                </a:solidFill>
              </a:rPr>
              <a:t>이번 턴의 변경을 모으기 시작합니다</a:t>
            </a:r>
            <a:endParaRPr lang="en-US" sz="1300" dirty="0"/>
          </a:p>
        </p:txBody>
      </p:sp>
      <p:sp>
        <p:nvSpPr>
          <p:cNvPr id="12" name="arrow"/>
          <p:cNvSpPr/>
          <p:nvPr/>
        </p:nvSpPr>
        <p:spPr>
          <a:xfrm rot="5400000">
            <a:off x="4873752" y="1901952"/>
            <a:ext cx="182880" cy="219456"/>
          </a:xfrm>
          <a:prstGeom prst="triangle">
            <a:avLst/>
          </a:prstGeom>
          <a:solidFill>
            <a:srgbClr val="B9C7C2"/>
          </a:solidFill>
          <a:ln w="12700">
            <a:solidFill>
              <a:srgbClr val="B9C7C2"/>
            </a:solidFill>
            <a:prstDash val="solid"/>
          </a:ln>
        </p:spPr>
      </p:sp>
      <p:sp>
        <p:nvSpPr>
          <p:cNvPr id="13" name="event-2"/>
          <p:cNvSpPr/>
          <p:nvPr/>
        </p:nvSpPr>
        <p:spPr>
          <a:xfrm>
            <a:off x="5084064" y="1463040"/>
            <a:ext cx="2011680" cy="1097280"/>
          </a:xfrm>
          <a:prstGeom prst="roundRect">
            <a:avLst>
              <a:gd name="adj" fmla="val 8333"/>
            </a:avLst>
          </a:prstGeom>
          <a:solidFill>
            <a:schemeClr val="accent1"/>
          </a:solidFill>
          <a:ln w="12700">
            <a:solidFill>
              <a:schemeClr val="accent1"/>
            </a:solidFill>
            <a:prstDash val="solid"/>
          </a:ln>
        </p:spPr>
      </p:sp>
      <p:sp>
        <p:nvSpPr>
          <p:cNvPr id="14" name="Text 12"/>
          <p:cNvSpPr txBox="1"/>
          <p:nvPr/>
        </p:nvSpPr>
        <p:spPr>
          <a:xfrm>
            <a:off x="5084064" y="1572768"/>
            <a:ext cx="2011680" cy="457200"/>
          </a:xfrm>
          <a:prstGeom prst="rect">
            <a:avLst/>
          </a:prstGeom>
          <a:noFill/>
          <a:ln/>
        </p:spPr>
        <p:txBody>
          <a:bodyPr wrap="square" lIns="0" tIns="0" rIns="0" bIns="0" rtlCol="0" anchor="t"/>
          <a:lstStyle/>
          <a:p>
            <a:pPr algn="ctr" indent="0" marL="0">
              <a:buNone/>
            </a:pPr>
            <a:r>
              <a:rPr lang="en-US" sz="1700" b="1" dirty="0">
                <a:solidFill>
                  <a:schemeClr val="bg1"/>
                </a:solidFill>
              </a:rPr>
              <a:t>파일 수정</a:t>
            </a:r>
            <a:endParaRPr lang="en-US" sz="1700" dirty="0"/>
          </a:p>
        </p:txBody>
      </p:sp>
      <p:sp>
        <p:nvSpPr>
          <p:cNvPr id="15" name="Text 13"/>
          <p:cNvSpPr txBox="1"/>
          <p:nvPr/>
        </p:nvSpPr>
        <p:spPr>
          <a:xfrm>
            <a:off x="5084064" y="2057400"/>
            <a:ext cx="2011680" cy="320040"/>
          </a:xfrm>
          <a:prstGeom prst="rect">
            <a:avLst/>
          </a:prstGeom>
          <a:noFill/>
          <a:ln/>
        </p:spPr>
        <p:txBody>
          <a:bodyPr wrap="square" lIns="0" tIns="0" rIns="0" bIns="0" rtlCol="0" anchor="t"/>
          <a:lstStyle/>
          <a:p>
            <a:pPr algn="ctr" indent="0" marL="0">
              <a:buNone/>
            </a:pPr>
            <a:r>
              <a:rPr lang="en-US" sz="1100" dirty="0">
                <a:solidFill>
                  <a:srgbClr val="BFE0D4"/>
                </a:solidFill>
                <a:latin typeface="Courier New" pitchFamily="34" charset="0"/>
                <a:ea typeface="Courier New" pitchFamily="34" charset="-122"/>
                <a:cs typeface="Courier New" pitchFamily="34" charset="-120"/>
              </a:rPr>
              <a:t>tool.call</a:t>
            </a:r>
            <a:endParaRPr lang="en-US" sz="1100" dirty="0"/>
          </a:p>
        </p:txBody>
      </p:sp>
      <p:sp>
        <p:nvSpPr>
          <p:cNvPr id="16" name="Text 14"/>
          <p:cNvSpPr txBox="1"/>
          <p:nvPr/>
        </p:nvSpPr>
        <p:spPr>
          <a:xfrm>
            <a:off x="5129784" y="2743200"/>
            <a:ext cx="1920240" cy="914400"/>
          </a:xfrm>
          <a:prstGeom prst="rect">
            <a:avLst/>
          </a:prstGeom>
          <a:noFill/>
          <a:ln/>
        </p:spPr>
        <p:txBody>
          <a:bodyPr wrap="square" lIns="0" tIns="0" rIns="0" bIns="0" rtlCol="0" anchor="t"/>
          <a:lstStyle/>
          <a:p>
            <a:pPr algn="ctr" indent="0" marL="0">
              <a:buNone/>
            </a:pPr>
            <a:r>
              <a:rPr lang="en-US" sz="1300" dirty="0">
                <a:solidFill>
                  <a:schemeClr val="tx1"/>
                </a:solidFill>
              </a:rPr>
              <a:t>Edit · Write · 셸 명령이 바꾼 전과 후를 잡습니다</a:t>
            </a:r>
            <a:endParaRPr lang="en-US" sz="1300" dirty="0"/>
          </a:p>
        </p:txBody>
      </p:sp>
      <p:sp>
        <p:nvSpPr>
          <p:cNvPr id="17" name="arrow"/>
          <p:cNvSpPr/>
          <p:nvPr/>
        </p:nvSpPr>
        <p:spPr>
          <a:xfrm rot="5400000">
            <a:off x="7141464" y="1901952"/>
            <a:ext cx="182880" cy="219456"/>
          </a:xfrm>
          <a:prstGeom prst="triangle">
            <a:avLst/>
          </a:prstGeom>
          <a:solidFill>
            <a:srgbClr val="B9C7C2"/>
          </a:solidFill>
          <a:ln w="12700">
            <a:solidFill>
              <a:srgbClr val="B9C7C2"/>
            </a:solidFill>
            <a:prstDash val="solid"/>
          </a:ln>
        </p:spPr>
      </p:sp>
      <p:sp>
        <p:nvSpPr>
          <p:cNvPr id="18" name="event-3"/>
          <p:cNvSpPr/>
          <p:nvPr/>
        </p:nvSpPr>
        <p:spPr>
          <a:xfrm>
            <a:off x="7351776" y="1463040"/>
            <a:ext cx="2011680" cy="1097280"/>
          </a:xfrm>
          <a:prstGeom prst="roundRect">
            <a:avLst>
              <a:gd name="adj" fmla="val 8333"/>
            </a:avLst>
          </a:prstGeom>
          <a:solidFill>
            <a:schemeClr val="tx2"/>
          </a:solidFill>
          <a:ln w="12700">
            <a:solidFill>
              <a:schemeClr val="tx2"/>
            </a:solidFill>
            <a:prstDash val="solid"/>
          </a:ln>
        </p:spPr>
      </p:sp>
      <p:sp>
        <p:nvSpPr>
          <p:cNvPr id="19" name="Text 17"/>
          <p:cNvSpPr txBox="1"/>
          <p:nvPr/>
        </p:nvSpPr>
        <p:spPr>
          <a:xfrm>
            <a:off x="7351776" y="1572768"/>
            <a:ext cx="2011680" cy="457200"/>
          </a:xfrm>
          <a:prstGeom prst="rect">
            <a:avLst/>
          </a:prstGeom>
          <a:noFill/>
          <a:ln/>
        </p:spPr>
        <p:txBody>
          <a:bodyPr wrap="square" lIns="0" tIns="0" rIns="0" bIns="0" rtlCol="0" anchor="t"/>
          <a:lstStyle/>
          <a:p>
            <a:pPr algn="ctr" indent="0" marL="0">
              <a:buNone/>
            </a:pPr>
            <a:r>
              <a:rPr lang="en-US" sz="1700" b="1" dirty="0">
                <a:solidFill>
                  <a:schemeClr val="bg1"/>
                </a:solidFill>
              </a:rPr>
              <a:t>턴 끝</a:t>
            </a:r>
            <a:endParaRPr lang="en-US" sz="1700" dirty="0"/>
          </a:p>
        </p:txBody>
      </p:sp>
      <p:sp>
        <p:nvSpPr>
          <p:cNvPr id="20" name="Text 18"/>
          <p:cNvSpPr txBox="1"/>
          <p:nvPr/>
        </p:nvSpPr>
        <p:spPr>
          <a:xfrm>
            <a:off x="7351776" y="2057400"/>
            <a:ext cx="2011680" cy="320040"/>
          </a:xfrm>
          <a:prstGeom prst="rect">
            <a:avLst/>
          </a:prstGeom>
          <a:noFill/>
          <a:ln/>
        </p:spPr>
        <p:txBody>
          <a:bodyPr wrap="square" lIns="0" tIns="0" rIns="0" bIns="0" rtlCol="0" anchor="t"/>
          <a:lstStyle/>
          <a:p>
            <a:pPr algn="ctr" indent="0" marL="0">
              <a:buNone/>
            </a:pPr>
            <a:r>
              <a:rPr lang="en-US" sz="1100" dirty="0">
                <a:solidFill>
                  <a:srgbClr val="BFE0D4"/>
                </a:solidFill>
                <a:latin typeface="Courier New" pitchFamily="34" charset="0"/>
                <a:ea typeface="Courier New" pitchFamily="34" charset="-122"/>
                <a:cs typeface="Courier New" pitchFamily="34" charset="-120"/>
              </a:rPr>
              <a:t>turn.complete</a:t>
            </a:r>
            <a:endParaRPr lang="en-US" sz="1100" dirty="0"/>
          </a:p>
        </p:txBody>
      </p:sp>
      <p:sp>
        <p:nvSpPr>
          <p:cNvPr id="21" name="Text 19"/>
          <p:cNvSpPr txBox="1"/>
          <p:nvPr/>
        </p:nvSpPr>
        <p:spPr>
          <a:xfrm>
            <a:off x="7397496" y="2743200"/>
            <a:ext cx="1920240" cy="914400"/>
          </a:xfrm>
          <a:prstGeom prst="rect">
            <a:avLst/>
          </a:prstGeom>
          <a:noFill/>
          <a:ln/>
        </p:spPr>
        <p:txBody>
          <a:bodyPr wrap="square" lIns="0" tIns="0" rIns="0" bIns="0" rtlCol="0" anchor="t"/>
          <a:lstStyle/>
          <a:p>
            <a:pPr algn="ctr" indent="0" marL="0">
              <a:buNone/>
            </a:pPr>
            <a:r>
              <a:rPr lang="en-US" sz="1300" dirty="0">
                <a:solidFill>
                  <a:schemeClr val="tx1"/>
                </a:solidFill>
              </a:rPr>
              <a:t>모은 변경으로 노트를 쓰게 합니다</a:t>
            </a:r>
            <a:endParaRPr lang="en-US" sz="1300" dirty="0"/>
          </a:p>
        </p:txBody>
      </p:sp>
      <p:sp>
        <p:nvSpPr>
          <p:cNvPr id="22" name="arrow"/>
          <p:cNvSpPr/>
          <p:nvPr/>
        </p:nvSpPr>
        <p:spPr>
          <a:xfrm rot="5400000">
            <a:off x="9409176" y="1901952"/>
            <a:ext cx="182880" cy="219456"/>
          </a:xfrm>
          <a:prstGeom prst="triangle">
            <a:avLst/>
          </a:prstGeom>
          <a:solidFill>
            <a:srgbClr val="B9C7C2"/>
          </a:solidFill>
          <a:ln w="12700">
            <a:solidFill>
              <a:srgbClr val="B9C7C2"/>
            </a:solidFill>
            <a:prstDash val="solid"/>
          </a:ln>
        </p:spPr>
      </p:sp>
      <p:sp>
        <p:nvSpPr>
          <p:cNvPr id="23" name="event-4"/>
          <p:cNvSpPr/>
          <p:nvPr/>
        </p:nvSpPr>
        <p:spPr>
          <a:xfrm>
            <a:off x="9619488" y="1463040"/>
            <a:ext cx="2011680" cy="1097280"/>
          </a:xfrm>
          <a:prstGeom prst="roundRect">
            <a:avLst>
              <a:gd name="adj" fmla="val 8333"/>
            </a:avLst>
          </a:prstGeom>
          <a:solidFill>
            <a:schemeClr val="accent2"/>
          </a:solidFill>
          <a:ln w="12700">
            <a:solidFill>
              <a:schemeClr val="accent2"/>
            </a:solidFill>
            <a:prstDash val="solid"/>
          </a:ln>
        </p:spPr>
      </p:sp>
      <p:sp>
        <p:nvSpPr>
          <p:cNvPr id="24" name="Text 22"/>
          <p:cNvSpPr txBox="1"/>
          <p:nvPr/>
        </p:nvSpPr>
        <p:spPr>
          <a:xfrm>
            <a:off x="9619488" y="1572768"/>
            <a:ext cx="2011680" cy="457200"/>
          </a:xfrm>
          <a:prstGeom prst="rect">
            <a:avLst/>
          </a:prstGeom>
          <a:noFill/>
          <a:ln/>
        </p:spPr>
        <p:txBody>
          <a:bodyPr wrap="square" lIns="0" tIns="0" rIns="0" bIns="0" rtlCol="0" anchor="t"/>
          <a:lstStyle/>
          <a:p>
            <a:pPr algn="ctr" indent="0" marL="0">
              <a:buNone/>
            </a:pPr>
            <a:r>
              <a:rPr lang="en-US" sz="1700" b="1" dirty="0">
                <a:solidFill>
                  <a:schemeClr val="bg1"/>
                </a:solidFill>
              </a:rPr>
              <a:t>패널 그리기</a:t>
            </a:r>
            <a:endParaRPr lang="en-US" sz="1700" dirty="0"/>
          </a:p>
        </p:txBody>
      </p:sp>
      <p:sp>
        <p:nvSpPr>
          <p:cNvPr id="25" name="Text 23"/>
          <p:cNvSpPr txBox="1"/>
          <p:nvPr/>
        </p:nvSpPr>
        <p:spPr>
          <a:xfrm>
            <a:off x="9619488" y="2057400"/>
            <a:ext cx="2011680" cy="320040"/>
          </a:xfrm>
          <a:prstGeom prst="rect">
            <a:avLst/>
          </a:prstGeom>
          <a:noFill/>
          <a:ln/>
        </p:spPr>
        <p:txBody>
          <a:bodyPr wrap="square" lIns="0" tIns="0" rIns="0" bIns="0" rtlCol="0" anchor="t"/>
          <a:lstStyle/>
          <a:p>
            <a:pPr algn="ctr" indent="0" marL="0">
              <a:buNone/>
            </a:pPr>
            <a:r>
              <a:rPr lang="en-US" sz="1100" dirty="0">
                <a:solidFill>
                  <a:srgbClr val="FFF3DD"/>
                </a:solidFill>
                <a:latin typeface="Courier New" pitchFamily="34" charset="0"/>
                <a:ea typeface="Courier New" pitchFamily="34" charset="-122"/>
                <a:cs typeface="Courier New" pitchFamily="34" charset="-120"/>
              </a:rPr>
              <a:t>ui.render</a:t>
            </a:r>
            <a:endParaRPr lang="en-US" sz="1100" dirty="0"/>
          </a:p>
        </p:txBody>
      </p:sp>
      <p:sp>
        <p:nvSpPr>
          <p:cNvPr id="26" name="Text 24"/>
          <p:cNvSpPr txBox="1"/>
          <p:nvPr/>
        </p:nvSpPr>
        <p:spPr>
          <a:xfrm>
            <a:off x="9665208" y="2743200"/>
            <a:ext cx="1920240" cy="914400"/>
          </a:xfrm>
          <a:prstGeom prst="rect">
            <a:avLst/>
          </a:prstGeom>
          <a:noFill/>
          <a:ln/>
        </p:spPr>
        <p:txBody>
          <a:bodyPr wrap="square" lIns="0" tIns="0" rIns="0" bIns="0" rtlCol="0" anchor="t"/>
          <a:lstStyle/>
          <a:p>
            <a:pPr algn="ctr" indent="0" marL="0">
              <a:buNone/>
            </a:pPr>
            <a:r>
              <a:rPr lang="en-US" sz="1300" dirty="0">
                <a:solidFill>
                  <a:schemeClr val="tx1"/>
                </a:solidFill>
              </a:rPr>
              <a:t>노트와 퀴즈를 오른쪽에 보여 줍니다</a:t>
            </a:r>
            <a:endParaRPr lang="en-US" sz="1300" dirty="0"/>
          </a:p>
        </p:txBody>
      </p:sp>
      <p:sp>
        <p:nvSpPr>
          <p:cNvPr id="27" name="card"/>
          <p:cNvSpPr/>
          <p:nvPr/>
        </p:nvSpPr>
        <p:spPr>
          <a:xfrm>
            <a:off x="548640" y="3931920"/>
            <a:ext cx="11091672" cy="2103120"/>
          </a:xfrm>
          <a:prstGeom prst="roundRect">
            <a:avLst>
              <a:gd name="adj" fmla="val 4348"/>
            </a:avLst>
          </a:prstGeom>
          <a:solidFill>
            <a:schemeClr val="bg2"/>
          </a:solidFill>
          <a:ln w="9525">
            <a:solidFill>
              <a:schemeClr val="bg2"/>
            </a:solidFill>
            <a:prstDash val="solid"/>
          </a:ln>
        </p:spPr>
      </p:sp>
      <p:sp>
        <p:nvSpPr>
          <p:cNvPr id="28" name="Text 26"/>
          <p:cNvSpPr txBox="1"/>
          <p:nvPr/>
        </p:nvSpPr>
        <p:spPr>
          <a:xfrm>
            <a:off x="822960" y="4069080"/>
            <a:ext cx="10515600" cy="411480"/>
          </a:xfrm>
          <a:prstGeom prst="rect">
            <a:avLst/>
          </a:prstGeom>
          <a:noFill/>
          <a:ln/>
        </p:spPr>
        <p:txBody>
          <a:bodyPr wrap="square" lIns="0" tIns="0" rIns="0" bIns="0" rtlCol="0" anchor="t"/>
          <a:lstStyle/>
          <a:p>
            <a:pPr indent="0" marL="0">
              <a:buNone/>
            </a:pPr>
            <a:r>
              <a:rPr lang="en-US" sz="1600" b="1" dirty="0">
                <a:solidFill>
                  <a:schemeClr val="tx2"/>
                </a:solidFill>
              </a:rPr>
              <a:t>턴이 끝나면, 작은 모델(기본 haiku)이 바뀐 코드와 요청을 읽고 노트를 씁니다</a:t>
            </a:r>
            <a:endParaRPr lang="en-US" sz="1600" dirty="0"/>
          </a:p>
        </p:txBody>
      </p:sp>
      <p:sp>
        <p:nvSpPr>
          <p:cNvPr id="29" name="badge-LuPanelRight"/>
          <p:cNvSpPr/>
          <p:nvPr/>
        </p:nvSpPr>
        <p:spPr>
          <a:xfrm>
            <a:off x="822960" y="4663440"/>
            <a:ext cx="594360" cy="594360"/>
          </a:xfrm>
          <a:prstGeom prst="ellipse">
            <a:avLst/>
          </a:prstGeom>
          <a:solidFill>
            <a:schemeClr val="tx2"/>
          </a:solidFill>
          <a:ln w="12700">
            <a:solidFill>
              <a:schemeClr val="tx2"/>
            </a:solidFill>
            <a:prstDash val="solid"/>
          </a:ln>
        </p:spPr>
      </p:sp>
      <p:pic>
        <p:nvPicPr>
          <p:cNvPr id="30" name="icon-LuPanelRight" descr="LuPanelRight">    </p:cNvPr>
          <p:cNvPicPr>
            <a:picLocks noChangeAspect="1"/>
          </p:cNvPicPr>
          <p:nvPr/>
        </p:nvPicPr>
        <p:blipFill>
          <a:blip r:embed="rId1"/>
          <a:stretch>
            <a:fillRect/>
          </a:stretch>
        </p:blipFill>
        <p:spPr>
          <a:xfrm>
            <a:off x="965606" y="4806086"/>
            <a:ext cx="309067" cy="309067"/>
          </a:xfrm>
          <a:prstGeom prst="rect">
            <a:avLst/>
          </a:prstGeom>
        </p:spPr>
      </p:pic>
      <p:sp>
        <p:nvSpPr>
          <p:cNvPr id="31" name="Text 28"/>
          <p:cNvSpPr txBox="1"/>
          <p:nvPr/>
        </p:nvSpPr>
        <p:spPr>
          <a:xfrm>
            <a:off x="1554480" y="4663440"/>
            <a:ext cx="2743200" cy="594360"/>
          </a:xfrm>
          <a:prstGeom prst="rect">
            <a:avLst/>
          </a:prstGeom>
          <a:noFill/>
          <a:ln/>
        </p:spPr>
        <p:txBody>
          <a:bodyPr wrap="square" lIns="0" tIns="0" rIns="0" bIns="0" rtlCol="0" anchor="ctr"/>
          <a:lstStyle/>
          <a:p>
            <a:pPr indent="0" marL="0">
              <a:buNone/>
            </a:pPr>
            <a:r>
              <a:rPr lang="en-US" sz="1500" b="1" dirty="0">
                <a:solidFill>
                  <a:schemeClr val="tx1"/>
                </a:solidFill>
              </a:rPr>
              <a:t>패널에 노트 표시</a:t>
            </a:r>
            <a:endParaRPr lang="en-US" sz="1500" dirty="0"/>
          </a:p>
        </p:txBody>
      </p:sp>
      <p:sp>
        <p:nvSpPr>
          <p:cNvPr id="32" name="badge-LuFileText"/>
          <p:cNvSpPr/>
          <p:nvPr/>
        </p:nvSpPr>
        <p:spPr>
          <a:xfrm>
            <a:off x="4389120" y="4663440"/>
            <a:ext cx="594360" cy="594360"/>
          </a:xfrm>
          <a:prstGeom prst="ellipse">
            <a:avLst/>
          </a:prstGeom>
          <a:solidFill>
            <a:schemeClr val="accent3"/>
          </a:solidFill>
          <a:ln w="12700">
            <a:solidFill>
              <a:schemeClr val="accent3"/>
            </a:solidFill>
            <a:prstDash val="solid"/>
          </a:ln>
        </p:spPr>
      </p:sp>
      <p:pic>
        <p:nvPicPr>
          <p:cNvPr id="33" name="icon-LuFileText" descr="LuFileText">    </p:cNvPr>
          <p:cNvPicPr>
            <a:picLocks noChangeAspect="1"/>
          </p:cNvPicPr>
          <p:nvPr/>
        </p:nvPicPr>
        <p:blipFill>
          <a:blip r:embed="rId2"/>
          <a:stretch>
            <a:fillRect/>
          </a:stretch>
        </p:blipFill>
        <p:spPr>
          <a:xfrm>
            <a:off x="4531766" y="4806086"/>
            <a:ext cx="309067" cy="309067"/>
          </a:xfrm>
          <a:prstGeom prst="rect">
            <a:avLst/>
          </a:prstGeom>
        </p:spPr>
      </p:pic>
      <p:sp>
        <p:nvSpPr>
          <p:cNvPr id="34" name="Text 30"/>
          <p:cNvSpPr txBox="1"/>
          <p:nvPr/>
        </p:nvSpPr>
        <p:spPr>
          <a:xfrm>
            <a:off x="5120640" y="4663440"/>
            <a:ext cx="2743200" cy="594360"/>
          </a:xfrm>
          <a:prstGeom prst="rect">
            <a:avLst/>
          </a:prstGeom>
          <a:noFill/>
          <a:ln/>
        </p:spPr>
        <p:txBody>
          <a:bodyPr wrap="square" lIns="0" tIns="0" rIns="0" bIns="0" rtlCol="0" anchor="ctr"/>
          <a:lstStyle/>
          <a:p>
            <a:pPr indent="0" marL="0">
              <a:buNone/>
            </a:pPr>
            <a:r>
              <a:rPr lang="en-US" sz="1500" b="1" dirty="0">
                <a:solidFill>
                  <a:schemeClr val="tx1"/>
                </a:solidFill>
              </a:rPr>
              <a:t>날짜별 일지에 저장</a:t>
            </a:r>
            <a:endParaRPr lang="en-US" sz="1500" dirty="0"/>
          </a:p>
        </p:txBody>
      </p:sp>
      <p:sp>
        <p:nvSpPr>
          <p:cNvPr id="35" name="badge-LuLayers"/>
          <p:cNvSpPr/>
          <p:nvPr/>
        </p:nvSpPr>
        <p:spPr>
          <a:xfrm>
            <a:off x="7955280" y="4663440"/>
            <a:ext cx="594360" cy="594360"/>
          </a:xfrm>
          <a:prstGeom prst="ellipse">
            <a:avLst/>
          </a:prstGeom>
          <a:solidFill>
            <a:schemeClr val="accent1"/>
          </a:solidFill>
          <a:ln w="12700">
            <a:solidFill>
              <a:schemeClr val="accent1"/>
            </a:solidFill>
            <a:prstDash val="solid"/>
          </a:ln>
        </p:spPr>
      </p:sp>
      <p:pic>
        <p:nvPicPr>
          <p:cNvPr id="36" name="icon-LuLayers" descr="LuLayers">    </p:cNvPr>
          <p:cNvPicPr>
            <a:picLocks noChangeAspect="1"/>
          </p:cNvPicPr>
          <p:nvPr/>
        </p:nvPicPr>
        <p:blipFill>
          <a:blip r:embed="rId3"/>
          <a:stretch>
            <a:fillRect/>
          </a:stretch>
        </p:blipFill>
        <p:spPr>
          <a:xfrm>
            <a:off x="8097926" y="4806086"/>
            <a:ext cx="309067" cy="309067"/>
          </a:xfrm>
          <a:prstGeom prst="rect">
            <a:avLst/>
          </a:prstGeom>
        </p:spPr>
      </p:pic>
      <p:sp>
        <p:nvSpPr>
          <p:cNvPr id="37" name="Text 32"/>
          <p:cNvSpPr txBox="1"/>
          <p:nvPr/>
        </p:nvSpPr>
        <p:spPr>
          <a:xfrm>
            <a:off x="8686800" y="4663440"/>
            <a:ext cx="2743200" cy="594360"/>
          </a:xfrm>
          <a:prstGeom prst="rect">
            <a:avLst/>
          </a:prstGeom>
          <a:noFill/>
          <a:ln/>
        </p:spPr>
        <p:txBody>
          <a:bodyPr wrap="square" lIns="0" tIns="0" rIns="0" bIns="0" rtlCol="0" anchor="ctr"/>
          <a:lstStyle/>
          <a:p>
            <a:pPr indent="0" marL="0">
              <a:buNone/>
            </a:pPr>
            <a:r>
              <a:rPr lang="en-US" sz="1500" b="1" dirty="0">
                <a:solidFill>
                  <a:schemeClr val="tx1"/>
                </a:solidFill>
              </a:rPr>
              <a:t>배운 개념을 개념 모음에</a:t>
            </a:r>
            <a:endParaRPr lang="en-US" sz="1500" dirty="0"/>
          </a:p>
        </p:txBody>
      </p:sp>
      <p:sp>
        <p:nvSpPr>
          <p:cNvPr id="38" name="Text 33"/>
          <p:cNvSpPr txBox="1"/>
          <p:nvPr/>
        </p:nvSpPr>
        <p:spPr>
          <a:xfrm>
            <a:off x="822960" y="5440680"/>
            <a:ext cx="10515600" cy="365760"/>
          </a:xfrm>
          <a:prstGeom prst="rect">
            <a:avLst/>
          </a:prstGeom>
          <a:noFill/>
          <a:ln/>
        </p:spPr>
        <p:txBody>
          <a:bodyPr wrap="square" lIns="0" tIns="0" rIns="0" bIns="0" rtlCol="0" anchor="t"/>
          <a:lstStyle/>
          <a:p>
            <a:pPr indent="0" marL="0">
              <a:buNone/>
            </a:pPr>
            <a:r>
              <a:rPr lang="en-US" sz="1300" dirty="0">
                <a:solidFill>
                  <a:srgbClr val="5A6B70"/>
                </a:solidFill>
              </a:rPr>
              <a:t>모드는 Claude의 일을 가로채지 않습니다. 옆에서 지켜보다가 필요한 것만 챙깁니다.</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모드가 할 수 있는 것, learn-notes가 쓰는 곳</a:t>
            </a:r>
            <a:endParaRPr lang="en-US" sz="3000" dirty="0"/>
          </a:p>
        </p:txBody>
      </p:sp>
      <p:sp>
        <p:nvSpPr>
          <p:cNvPr id="3" name="outline"/>
          <p:cNvSpPr/>
          <p:nvPr/>
        </p:nvSpPr>
        <p:spPr>
          <a:xfrm>
            <a:off x="548640" y="1417320"/>
            <a:ext cx="3502152" cy="2148840"/>
          </a:xfrm>
          <a:prstGeom prst="roundRect">
            <a:avLst>
              <a:gd name="adj" fmla="val 4255"/>
            </a:avLst>
          </a:prstGeom>
          <a:solidFill>
            <a:schemeClr val="bg1"/>
          </a:solidFill>
          <a:ln w="12700">
            <a:solidFill>
              <a:srgbClr val="D9E3DF"/>
            </a:solidFill>
            <a:prstDash val="solid"/>
          </a:ln>
        </p:spPr>
      </p:sp>
      <p:sp>
        <p:nvSpPr>
          <p:cNvPr id="4" name="badge-LuPanelRight"/>
          <p:cNvSpPr/>
          <p:nvPr/>
        </p:nvSpPr>
        <p:spPr>
          <a:xfrm>
            <a:off x="822960" y="1691640"/>
            <a:ext cx="685800" cy="685800"/>
          </a:xfrm>
          <a:prstGeom prst="ellipse">
            <a:avLst/>
          </a:prstGeom>
          <a:solidFill>
            <a:schemeClr val="tx2"/>
          </a:solidFill>
          <a:ln w="12700">
            <a:solidFill>
              <a:schemeClr val="tx2"/>
            </a:solidFill>
            <a:prstDash val="solid"/>
          </a:ln>
        </p:spPr>
      </p:sp>
      <p:pic>
        <p:nvPicPr>
          <p:cNvPr id="5" name="icon-LuPanelRight" descr="LuPanelRight">    </p:cNvPr>
          <p:cNvPicPr>
            <a:picLocks noChangeAspect="1"/>
          </p:cNvPicPr>
          <p:nvPr/>
        </p:nvPicPr>
        <p:blipFill>
          <a:blip r:embed="rId1"/>
          <a:stretch>
            <a:fillRect/>
          </a:stretch>
        </p:blipFill>
        <p:spPr>
          <a:xfrm>
            <a:off x="987552" y="1856232"/>
            <a:ext cx="356616" cy="356616"/>
          </a:xfrm>
          <a:prstGeom prst="rect">
            <a:avLst/>
          </a:prstGeom>
        </p:spPr>
      </p:pic>
      <p:sp>
        <p:nvSpPr>
          <p:cNvPr id="6" name="Text 3"/>
          <p:cNvSpPr txBox="1"/>
          <p:nvPr/>
        </p:nvSpPr>
        <p:spPr>
          <a:xfrm>
            <a:off x="1691640" y="169164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패널</a:t>
            </a:r>
            <a:endParaRPr lang="en-US" sz="1800" dirty="0"/>
          </a:p>
        </p:txBody>
      </p:sp>
      <p:sp>
        <p:nvSpPr>
          <p:cNvPr id="7" name="Text 4"/>
          <p:cNvSpPr txBox="1"/>
          <p:nvPr/>
        </p:nvSpPr>
        <p:spPr>
          <a:xfrm>
            <a:off x="822960" y="2560320"/>
            <a:ext cx="3017520" cy="868680"/>
          </a:xfrm>
          <a:prstGeom prst="rect">
            <a:avLst/>
          </a:prstGeom>
          <a:noFill/>
          <a:ln/>
        </p:spPr>
        <p:txBody>
          <a:bodyPr wrap="square" lIns="0" tIns="0" rIns="0" bIns="0" rtlCol="0" anchor="t"/>
          <a:lstStyle/>
          <a:p>
            <a:pPr indent="0" marL="0">
              <a:buNone/>
            </a:pPr>
            <a:r>
              <a:rPr lang="en-US" sz="1400" dirty="0">
                <a:solidFill>
                  <a:schemeClr val="tx1"/>
                </a:solidFill>
              </a:rPr>
              <a:t>대화 옆 전용 화면에 노트 · 전/후 · 개념 모음 · 퀴즈</a:t>
            </a:r>
            <a:endParaRPr lang="en-US" sz="1400" dirty="0"/>
          </a:p>
        </p:txBody>
      </p:sp>
      <p:sp>
        <p:nvSpPr>
          <p:cNvPr id="8" name="outline"/>
          <p:cNvSpPr/>
          <p:nvPr/>
        </p:nvSpPr>
        <p:spPr>
          <a:xfrm>
            <a:off x="4343400" y="1417320"/>
            <a:ext cx="3502152" cy="2148840"/>
          </a:xfrm>
          <a:prstGeom prst="roundRect">
            <a:avLst>
              <a:gd name="adj" fmla="val 4255"/>
            </a:avLst>
          </a:prstGeom>
          <a:solidFill>
            <a:schemeClr val="bg1"/>
          </a:solidFill>
          <a:ln w="12700">
            <a:solidFill>
              <a:srgbClr val="D9E3DF"/>
            </a:solidFill>
            <a:prstDash val="solid"/>
          </a:ln>
        </p:spPr>
      </p:sp>
      <p:sp>
        <p:nvSpPr>
          <p:cNvPr id="9" name="badge-LuSlash"/>
          <p:cNvSpPr/>
          <p:nvPr/>
        </p:nvSpPr>
        <p:spPr>
          <a:xfrm>
            <a:off x="4617720" y="1691640"/>
            <a:ext cx="685800" cy="685800"/>
          </a:xfrm>
          <a:prstGeom prst="ellipse">
            <a:avLst/>
          </a:prstGeom>
          <a:solidFill>
            <a:schemeClr val="accent1"/>
          </a:solidFill>
          <a:ln w="12700">
            <a:solidFill>
              <a:schemeClr val="accent1"/>
            </a:solidFill>
            <a:prstDash val="solid"/>
          </a:ln>
        </p:spPr>
      </p:sp>
      <p:pic>
        <p:nvPicPr>
          <p:cNvPr id="10" name="icon-LuSlash" descr="LuSlash">    </p:cNvPr>
          <p:cNvPicPr>
            <a:picLocks noChangeAspect="1"/>
          </p:cNvPicPr>
          <p:nvPr/>
        </p:nvPicPr>
        <p:blipFill>
          <a:blip r:embed="rId2"/>
          <a:stretch>
            <a:fillRect/>
          </a:stretch>
        </p:blipFill>
        <p:spPr>
          <a:xfrm>
            <a:off x="4782312" y="1856232"/>
            <a:ext cx="356616" cy="356616"/>
          </a:xfrm>
          <a:prstGeom prst="rect">
            <a:avLst/>
          </a:prstGeom>
        </p:spPr>
      </p:pic>
      <p:sp>
        <p:nvSpPr>
          <p:cNvPr id="11" name="Text 7"/>
          <p:cNvSpPr txBox="1"/>
          <p:nvPr/>
        </p:nvSpPr>
        <p:spPr>
          <a:xfrm>
            <a:off x="5486400" y="169164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슬래시 명령</a:t>
            </a:r>
            <a:endParaRPr lang="en-US" sz="1800" dirty="0"/>
          </a:p>
        </p:txBody>
      </p:sp>
      <p:sp>
        <p:nvSpPr>
          <p:cNvPr id="12" name="Text 8"/>
          <p:cNvSpPr txBox="1"/>
          <p:nvPr/>
        </p:nvSpPr>
        <p:spPr>
          <a:xfrm>
            <a:off x="4617720" y="2560320"/>
            <a:ext cx="3017520" cy="868680"/>
          </a:xfrm>
          <a:prstGeom prst="rect">
            <a:avLst/>
          </a:prstGeom>
          <a:noFill/>
          <a:ln/>
        </p:spPr>
        <p:txBody>
          <a:bodyPr wrap="square" lIns="0" tIns="0" rIns="0" bIns="0" rtlCol="0" anchor="t"/>
          <a:lstStyle/>
          <a:p>
            <a:pPr indent="0" marL="0">
              <a:buNone/>
            </a:pPr>
            <a:r>
              <a:rPr lang="en-US" sz="1400" dirty="0">
                <a:solidFill>
                  <a:schemeClr val="tx1"/>
                </a:solidFill>
              </a:rPr>
              <a:t>/learn 하나로 퀴즈 · 정리 · 질문 · 기록 · 공유 · 진단</a:t>
            </a:r>
            <a:endParaRPr lang="en-US" sz="1400" dirty="0"/>
          </a:p>
        </p:txBody>
      </p:sp>
      <p:sp>
        <p:nvSpPr>
          <p:cNvPr id="13" name="outline"/>
          <p:cNvSpPr/>
          <p:nvPr/>
        </p:nvSpPr>
        <p:spPr>
          <a:xfrm>
            <a:off x="8138160" y="1417320"/>
            <a:ext cx="3502152" cy="2148840"/>
          </a:xfrm>
          <a:prstGeom prst="roundRect">
            <a:avLst>
              <a:gd name="adj" fmla="val 4255"/>
            </a:avLst>
          </a:prstGeom>
          <a:solidFill>
            <a:schemeClr val="bg1"/>
          </a:solidFill>
          <a:ln w="12700">
            <a:solidFill>
              <a:srgbClr val="D9E3DF"/>
            </a:solidFill>
            <a:prstDash val="solid"/>
          </a:ln>
        </p:spPr>
      </p:sp>
      <p:sp>
        <p:nvSpPr>
          <p:cNvPr id="14" name="badge-LuBell"/>
          <p:cNvSpPr/>
          <p:nvPr/>
        </p:nvSpPr>
        <p:spPr>
          <a:xfrm>
            <a:off x="8412480" y="1691640"/>
            <a:ext cx="685800" cy="685800"/>
          </a:xfrm>
          <a:prstGeom prst="ellipse">
            <a:avLst/>
          </a:prstGeom>
          <a:solidFill>
            <a:schemeClr val="accent2"/>
          </a:solidFill>
          <a:ln w="12700">
            <a:solidFill>
              <a:schemeClr val="accent2"/>
            </a:solidFill>
            <a:prstDash val="solid"/>
          </a:ln>
        </p:spPr>
      </p:sp>
      <p:pic>
        <p:nvPicPr>
          <p:cNvPr id="15" name="icon-LuBell" descr="LuBell">    </p:cNvPr>
          <p:cNvPicPr>
            <a:picLocks noChangeAspect="1"/>
          </p:cNvPicPr>
          <p:nvPr/>
        </p:nvPicPr>
        <p:blipFill>
          <a:blip r:embed="rId3"/>
          <a:stretch>
            <a:fillRect/>
          </a:stretch>
        </p:blipFill>
        <p:spPr>
          <a:xfrm>
            <a:off x="8577072" y="1856232"/>
            <a:ext cx="356616" cy="356616"/>
          </a:xfrm>
          <a:prstGeom prst="rect">
            <a:avLst/>
          </a:prstGeom>
        </p:spPr>
      </p:pic>
      <p:sp>
        <p:nvSpPr>
          <p:cNvPr id="16" name="Text 11"/>
          <p:cNvSpPr txBox="1"/>
          <p:nvPr/>
        </p:nvSpPr>
        <p:spPr>
          <a:xfrm>
            <a:off x="9281160" y="169164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상태줄 · 알림</a:t>
            </a:r>
            <a:endParaRPr lang="en-US" sz="1800" dirty="0"/>
          </a:p>
        </p:txBody>
      </p:sp>
      <p:sp>
        <p:nvSpPr>
          <p:cNvPr id="17" name="Text 12"/>
          <p:cNvSpPr txBox="1"/>
          <p:nvPr/>
        </p:nvSpPr>
        <p:spPr>
          <a:xfrm>
            <a:off x="8412480" y="2560320"/>
            <a:ext cx="3017520" cy="868680"/>
          </a:xfrm>
          <a:prstGeom prst="rect">
            <a:avLst/>
          </a:prstGeom>
          <a:noFill/>
          <a:ln/>
        </p:spPr>
        <p:txBody>
          <a:bodyPr wrap="square" lIns="0" tIns="0" rIns="0" bIns="0" rtlCol="0" anchor="t"/>
          <a:lstStyle/>
          <a:p>
            <a:pPr indent="0" marL="0">
              <a:buNone/>
            </a:pPr>
            <a:r>
              <a:rPr lang="en-US" sz="1400" dirty="0">
                <a:solidFill>
                  <a:schemeClr val="tx1"/>
                </a:solidFill>
              </a:rPr>
              <a:t>오늘 복습할 개수, 노트가 준비됐다는 알림</a:t>
            </a:r>
            <a:endParaRPr lang="en-US" sz="1400" dirty="0"/>
          </a:p>
        </p:txBody>
      </p:sp>
      <p:sp>
        <p:nvSpPr>
          <p:cNvPr id="18" name="outline"/>
          <p:cNvSpPr/>
          <p:nvPr/>
        </p:nvSpPr>
        <p:spPr>
          <a:xfrm>
            <a:off x="548640" y="3794760"/>
            <a:ext cx="3502152" cy="2148840"/>
          </a:xfrm>
          <a:prstGeom prst="roundRect">
            <a:avLst>
              <a:gd name="adj" fmla="val 4255"/>
            </a:avLst>
          </a:prstGeom>
          <a:solidFill>
            <a:schemeClr val="bg1"/>
          </a:solidFill>
          <a:ln w="12700">
            <a:solidFill>
              <a:srgbClr val="D9E3DF"/>
            </a:solidFill>
            <a:prstDash val="solid"/>
          </a:ln>
        </p:spPr>
      </p:sp>
      <p:sp>
        <p:nvSpPr>
          <p:cNvPr id="19" name="badge-LuBot"/>
          <p:cNvSpPr/>
          <p:nvPr/>
        </p:nvSpPr>
        <p:spPr>
          <a:xfrm>
            <a:off x="822960" y="4069080"/>
            <a:ext cx="685800" cy="685800"/>
          </a:xfrm>
          <a:prstGeom prst="ellipse">
            <a:avLst/>
          </a:prstGeom>
          <a:solidFill>
            <a:schemeClr val="accent3"/>
          </a:solidFill>
          <a:ln w="12700">
            <a:solidFill>
              <a:schemeClr val="accent3"/>
            </a:solidFill>
            <a:prstDash val="solid"/>
          </a:ln>
        </p:spPr>
      </p:sp>
      <p:pic>
        <p:nvPicPr>
          <p:cNvPr id="20" name="icon-LuBot" descr="LuBot">    </p:cNvPr>
          <p:cNvPicPr>
            <a:picLocks noChangeAspect="1"/>
          </p:cNvPicPr>
          <p:nvPr/>
        </p:nvPicPr>
        <p:blipFill>
          <a:blip r:embed="rId4"/>
          <a:stretch>
            <a:fillRect/>
          </a:stretch>
        </p:blipFill>
        <p:spPr>
          <a:xfrm>
            <a:off x="987552" y="4233672"/>
            <a:ext cx="356616" cy="356616"/>
          </a:xfrm>
          <a:prstGeom prst="rect">
            <a:avLst/>
          </a:prstGeom>
        </p:spPr>
      </p:pic>
      <p:sp>
        <p:nvSpPr>
          <p:cNvPr id="21" name="Text 15"/>
          <p:cNvSpPr txBox="1"/>
          <p:nvPr/>
        </p:nvSpPr>
        <p:spPr>
          <a:xfrm>
            <a:off x="1691640" y="40690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작은 모델 호출</a:t>
            </a:r>
            <a:endParaRPr lang="en-US" sz="1800" dirty="0"/>
          </a:p>
        </p:txBody>
      </p:sp>
      <p:sp>
        <p:nvSpPr>
          <p:cNvPr id="22" name="Text 16"/>
          <p:cNvSpPr txBox="1"/>
          <p:nvPr/>
        </p:nvSpPr>
        <p:spPr>
          <a:xfrm>
            <a:off x="822960" y="4937760"/>
            <a:ext cx="3017520" cy="868680"/>
          </a:xfrm>
          <a:prstGeom prst="rect">
            <a:avLst/>
          </a:prstGeom>
          <a:noFill/>
          <a:ln/>
        </p:spPr>
        <p:txBody>
          <a:bodyPr wrap="square" lIns="0" tIns="0" rIns="0" bIns="0" rtlCol="0" anchor="t"/>
          <a:lstStyle/>
          <a:p>
            <a:pPr indent="0" marL="0">
              <a:buNone/>
            </a:pPr>
            <a:r>
              <a:rPr lang="en-US" sz="1400" dirty="0">
                <a:solidFill>
                  <a:schemeClr val="tx1"/>
                </a:solidFill>
              </a:rPr>
              <a:t>노트 · 퀴즈 · 채점 · 답은 저렴한 haiku가 씁니다</a:t>
            </a:r>
            <a:endParaRPr lang="en-US" sz="1400" dirty="0"/>
          </a:p>
        </p:txBody>
      </p:sp>
      <p:sp>
        <p:nvSpPr>
          <p:cNvPr id="23" name="outline"/>
          <p:cNvSpPr/>
          <p:nvPr/>
        </p:nvSpPr>
        <p:spPr>
          <a:xfrm>
            <a:off x="4343400" y="3794760"/>
            <a:ext cx="3502152" cy="2148840"/>
          </a:xfrm>
          <a:prstGeom prst="roundRect">
            <a:avLst>
              <a:gd name="adj" fmla="val 4255"/>
            </a:avLst>
          </a:prstGeom>
          <a:solidFill>
            <a:schemeClr val="bg1"/>
          </a:solidFill>
          <a:ln w="12700">
            <a:solidFill>
              <a:srgbClr val="D9E3DF"/>
            </a:solidFill>
            <a:prstDash val="solid"/>
          </a:ln>
        </p:spPr>
      </p:sp>
      <p:sp>
        <p:nvSpPr>
          <p:cNvPr id="24" name="badge-LuSave"/>
          <p:cNvSpPr/>
          <p:nvPr/>
        </p:nvSpPr>
        <p:spPr>
          <a:xfrm>
            <a:off x="4617720" y="4069080"/>
            <a:ext cx="685800" cy="685800"/>
          </a:xfrm>
          <a:prstGeom prst="ellipse">
            <a:avLst/>
          </a:prstGeom>
          <a:solidFill>
            <a:schemeClr val="accent5"/>
          </a:solidFill>
          <a:ln w="12700">
            <a:solidFill>
              <a:schemeClr val="accent5"/>
            </a:solidFill>
            <a:prstDash val="solid"/>
          </a:ln>
        </p:spPr>
      </p:sp>
      <p:pic>
        <p:nvPicPr>
          <p:cNvPr id="25" name="icon-LuSave" descr="LuSave">    </p:cNvPr>
          <p:cNvPicPr>
            <a:picLocks noChangeAspect="1"/>
          </p:cNvPicPr>
          <p:nvPr/>
        </p:nvPicPr>
        <p:blipFill>
          <a:blip r:embed="rId5"/>
          <a:stretch>
            <a:fillRect/>
          </a:stretch>
        </p:blipFill>
        <p:spPr>
          <a:xfrm>
            <a:off x="4782312" y="4233672"/>
            <a:ext cx="356616" cy="356616"/>
          </a:xfrm>
          <a:prstGeom prst="rect">
            <a:avLst/>
          </a:prstGeom>
        </p:spPr>
      </p:pic>
      <p:sp>
        <p:nvSpPr>
          <p:cNvPr id="26" name="Text 19"/>
          <p:cNvSpPr txBox="1"/>
          <p:nvPr/>
        </p:nvSpPr>
        <p:spPr>
          <a:xfrm>
            <a:off x="5486400" y="40690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파일 저장</a:t>
            </a:r>
            <a:endParaRPr lang="en-US" sz="1800" dirty="0"/>
          </a:p>
        </p:txBody>
      </p:sp>
      <p:sp>
        <p:nvSpPr>
          <p:cNvPr id="27" name="Text 20"/>
          <p:cNvSpPr txBox="1"/>
          <p:nvPr/>
        </p:nvSpPr>
        <p:spPr>
          <a:xfrm>
            <a:off x="4617720" y="4937760"/>
            <a:ext cx="3017520" cy="868680"/>
          </a:xfrm>
          <a:prstGeom prst="rect">
            <a:avLst/>
          </a:prstGeom>
          <a:noFill/>
          <a:ln/>
        </p:spPr>
        <p:txBody>
          <a:bodyPr wrap="square" lIns="0" tIns="0" rIns="0" bIns="0" rtlCol="0" anchor="t"/>
          <a:lstStyle/>
          <a:p>
            <a:pPr indent="0" marL="0">
              <a:buNone/>
            </a:pPr>
            <a:r>
              <a:rPr lang="en-US" sz="1400" dirty="0">
                <a:solidFill>
                  <a:schemeClr val="tx1"/>
                </a:solidFill>
              </a:rPr>
              <a:t>날짜별 마크다운 일지와 개념 모음을 내 컴퓨터에</a:t>
            </a:r>
            <a:endParaRPr lang="en-US" sz="1400" dirty="0"/>
          </a:p>
        </p:txBody>
      </p:sp>
      <p:sp>
        <p:nvSpPr>
          <p:cNvPr id="28" name="outline"/>
          <p:cNvSpPr/>
          <p:nvPr/>
        </p:nvSpPr>
        <p:spPr>
          <a:xfrm>
            <a:off x="8138160" y="3794760"/>
            <a:ext cx="3502152" cy="2148840"/>
          </a:xfrm>
          <a:prstGeom prst="roundRect">
            <a:avLst>
              <a:gd name="adj" fmla="val 4255"/>
            </a:avLst>
          </a:prstGeom>
          <a:solidFill>
            <a:schemeClr val="bg1"/>
          </a:solidFill>
          <a:ln w="12700">
            <a:solidFill>
              <a:srgbClr val="D9E3DF"/>
            </a:solidFill>
            <a:prstDash val="solid"/>
          </a:ln>
        </p:spPr>
      </p:sp>
      <p:sp>
        <p:nvSpPr>
          <p:cNvPr id="29" name="badge-LuDatabase"/>
          <p:cNvSpPr/>
          <p:nvPr/>
        </p:nvSpPr>
        <p:spPr>
          <a:xfrm>
            <a:off x="8412480" y="4069080"/>
            <a:ext cx="685800" cy="685800"/>
          </a:xfrm>
          <a:prstGeom prst="ellipse">
            <a:avLst/>
          </a:prstGeom>
          <a:solidFill>
            <a:schemeClr val="accent4"/>
          </a:solidFill>
          <a:ln w="12700">
            <a:solidFill>
              <a:schemeClr val="accent4"/>
            </a:solidFill>
            <a:prstDash val="solid"/>
          </a:ln>
        </p:spPr>
      </p:sp>
      <p:pic>
        <p:nvPicPr>
          <p:cNvPr id="30" name="icon-LuDatabase" descr="LuDatabase">    </p:cNvPr>
          <p:cNvPicPr>
            <a:picLocks noChangeAspect="1"/>
          </p:cNvPicPr>
          <p:nvPr/>
        </p:nvPicPr>
        <p:blipFill>
          <a:blip r:embed="rId6"/>
          <a:stretch>
            <a:fillRect/>
          </a:stretch>
        </p:blipFill>
        <p:spPr>
          <a:xfrm>
            <a:off x="8577072" y="4233672"/>
            <a:ext cx="356616" cy="356616"/>
          </a:xfrm>
          <a:prstGeom prst="rect">
            <a:avLst/>
          </a:prstGeom>
        </p:spPr>
      </p:pic>
      <p:sp>
        <p:nvSpPr>
          <p:cNvPr id="31" name="Text 23"/>
          <p:cNvSpPr txBox="1"/>
          <p:nvPr/>
        </p:nvSpPr>
        <p:spPr>
          <a:xfrm>
            <a:off x="9281160" y="4069080"/>
            <a:ext cx="2194560" cy="685800"/>
          </a:xfrm>
          <a:prstGeom prst="rect">
            <a:avLst/>
          </a:prstGeom>
          <a:noFill/>
          <a:ln/>
        </p:spPr>
        <p:txBody>
          <a:bodyPr wrap="square" lIns="0" tIns="0" rIns="0" bIns="0" rtlCol="0" anchor="ctr"/>
          <a:lstStyle/>
          <a:p>
            <a:pPr indent="0" marL="0">
              <a:buNone/>
            </a:pPr>
            <a:r>
              <a:rPr lang="en-US" sz="1800" b="1" dirty="0">
                <a:solidFill>
                  <a:schemeClr val="tx2"/>
                </a:solidFill>
              </a:rPr>
              <a:t>세션을 넘는 저장소</a:t>
            </a:r>
            <a:endParaRPr lang="en-US" sz="1800" dirty="0"/>
          </a:p>
        </p:txBody>
      </p:sp>
      <p:sp>
        <p:nvSpPr>
          <p:cNvPr id="32" name="Text 24"/>
          <p:cNvSpPr txBox="1"/>
          <p:nvPr/>
        </p:nvSpPr>
        <p:spPr>
          <a:xfrm>
            <a:off x="8412480" y="4937760"/>
            <a:ext cx="3017520" cy="868680"/>
          </a:xfrm>
          <a:prstGeom prst="rect">
            <a:avLst/>
          </a:prstGeom>
          <a:noFill/>
          <a:ln/>
        </p:spPr>
        <p:txBody>
          <a:bodyPr wrap="square" lIns="0" tIns="0" rIns="0" bIns="0" rtlCol="0" anchor="t"/>
          <a:lstStyle/>
          <a:p>
            <a:pPr indent="0" marL="0">
              <a:buNone/>
            </a:pPr>
            <a:r>
              <a:rPr lang="en-US" sz="1400" dirty="0">
                <a:solidFill>
                  <a:schemeClr val="tx1"/>
                </a:solidFill>
              </a:rPr>
              <a:t>Claude Code를 다시 켜도 지난 노트와 퀴즈가 이어집니다</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3657600" cy="1005840"/>
          </a:xfrm>
          <a:prstGeom prst="rect">
            <a:avLst/>
          </a:prstGeom>
          <a:noFill/>
          <a:ln/>
        </p:spPr>
        <p:txBody>
          <a:bodyPr wrap="square" lIns="0" tIns="0" rIns="0" bIns="0" rtlCol="0" anchor="t"/>
          <a:lstStyle/>
          <a:p>
            <a:pPr algn="l" indent="0" marL="0">
              <a:buNone/>
            </a:pPr>
            <a:r>
              <a:rPr lang="en-US" sz="6000" b="1" dirty="0">
                <a:solidFill>
                  <a:schemeClr val="accent6"/>
                </a:solidFill>
              </a:rPr>
              <a:t>02</a:t>
            </a:r>
            <a:endParaRPr lang="en-US" sz="6000" dirty="0"/>
          </a:p>
        </p:txBody>
      </p:sp>
      <p:sp>
        <p:nvSpPr>
          <p:cNvPr id="3" name="Text 0"/>
          <p:cNvSpPr/>
          <p:nvPr>
            <p:ph idx="101" type="title" hasCustomPrompt="1"/>
          </p:nvPr>
        </p:nvSpPr>
        <p:spPr>
          <a:xfrm>
            <a:off x="640080" y="2743200"/>
            <a:ext cx="10515600" cy="1005840"/>
          </a:xfrm>
          <a:prstGeom prst="rect">
            <a:avLst/>
          </a:prstGeom>
          <a:noFill/>
          <a:ln/>
        </p:spPr>
        <p:txBody>
          <a:bodyPr wrap="square" lIns="0" tIns="0" rIns="0" bIns="0" rtlCol="0" anchor="t"/>
          <a:lstStyle/>
          <a:p>
            <a:pPr algn="l" indent="0" marL="0">
              <a:buNone/>
            </a:pPr>
            <a:r>
              <a:rPr lang="en-US" sz="4000" b="1" dirty="0">
                <a:solidFill>
                  <a:schemeClr val="bg1"/>
                </a:solidFill>
              </a:rPr>
              <a:t>learn-notes 기능</a:t>
            </a:r>
            <a:endParaRPr lang="en-US" sz="4000" dirty="0"/>
          </a:p>
        </p:txBody>
      </p:sp>
      <p:sp>
        <p:nvSpPr>
          <p:cNvPr id="4" name="Text 0"/>
          <p:cNvSpPr/>
          <p:nvPr>
            <p:ph idx="102" type="body" hasCustomPrompt="1"/>
          </p:nvPr>
        </p:nvSpPr>
        <p:spPr>
          <a:xfrm>
            <a:off x="640080" y="3886200"/>
            <a:ext cx="10058400" cy="822960"/>
          </a:xfrm>
          <a:prstGeom prst="rect">
            <a:avLst/>
          </a:prstGeom>
          <a:noFill/>
          <a:ln/>
        </p:spPr>
        <p:txBody>
          <a:bodyPr wrap="square" lIns="0" tIns="0" rIns="0" bIns="0" rtlCol="0" anchor="t"/>
          <a:lstStyle/>
          <a:p>
            <a:pPr algn="l" indent="0" marL="0">
              <a:buNone/>
            </a:pPr>
            <a:r>
              <a:rPr lang="en-US" sz="1800" dirty="0">
                <a:solidFill>
                  <a:schemeClr val="accent6"/>
                </a:solidFill>
              </a:rPr>
              <a:t>노트 · 직접 해 보기 · 되묻는 퀴즈 · 오답 노트 · 문제 사다리 · 간격 반복 · 기록</a:t>
            </a:r>
            <a:endParaRPr lang="en-US" sz="1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턴마다 학습 노트 — 다섯 칸</a:t>
            </a:r>
            <a:endParaRPr lang="en-US" sz="3000" dirty="0"/>
          </a:p>
        </p:txBody>
      </p:sp>
      <p:sp>
        <p:nvSpPr>
          <p:cNvPr id="3" name="num-0"/>
          <p:cNvSpPr/>
          <p:nvPr/>
        </p:nvSpPr>
        <p:spPr>
          <a:xfrm>
            <a:off x="548640" y="1499616"/>
            <a:ext cx="457200" cy="457200"/>
          </a:xfrm>
          <a:prstGeom prst="ellipse">
            <a:avLst/>
          </a:prstGeom>
          <a:solidFill>
            <a:schemeClr val="accent1"/>
          </a:solidFill>
          <a:ln w="12700">
            <a:solidFill>
              <a:schemeClr val="accent1"/>
            </a:solidFill>
            <a:prstDash val="solid"/>
          </a:ln>
        </p:spPr>
      </p:sp>
      <p:sp>
        <p:nvSpPr>
          <p:cNvPr id="4" name="Text 2"/>
          <p:cNvSpPr txBox="1"/>
          <p:nvPr/>
        </p:nvSpPr>
        <p:spPr>
          <a:xfrm>
            <a:off x="548640" y="1499616"/>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1</a:t>
            </a:r>
            <a:endParaRPr lang="en-US" sz="1500" dirty="0"/>
          </a:p>
        </p:txBody>
      </p:sp>
      <p:sp>
        <p:nvSpPr>
          <p:cNvPr id="5" name="Text 3"/>
          <p:cNvSpPr txBox="1"/>
          <p:nvPr/>
        </p:nvSpPr>
        <p:spPr>
          <a:xfrm>
            <a:off x="1188720" y="1463040"/>
            <a:ext cx="5760720" cy="365760"/>
          </a:xfrm>
          <a:prstGeom prst="rect">
            <a:avLst/>
          </a:prstGeom>
          <a:noFill/>
          <a:ln/>
        </p:spPr>
        <p:txBody>
          <a:bodyPr wrap="square" lIns="0" tIns="0" rIns="0" bIns="0" rtlCol="0" anchor="t"/>
          <a:lstStyle/>
          <a:p>
            <a:pPr indent="0" marL="0">
              <a:buNone/>
            </a:pPr>
            <a:r>
              <a:rPr lang="en-US" sz="1700" b="1" dirty="0">
                <a:solidFill>
                  <a:schemeClr val="tx2"/>
                </a:solidFill>
              </a:rPr>
              <a:t>한 줄 요약</a:t>
            </a:r>
            <a:endParaRPr lang="en-US" sz="1700" dirty="0"/>
          </a:p>
        </p:txBody>
      </p:sp>
      <p:sp>
        <p:nvSpPr>
          <p:cNvPr id="6" name="Text 4"/>
          <p:cNvSpPr txBox="1"/>
          <p:nvPr/>
        </p:nvSpPr>
        <p:spPr>
          <a:xfrm>
            <a:off x="1188720" y="1810512"/>
            <a:ext cx="5760720" cy="365760"/>
          </a:xfrm>
          <a:prstGeom prst="rect">
            <a:avLst/>
          </a:prstGeom>
          <a:noFill/>
          <a:ln/>
        </p:spPr>
        <p:txBody>
          <a:bodyPr wrap="square" lIns="0" tIns="0" rIns="0" bIns="0" rtlCol="0" anchor="t"/>
          <a:lstStyle/>
          <a:p>
            <a:pPr indent="0" marL="0">
              <a:buNone/>
            </a:pPr>
            <a:r>
              <a:rPr lang="en-US" sz="1350" dirty="0">
                <a:solidFill>
                  <a:srgbClr val="5A6B70"/>
                </a:solidFill>
              </a:rPr>
              <a:t>이번 턴에 무엇을 했는지 한 문장으로</a:t>
            </a:r>
            <a:endParaRPr lang="en-US" sz="1350" dirty="0"/>
          </a:p>
        </p:txBody>
      </p:sp>
      <p:sp>
        <p:nvSpPr>
          <p:cNvPr id="7" name="num-1"/>
          <p:cNvSpPr/>
          <p:nvPr/>
        </p:nvSpPr>
        <p:spPr>
          <a:xfrm>
            <a:off x="548640" y="2286000"/>
            <a:ext cx="457200" cy="457200"/>
          </a:xfrm>
          <a:prstGeom prst="ellipse">
            <a:avLst/>
          </a:prstGeom>
          <a:solidFill>
            <a:schemeClr val="accent1"/>
          </a:solidFill>
          <a:ln w="12700">
            <a:solidFill>
              <a:schemeClr val="accent1"/>
            </a:solidFill>
            <a:prstDash val="solid"/>
          </a:ln>
        </p:spPr>
      </p:sp>
      <p:sp>
        <p:nvSpPr>
          <p:cNvPr id="8" name="Text 6"/>
          <p:cNvSpPr txBox="1"/>
          <p:nvPr/>
        </p:nvSpPr>
        <p:spPr>
          <a:xfrm>
            <a:off x="548640" y="2286000"/>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2</a:t>
            </a:r>
            <a:endParaRPr lang="en-US" sz="1500" dirty="0"/>
          </a:p>
        </p:txBody>
      </p:sp>
      <p:sp>
        <p:nvSpPr>
          <p:cNvPr id="9" name="Text 7"/>
          <p:cNvSpPr txBox="1"/>
          <p:nvPr/>
        </p:nvSpPr>
        <p:spPr>
          <a:xfrm>
            <a:off x="1188720" y="2249424"/>
            <a:ext cx="5760720" cy="365760"/>
          </a:xfrm>
          <a:prstGeom prst="rect">
            <a:avLst/>
          </a:prstGeom>
          <a:noFill/>
          <a:ln/>
        </p:spPr>
        <p:txBody>
          <a:bodyPr wrap="square" lIns="0" tIns="0" rIns="0" bIns="0" rtlCol="0" anchor="t"/>
          <a:lstStyle/>
          <a:p>
            <a:pPr indent="0" marL="0">
              <a:buNone/>
            </a:pPr>
            <a:r>
              <a:rPr lang="en-US" sz="1700" b="1" dirty="0">
                <a:solidFill>
                  <a:schemeClr val="tx2"/>
                </a:solidFill>
              </a:rPr>
              <a:t>무엇이 바뀌었나</a:t>
            </a:r>
            <a:endParaRPr lang="en-US" sz="1700" dirty="0"/>
          </a:p>
        </p:txBody>
      </p:sp>
      <p:sp>
        <p:nvSpPr>
          <p:cNvPr id="10" name="Text 8"/>
          <p:cNvSpPr txBox="1"/>
          <p:nvPr/>
        </p:nvSpPr>
        <p:spPr>
          <a:xfrm>
            <a:off x="1188720" y="2596896"/>
            <a:ext cx="5760720" cy="365760"/>
          </a:xfrm>
          <a:prstGeom prst="rect">
            <a:avLst/>
          </a:prstGeom>
          <a:noFill/>
          <a:ln/>
        </p:spPr>
        <p:txBody>
          <a:bodyPr wrap="square" lIns="0" tIns="0" rIns="0" bIns="0" rtlCol="0" anchor="t"/>
          <a:lstStyle/>
          <a:p>
            <a:pPr indent="0" marL="0">
              <a:buNone/>
            </a:pPr>
            <a:r>
              <a:rPr lang="en-US" sz="1350" b="1" dirty="0">
                <a:solidFill>
                  <a:schemeClr val="accent4"/>
                </a:solidFill>
              </a:rPr>
              <a:t>− 전</a:t>
            </a:r>
            <a:r>
              <a:rPr lang="en-US" sz="1350" dirty="0">
                <a:solidFill>
                  <a:srgbClr val="5A6B70"/>
                </a:solidFill>
              </a:rPr>
              <a:t> 하던 일  ·  </a:t>
            </a:r>
            <a:r>
              <a:rPr lang="en-US" sz="1350" b="1" dirty="0">
                <a:solidFill>
                  <a:schemeClr val="accent1"/>
                </a:solidFill>
              </a:rPr>
              <a:t>+ 후</a:t>
            </a:r>
            <a:r>
              <a:rPr lang="en-US" sz="1350" dirty="0">
                <a:solidFill>
                  <a:srgbClr val="5A6B70"/>
                </a:solidFill>
              </a:rPr>
              <a:t> 이제 하는 일  ·  </a:t>
            </a:r>
            <a:r>
              <a:rPr lang="en-US" sz="1350" b="1" dirty="0">
                <a:solidFill>
                  <a:schemeClr val="accent3"/>
                </a:solidFill>
              </a:rPr>
              <a:t>→ 예</a:t>
            </a:r>
            <a:r>
              <a:rPr lang="en-US" sz="1350" dirty="0">
                <a:solidFill>
                  <a:srgbClr val="5A6B70"/>
                </a:solidFill>
              </a:rPr>
              <a:t> 차이가 드러나는 입력과 결과</a:t>
            </a:r>
            <a:endParaRPr lang="en-US" sz="1350" dirty="0"/>
          </a:p>
        </p:txBody>
      </p:sp>
      <p:sp>
        <p:nvSpPr>
          <p:cNvPr id="11" name="num-2"/>
          <p:cNvSpPr/>
          <p:nvPr/>
        </p:nvSpPr>
        <p:spPr>
          <a:xfrm>
            <a:off x="548640" y="3072384"/>
            <a:ext cx="457200" cy="457200"/>
          </a:xfrm>
          <a:prstGeom prst="ellipse">
            <a:avLst/>
          </a:prstGeom>
          <a:solidFill>
            <a:schemeClr val="accent1"/>
          </a:solidFill>
          <a:ln w="12700">
            <a:solidFill>
              <a:schemeClr val="accent1"/>
            </a:solidFill>
            <a:prstDash val="solid"/>
          </a:ln>
        </p:spPr>
      </p:sp>
      <p:sp>
        <p:nvSpPr>
          <p:cNvPr id="12" name="Text 10"/>
          <p:cNvSpPr txBox="1"/>
          <p:nvPr/>
        </p:nvSpPr>
        <p:spPr>
          <a:xfrm>
            <a:off x="548640" y="3072384"/>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3</a:t>
            </a:r>
            <a:endParaRPr lang="en-US" sz="1500" dirty="0"/>
          </a:p>
        </p:txBody>
      </p:sp>
      <p:sp>
        <p:nvSpPr>
          <p:cNvPr id="13" name="Text 11"/>
          <p:cNvSpPr txBox="1"/>
          <p:nvPr/>
        </p:nvSpPr>
        <p:spPr>
          <a:xfrm>
            <a:off x="1188720" y="3035808"/>
            <a:ext cx="5760720" cy="365760"/>
          </a:xfrm>
          <a:prstGeom prst="rect">
            <a:avLst/>
          </a:prstGeom>
          <a:noFill/>
          <a:ln/>
        </p:spPr>
        <p:txBody>
          <a:bodyPr wrap="square" lIns="0" tIns="0" rIns="0" bIns="0" rtlCol="0" anchor="t"/>
          <a:lstStyle/>
          <a:p>
            <a:pPr indent="0" marL="0">
              <a:buNone/>
            </a:pPr>
            <a:r>
              <a:rPr lang="en-US" sz="1700" b="1" dirty="0">
                <a:solidFill>
                  <a:schemeClr val="tx2"/>
                </a:solidFill>
              </a:rPr>
              <a:t>왜 이렇게 바꿨을까</a:t>
            </a:r>
            <a:endParaRPr lang="en-US" sz="1700" dirty="0"/>
          </a:p>
        </p:txBody>
      </p:sp>
      <p:sp>
        <p:nvSpPr>
          <p:cNvPr id="14" name="Text 12"/>
          <p:cNvSpPr txBox="1"/>
          <p:nvPr/>
        </p:nvSpPr>
        <p:spPr>
          <a:xfrm>
            <a:off x="1188720" y="3383280"/>
            <a:ext cx="5760720" cy="365760"/>
          </a:xfrm>
          <a:prstGeom prst="rect">
            <a:avLst/>
          </a:prstGeom>
          <a:noFill/>
          <a:ln/>
        </p:spPr>
        <p:txBody>
          <a:bodyPr wrap="square" lIns="0" tIns="0" rIns="0" bIns="0" rtlCol="0" anchor="t"/>
          <a:lstStyle/>
          <a:p>
            <a:pPr indent="0" marL="0">
              <a:buNone/>
            </a:pPr>
            <a:r>
              <a:rPr lang="en-US" sz="1350" dirty="0">
                <a:solidFill>
                  <a:srgbClr val="5A6B70"/>
                </a:solidFill>
              </a:rPr>
              <a:t>요청과 바뀐 코드를 근거로 · 팀 규칙과 직접 닿으면 "팀 규칙: …" 한 줄</a:t>
            </a:r>
            <a:endParaRPr lang="en-US" sz="1350" dirty="0"/>
          </a:p>
        </p:txBody>
      </p:sp>
      <p:sp>
        <p:nvSpPr>
          <p:cNvPr id="15" name="num-3"/>
          <p:cNvSpPr/>
          <p:nvPr/>
        </p:nvSpPr>
        <p:spPr>
          <a:xfrm>
            <a:off x="548640" y="3858768"/>
            <a:ext cx="457200" cy="457200"/>
          </a:xfrm>
          <a:prstGeom prst="ellipse">
            <a:avLst/>
          </a:prstGeom>
          <a:solidFill>
            <a:schemeClr val="accent1"/>
          </a:solidFill>
          <a:ln w="12700">
            <a:solidFill>
              <a:schemeClr val="accent1"/>
            </a:solidFill>
            <a:prstDash val="solid"/>
          </a:ln>
        </p:spPr>
      </p:sp>
      <p:sp>
        <p:nvSpPr>
          <p:cNvPr id="16" name="Text 14"/>
          <p:cNvSpPr txBox="1"/>
          <p:nvPr/>
        </p:nvSpPr>
        <p:spPr>
          <a:xfrm>
            <a:off x="548640" y="3858768"/>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4</a:t>
            </a:r>
            <a:endParaRPr lang="en-US" sz="1500" dirty="0"/>
          </a:p>
        </p:txBody>
      </p:sp>
      <p:sp>
        <p:nvSpPr>
          <p:cNvPr id="17" name="Text 15"/>
          <p:cNvSpPr txBox="1"/>
          <p:nvPr/>
        </p:nvSpPr>
        <p:spPr>
          <a:xfrm>
            <a:off x="1188720" y="3822192"/>
            <a:ext cx="5760720" cy="365760"/>
          </a:xfrm>
          <a:prstGeom prst="rect">
            <a:avLst/>
          </a:prstGeom>
          <a:noFill/>
          <a:ln/>
        </p:spPr>
        <p:txBody>
          <a:bodyPr wrap="square" lIns="0" tIns="0" rIns="0" bIns="0" rtlCol="0" anchor="t"/>
          <a:lstStyle/>
          <a:p>
            <a:pPr indent="0" marL="0">
              <a:buNone/>
            </a:pPr>
            <a:r>
              <a:rPr lang="en-US" sz="1700" b="1" dirty="0">
                <a:solidFill>
                  <a:schemeClr val="tx2"/>
                </a:solidFill>
              </a:rPr>
              <a:t>배울 개념</a:t>
            </a:r>
            <a:endParaRPr lang="en-US" sz="1700" dirty="0"/>
          </a:p>
        </p:txBody>
      </p:sp>
      <p:sp>
        <p:nvSpPr>
          <p:cNvPr id="18" name="Text 16"/>
          <p:cNvSpPr txBox="1"/>
          <p:nvPr/>
        </p:nvSpPr>
        <p:spPr>
          <a:xfrm>
            <a:off x="1188720" y="4169664"/>
            <a:ext cx="5760720" cy="365760"/>
          </a:xfrm>
          <a:prstGeom prst="rect">
            <a:avLst/>
          </a:prstGeom>
          <a:noFill/>
          <a:ln/>
        </p:spPr>
        <p:txBody>
          <a:bodyPr wrap="square" lIns="0" tIns="0" rIns="0" bIns="0" rtlCol="0" anchor="t"/>
          <a:lstStyle/>
          <a:p>
            <a:pPr indent="0" marL="0">
              <a:buNone/>
            </a:pPr>
            <a:r>
              <a:rPr lang="en-US" sz="1350" dirty="0">
                <a:solidFill>
                  <a:srgbClr val="5A6B70"/>
                </a:solidFill>
              </a:rPr>
              <a:t>1~3개, 쉬운 설명과 그 개념이 쓰인 코드 한 줄</a:t>
            </a:r>
            <a:endParaRPr lang="en-US" sz="1350" dirty="0"/>
          </a:p>
        </p:txBody>
      </p:sp>
      <p:sp>
        <p:nvSpPr>
          <p:cNvPr id="19" name="num-4"/>
          <p:cNvSpPr/>
          <p:nvPr/>
        </p:nvSpPr>
        <p:spPr>
          <a:xfrm>
            <a:off x="548640" y="4645152"/>
            <a:ext cx="457200" cy="457200"/>
          </a:xfrm>
          <a:prstGeom prst="ellipse">
            <a:avLst/>
          </a:prstGeom>
          <a:solidFill>
            <a:schemeClr val="accent2"/>
          </a:solidFill>
          <a:ln w="12700">
            <a:solidFill>
              <a:schemeClr val="accent2"/>
            </a:solidFill>
            <a:prstDash val="solid"/>
          </a:ln>
        </p:spPr>
      </p:sp>
      <p:sp>
        <p:nvSpPr>
          <p:cNvPr id="20" name="Text 18"/>
          <p:cNvSpPr txBox="1"/>
          <p:nvPr/>
        </p:nvSpPr>
        <p:spPr>
          <a:xfrm>
            <a:off x="548640" y="4645152"/>
            <a:ext cx="457200" cy="457200"/>
          </a:xfrm>
          <a:prstGeom prst="rect">
            <a:avLst/>
          </a:prstGeom>
          <a:noFill/>
          <a:ln/>
        </p:spPr>
        <p:txBody>
          <a:bodyPr wrap="square" lIns="0" tIns="0" rIns="0" bIns="0" rtlCol="0" anchor="ctr"/>
          <a:lstStyle/>
          <a:p>
            <a:pPr algn="ctr" indent="0" marL="0">
              <a:buNone/>
            </a:pPr>
            <a:r>
              <a:rPr lang="en-US" sz="1500" b="1" dirty="0">
                <a:solidFill>
                  <a:schemeClr val="bg1"/>
                </a:solidFill>
              </a:rPr>
              <a:t>5</a:t>
            </a:r>
            <a:endParaRPr lang="en-US" sz="1500" dirty="0"/>
          </a:p>
        </p:txBody>
      </p:sp>
      <p:sp>
        <p:nvSpPr>
          <p:cNvPr id="21" name="Text 19"/>
          <p:cNvSpPr txBox="1"/>
          <p:nvPr/>
        </p:nvSpPr>
        <p:spPr>
          <a:xfrm>
            <a:off x="1188720" y="4608576"/>
            <a:ext cx="5760720" cy="365760"/>
          </a:xfrm>
          <a:prstGeom prst="rect">
            <a:avLst/>
          </a:prstGeom>
          <a:noFill/>
          <a:ln/>
        </p:spPr>
        <p:txBody>
          <a:bodyPr wrap="square" lIns="0" tIns="0" rIns="0" bIns="0" rtlCol="0" anchor="t"/>
          <a:lstStyle/>
          <a:p>
            <a:pPr indent="0" marL="0">
              <a:buNone/>
            </a:pPr>
            <a:r>
              <a:rPr lang="en-US" sz="1700" b="1" dirty="0">
                <a:solidFill>
                  <a:schemeClr val="tx2"/>
                </a:solidFill>
              </a:rPr>
              <a:t>직접 해 보기</a:t>
            </a:r>
            <a:r>
              <a:rPr lang="en-US" sz="1100" b="1" dirty="0">
                <a:solidFill>
                  <a:srgbClr val="A8650B"/>
                </a:solidFill>
              </a:rPr>
              <a:t>   1.7.0</a:t>
            </a:r>
            <a:endParaRPr lang="en-US" sz="1700" dirty="0"/>
          </a:p>
        </p:txBody>
      </p:sp>
      <p:sp>
        <p:nvSpPr>
          <p:cNvPr id="22" name="Text 20"/>
          <p:cNvSpPr txBox="1"/>
          <p:nvPr/>
        </p:nvSpPr>
        <p:spPr>
          <a:xfrm>
            <a:off x="1188720" y="4956048"/>
            <a:ext cx="5760720" cy="365760"/>
          </a:xfrm>
          <a:prstGeom prst="rect">
            <a:avLst/>
          </a:prstGeom>
          <a:noFill/>
          <a:ln/>
        </p:spPr>
        <p:txBody>
          <a:bodyPr wrap="square" lIns="0" tIns="0" rIns="0" bIns="0" rtlCol="0" anchor="t"/>
          <a:lstStyle/>
          <a:p>
            <a:pPr indent="0" marL="0">
              <a:buNone/>
            </a:pPr>
            <a:r>
              <a:rPr lang="en-US" sz="1350" dirty="0">
                <a:solidFill>
                  <a:srgbClr val="5A6B70"/>
                </a:solidFill>
              </a:rPr>
              <a:t>할 일과 확인만 보입니다 · t를 누르면 내 코드 한 줄을 직접 고칩니다</a:t>
            </a:r>
            <a:endParaRPr lang="en-US" sz="1350" dirty="0"/>
          </a:p>
        </p:txBody>
      </p:sp>
      <p:sp>
        <p:nvSpPr>
          <p:cNvPr id="23" name="card"/>
          <p:cNvSpPr/>
          <p:nvPr/>
        </p:nvSpPr>
        <p:spPr>
          <a:xfrm>
            <a:off x="548640" y="5486400"/>
            <a:ext cx="6583680" cy="621792"/>
          </a:xfrm>
          <a:prstGeom prst="roundRect">
            <a:avLst>
              <a:gd name="adj" fmla="val 14706"/>
            </a:avLst>
          </a:prstGeom>
          <a:solidFill>
            <a:schemeClr val="bg2"/>
          </a:solidFill>
          <a:ln w="9525">
            <a:solidFill>
              <a:schemeClr val="bg2"/>
            </a:solidFill>
            <a:prstDash val="solid"/>
          </a:ln>
        </p:spPr>
      </p:sp>
      <p:sp>
        <p:nvSpPr>
          <p:cNvPr id="24" name="Text 22"/>
          <p:cNvSpPr txBox="1"/>
          <p:nvPr/>
        </p:nvSpPr>
        <p:spPr>
          <a:xfrm>
            <a:off x="777240" y="5486400"/>
            <a:ext cx="6309360" cy="621792"/>
          </a:xfrm>
          <a:prstGeom prst="rect">
            <a:avLst/>
          </a:prstGeom>
          <a:noFill/>
          <a:ln/>
        </p:spPr>
        <p:txBody>
          <a:bodyPr wrap="square" lIns="0" tIns="0" rIns="0" bIns="0" rtlCol="0" anchor="ctr"/>
          <a:lstStyle/>
          <a:p>
            <a:pPr indent="0" marL="0">
              <a:buNone/>
            </a:pPr>
            <a:r>
              <a:rPr lang="en-US" sz="1400" b="1" dirty="0">
                <a:solidFill>
                  <a:schemeClr val="accent1"/>
                </a:solidFill>
              </a:rPr>
              <a:t>새로 배운 개념</a:t>
            </a:r>
            <a:r>
              <a:rPr lang="en-US" sz="1400" dirty="0">
                <a:solidFill>
                  <a:schemeClr val="tx1"/>
                </a:solidFill>
              </a:rPr>
              <a:t>과 </a:t>
            </a:r>
            <a:r>
              <a:rPr lang="en-US" sz="1400" b="1" dirty="0">
                <a:solidFill>
                  <a:schemeClr val="accent3"/>
                </a:solidFill>
              </a:rPr>
              <a:t>다시 만난 개념</a:t>
            </a:r>
            <a:r>
              <a:rPr lang="en-US" sz="1400" dirty="0">
                <a:solidFill>
                  <a:schemeClr val="tx1"/>
                </a:solidFill>
              </a:rPr>
              <a:t>이 노트 아래에 나뉘어 나옵니다</a:t>
            </a:r>
            <a:endParaRPr lang="en-US" sz="1400" dirty="0"/>
          </a:p>
        </p:txBody>
      </p:sp>
      <p:pic>
        <p:nvPicPr>
          <p:cNvPr id="25" name="note-pane" descr="note-pane">    </p:cNvPr>
          <p:cNvPicPr>
            <a:picLocks noChangeAspect="1"/>
          </p:cNvPicPr>
          <p:nvPr/>
        </p:nvPicPr>
        <p:blipFill>
          <a:blip r:embed="rId1"/>
          <a:stretch>
            <a:fillRect/>
          </a:stretch>
        </p:blipFill>
        <p:spPr>
          <a:xfrm>
            <a:off x="7589520" y="1325880"/>
            <a:ext cx="4050792" cy="4800600"/>
          </a:xfrm>
          <a:prstGeom prst="rect">
            <a:avLst/>
          </a:prstGeom>
          <a:effectLst>
            <a:outerShdw sx="100000" sy="100000" kx="0" ky="0" algn="bl" rotWithShape="0" blurRad="1612900000" dist="483870000" dir="324000000000">
              <a:srgbClr val="0F3D3E">
                <a:alpha val="2800000000"/>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전/후는 바뀐 낱말까지, 보기는 숫자 1~4로</a:t>
            </a:r>
            <a:endParaRPr lang="en-US" sz="3000" dirty="0"/>
          </a:p>
        </p:txBody>
      </p:sp>
      <p:sp>
        <p:nvSpPr>
          <p:cNvPr id="3" name="view-1"/>
          <p:cNvSpPr/>
          <p:nvPr/>
        </p:nvSpPr>
        <p:spPr>
          <a:xfrm>
            <a:off x="548640" y="1417320"/>
            <a:ext cx="987552" cy="457200"/>
          </a:xfrm>
          <a:prstGeom prst="roundRect">
            <a:avLst>
              <a:gd name="adj" fmla="val 50000"/>
            </a:avLst>
          </a:prstGeom>
          <a:solidFill>
            <a:schemeClr val="bg2"/>
          </a:solidFill>
          <a:ln w="12700">
            <a:solidFill>
              <a:schemeClr val="bg2"/>
            </a:solidFill>
            <a:prstDash val="solid"/>
          </a:ln>
        </p:spPr>
      </p:sp>
      <p:sp>
        <p:nvSpPr>
          <p:cNvPr id="4" name="Text 2"/>
          <p:cNvSpPr txBox="1"/>
          <p:nvPr/>
        </p:nvSpPr>
        <p:spPr>
          <a:xfrm>
            <a:off x="548640" y="1417320"/>
            <a:ext cx="987552" cy="457200"/>
          </a:xfrm>
          <a:prstGeom prst="rect">
            <a:avLst/>
          </a:prstGeom>
          <a:noFill/>
          <a:ln/>
        </p:spPr>
        <p:txBody>
          <a:bodyPr wrap="square" lIns="0" tIns="0" rIns="0" bIns="0" rtlCol="0" anchor="ctr"/>
          <a:lstStyle/>
          <a:p>
            <a:pPr algn="ctr" indent="0" marL="0">
              <a:buNone/>
            </a:pPr>
            <a:r>
              <a:rPr lang="en-US" sz="1200" b="1" dirty="0">
                <a:solidFill>
                  <a:schemeClr val="tx2"/>
                </a:solidFill>
              </a:rPr>
              <a:t>1: 노트</a:t>
            </a:r>
            <a:endParaRPr lang="en-US" sz="1200" dirty="0"/>
          </a:p>
        </p:txBody>
      </p:sp>
      <p:sp>
        <p:nvSpPr>
          <p:cNvPr id="5" name="view-2"/>
          <p:cNvSpPr/>
          <p:nvPr/>
        </p:nvSpPr>
        <p:spPr>
          <a:xfrm>
            <a:off x="1609344" y="1417320"/>
            <a:ext cx="987552" cy="457200"/>
          </a:xfrm>
          <a:prstGeom prst="roundRect">
            <a:avLst>
              <a:gd name="adj" fmla="val 50000"/>
            </a:avLst>
          </a:prstGeom>
          <a:solidFill>
            <a:schemeClr val="tx2"/>
          </a:solidFill>
          <a:ln w="12700">
            <a:solidFill>
              <a:schemeClr val="tx2"/>
            </a:solidFill>
            <a:prstDash val="solid"/>
          </a:ln>
        </p:spPr>
      </p:sp>
      <p:sp>
        <p:nvSpPr>
          <p:cNvPr id="6" name="Text 4"/>
          <p:cNvSpPr txBox="1"/>
          <p:nvPr/>
        </p:nvSpPr>
        <p:spPr>
          <a:xfrm>
            <a:off x="1609344" y="1417320"/>
            <a:ext cx="987552" cy="457200"/>
          </a:xfrm>
          <a:prstGeom prst="rect">
            <a:avLst/>
          </a:prstGeom>
          <a:noFill/>
          <a:ln/>
        </p:spPr>
        <p:txBody>
          <a:bodyPr wrap="square" lIns="0" tIns="0" rIns="0" bIns="0" rtlCol="0" anchor="ctr"/>
          <a:lstStyle/>
          <a:p>
            <a:pPr algn="ctr" indent="0" marL="0">
              <a:buNone/>
            </a:pPr>
            <a:r>
              <a:rPr lang="en-US" sz="1200" b="1" dirty="0">
                <a:solidFill>
                  <a:schemeClr val="bg1"/>
                </a:solidFill>
              </a:rPr>
              <a:t>2: 전/후</a:t>
            </a:r>
            <a:endParaRPr lang="en-US" sz="1200" dirty="0"/>
          </a:p>
        </p:txBody>
      </p:sp>
      <p:sp>
        <p:nvSpPr>
          <p:cNvPr id="7" name="view-3"/>
          <p:cNvSpPr/>
          <p:nvPr/>
        </p:nvSpPr>
        <p:spPr>
          <a:xfrm>
            <a:off x="2670048" y="1417320"/>
            <a:ext cx="987552" cy="457200"/>
          </a:xfrm>
          <a:prstGeom prst="roundRect">
            <a:avLst>
              <a:gd name="adj" fmla="val 50000"/>
            </a:avLst>
          </a:prstGeom>
          <a:solidFill>
            <a:schemeClr val="bg2"/>
          </a:solidFill>
          <a:ln w="12700">
            <a:solidFill>
              <a:schemeClr val="bg2"/>
            </a:solidFill>
            <a:prstDash val="solid"/>
          </a:ln>
        </p:spPr>
      </p:sp>
      <p:sp>
        <p:nvSpPr>
          <p:cNvPr id="8" name="Text 6"/>
          <p:cNvSpPr txBox="1"/>
          <p:nvPr/>
        </p:nvSpPr>
        <p:spPr>
          <a:xfrm>
            <a:off x="2670048" y="1417320"/>
            <a:ext cx="987552" cy="457200"/>
          </a:xfrm>
          <a:prstGeom prst="rect">
            <a:avLst/>
          </a:prstGeom>
          <a:noFill/>
          <a:ln/>
        </p:spPr>
        <p:txBody>
          <a:bodyPr wrap="square" lIns="0" tIns="0" rIns="0" bIns="0" rtlCol="0" anchor="ctr"/>
          <a:lstStyle/>
          <a:p>
            <a:pPr algn="ctr" indent="0" marL="0">
              <a:buNone/>
            </a:pPr>
            <a:r>
              <a:rPr lang="en-US" sz="1200" b="1" dirty="0">
                <a:solidFill>
                  <a:schemeClr val="tx2"/>
                </a:solidFill>
              </a:rPr>
              <a:t>3: 개념 모음</a:t>
            </a:r>
            <a:endParaRPr lang="en-US" sz="1200" dirty="0"/>
          </a:p>
        </p:txBody>
      </p:sp>
      <p:sp>
        <p:nvSpPr>
          <p:cNvPr id="9" name="view-4"/>
          <p:cNvSpPr/>
          <p:nvPr/>
        </p:nvSpPr>
        <p:spPr>
          <a:xfrm>
            <a:off x="3730752" y="1417320"/>
            <a:ext cx="987552" cy="457200"/>
          </a:xfrm>
          <a:prstGeom prst="roundRect">
            <a:avLst>
              <a:gd name="adj" fmla="val 50000"/>
            </a:avLst>
          </a:prstGeom>
          <a:solidFill>
            <a:schemeClr val="bg2"/>
          </a:solidFill>
          <a:ln w="12700">
            <a:solidFill>
              <a:schemeClr val="bg2"/>
            </a:solidFill>
            <a:prstDash val="solid"/>
          </a:ln>
        </p:spPr>
      </p:sp>
      <p:sp>
        <p:nvSpPr>
          <p:cNvPr id="10" name="Text 8"/>
          <p:cNvSpPr txBox="1"/>
          <p:nvPr/>
        </p:nvSpPr>
        <p:spPr>
          <a:xfrm>
            <a:off x="3730752" y="1417320"/>
            <a:ext cx="987552" cy="457200"/>
          </a:xfrm>
          <a:prstGeom prst="rect">
            <a:avLst/>
          </a:prstGeom>
          <a:noFill/>
          <a:ln/>
        </p:spPr>
        <p:txBody>
          <a:bodyPr wrap="square" lIns="0" tIns="0" rIns="0" bIns="0" rtlCol="0" anchor="ctr"/>
          <a:lstStyle/>
          <a:p>
            <a:pPr algn="ctr" indent="0" marL="0">
              <a:buNone/>
            </a:pPr>
            <a:r>
              <a:rPr lang="en-US" sz="1200" b="1" dirty="0">
                <a:solidFill>
                  <a:schemeClr val="tx2"/>
                </a:solidFill>
              </a:rPr>
              <a:t>4: 퀴즈</a:t>
            </a:r>
            <a:endParaRPr lang="en-US" sz="1200" dirty="0"/>
          </a:p>
        </p:txBody>
      </p:sp>
      <p:sp>
        <p:nvSpPr>
          <p:cNvPr id="11" name="view-review"/>
          <p:cNvSpPr/>
          <p:nvPr/>
        </p:nvSpPr>
        <p:spPr>
          <a:xfrm>
            <a:off x="4846320" y="1417320"/>
            <a:ext cx="1280160" cy="457200"/>
          </a:xfrm>
          <a:prstGeom prst="roundRect">
            <a:avLst>
              <a:gd name="adj" fmla="val 50000"/>
            </a:avLst>
          </a:prstGeom>
          <a:solidFill>
            <a:srgbClr val="FDF3E2"/>
          </a:solidFill>
          <a:ln w="15875">
            <a:solidFill>
              <a:schemeClr val="accent2"/>
            </a:solidFill>
            <a:prstDash val="solid"/>
          </a:ln>
        </p:spPr>
      </p:sp>
      <p:sp>
        <p:nvSpPr>
          <p:cNvPr id="12" name="Text 10"/>
          <p:cNvSpPr txBox="1"/>
          <p:nvPr/>
        </p:nvSpPr>
        <p:spPr>
          <a:xfrm>
            <a:off x="4846320" y="1417320"/>
            <a:ext cx="1280160" cy="457200"/>
          </a:xfrm>
          <a:prstGeom prst="rect">
            <a:avLst/>
          </a:prstGeom>
          <a:noFill/>
          <a:ln/>
        </p:spPr>
        <p:txBody>
          <a:bodyPr wrap="square" lIns="0" tIns="0" rIns="0" bIns="0" rtlCol="0" anchor="ctr"/>
          <a:lstStyle/>
          <a:p>
            <a:pPr algn="ctr" indent="0" marL="0">
              <a:buNone/>
            </a:pPr>
            <a:r>
              <a:rPr lang="en-US" sz="1200" b="1" dirty="0">
                <a:solidFill>
                  <a:schemeClr val="accent2"/>
                </a:solidFill>
              </a:rPr>
              <a:t>● </a:t>
            </a:r>
            <a:r>
              <a:rPr lang="en-US" sz="1200" b="1" dirty="0">
                <a:solidFill>
                  <a:srgbClr val="A8650B"/>
                </a:solidFill>
              </a:rPr>
              <a:t>q: 복습 3개</a:t>
            </a:r>
            <a:endParaRPr lang="en-US" sz="1200" dirty="0"/>
          </a:p>
        </p:txBody>
      </p:sp>
      <p:sp>
        <p:nvSpPr>
          <p:cNvPr id="13" name="Text 11"/>
          <p:cNvSpPr txBox="1"/>
          <p:nvPr/>
        </p:nvSpPr>
        <p:spPr>
          <a:xfrm>
            <a:off x="548640" y="2103120"/>
            <a:ext cx="1097280" cy="402336"/>
          </a:xfrm>
          <a:prstGeom prst="rect">
            <a:avLst/>
          </a:prstGeom>
          <a:noFill/>
          <a:ln/>
        </p:spPr>
        <p:txBody>
          <a:bodyPr wrap="square" lIns="0" tIns="0" rIns="0" bIns="0" rtlCol="0" anchor="ctr"/>
          <a:lstStyle/>
          <a:p>
            <a:pPr indent="0" marL="0">
              <a:buNone/>
            </a:pPr>
            <a:r>
              <a:rPr lang="en-US" sz="1400" b="1" dirty="0">
                <a:solidFill>
                  <a:schemeClr val="accent4"/>
                </a:solidFill>
                <a:latin typeface="Courier New" pitchFamily="34" charset="0"/>
                <a:ea typeface="Courier New" pitchFamily="34" charset="-122"/>
                <a:cs typeface="Courier New" pitchFamily="34" charset="-120"/>
              </a:rPr>
              <a:t>−  +</a:t>
            </a:r>
            <a:endParaRPr lang="en-US" sz="1400" dirty="0"/>
          </a:p>
        </p:txBody>
      </p:sp>
      <p:sp>
        <p:nvSpPr>
          <p:cNvPr id="14" name="Text 12"/>
          <p:cNvSpPr txBox="1"/>
          <p:nvPr/>
        </p:nvSpPr>
        <p:spPr>
          <a:xfrm>
            <a:off x="1691640" y="2103120"/>
            <a:ext cx="4434840" cy="402336"/>
          </a:xfrm>
          <a:prstGeom prst="rect">
            <a:avLst/>
          </a:prstGeom>
          <a:noFill/>
          <a:ln/>
        </p:spPr>
        <p:txBody>
          <a:bodyPr wrap="square" lIns="0" tIns="0" rIns="0" bIns="0" rtlCol="0" anchor="ctr"/>
          <a:lstStyle/>
          <a:p>
            <a:pPr indent="0" marL="0">
              <a:buNone/>
            </a:pPr>
            <a:r>
              <a:rPr lang="en-US" sz="1400" dirty="0">
                <a:solidFill>
                  <a:schemeClr val="tx1"/>
                </a:solidFill>
              </a:rPr>
              <a:t>바뀐 줄 앞에 표시합니다. 바뀌지 않은 줄은 흐리게</a:t>
            </a:r>
            <a:endParaRPr lang="en-US" sz="1400" dirty="0"/>
          </a:p>
        </p:txBody>
      </p:sp>
      <p:sp>
        <p:nvSpPr>
          <p:cNvPr id="15" name="Text 13"/>
          <p:cNvSpPr txBox="1"/>
          <p:nvPr/>
        </p:nvSpPr>
        <p:spPr>
          <a:xfrm>
            <a:off x="548640" y="2578608"/>
            <a:ext cx="1097280" cy="402336"/>
          </a:xfrm>
          <a:prstGeom prst="rect">
            <a:avLst/>
          </a:prstGeom>
          <a:noFill/>
          <a:ln/>
        </p:spPr>
        <p:txBody>
          <a:bodyPr wrap="square" lIns="0" tIns="0" rIns="0" bIns="0" rtlCol="0" anchor="ctr"/>
          <a:lstStyle/>
          <a:p>
            <a:pPr indent="0" marL="0">
              <a:buNone/>
            </a:pPr>
            <a:r>
              <a:rPr lang="en-US" sz="1400" b="1" dirty="0">
                <a:solidFill>
                  <a:schemeClr val="accent1"/>
                </a:solidFill>
                <a:latin typeface="Courier New" pitchFamily="34" charset="0"/>
                <a:ea typeface="Courier New" pitchFamily="34" charset="-122"/>
                <a:cs typeface="Courier New" pitchFamily="34" charset="-120"/>
              </a:rPr>
              <a:t>굵게</a:t>
            </a:r>
            <a:endParaRPr lang="en-US" sz="1400" dirty="0"/>
          </a:p>
        </p:txBody>
      </p:sp>
      <p:sp>
        <p:nvSpPr>
          <p:cNvPr id="16" name="Text 14"/>
          <p:cNvSpPr txBox="1"/>
          <p:nvPr/>
        </p:nvSpPr>
        <p:spPr>
          <a:xfrm>
            <a:off x="1691640" y="2578608"/>
            <a:ext cx="4434840" cy="402336"/>
          </a:xfrm>
          <a:prstGeom prst="rect">
            <a:avLst/>
          </a:prstGeom>
          <a:noFill/>
          <a:ln/>
        </p:spPr>
        <p:txBody>
          <a:bodyPr wrap="square" lIns="0" tIns="0" rIns="0" bIns="0" rtlCol="0" anchor="ctr"/>
          <a:lstStyle/>
          <a:p>
            <a:pPr indent="0" marL="0">
              <a:buNone/>
            </a:pPr>
            <a:r>
              <a:rPr lang="en-US" sz="1400" dirty="0">
                <a:solidFill>
                  <a:schemeClr val="tx1"/>
                </a:solidFill>
              </a:rPr>
              <a:t>바뀐 낱말만 굵은 색으로 (var → let)</a:t>
            </a:r>
            <a:endParaRPr lang="en-US" sz="1400" dirty="0"/>
          </a:p>
        </p:txBody>
      </p:sp>
      <p:sp>
        <p:nvSpPr>
          <p:cNvPr id="17" name="Text 15"/>
          <p:cNvSpPr txBox="1"/>
          <p:nvPr/>
        </p:nvSpPr>
        <p:spPr>
          <a:xfrm>
            <a:off x="548640" y="3054096"/>
            <a:ext cx="1097280" cy="402336"/>
          </a:xfrm>
          <a:prstGeom prst="rect">
            <a:avLst/>
          </a:prstGeom>
          <a:noFill/>
          <a:ln/>
        </p:spPr>
        <p:txBody>
          <a:bodyPr wrap="square" lIns="0" tIns="0" rIns="0" bIns="0" rtlCol="0" anchor="ctr"/>
          <a:lstStyle/>
          <a:p>
            <a:pPr indent="0" marL="0">
              <a:buNone/>
            </a:pPr>
            <a:r>
              <a:rPr lang="en-US" sz="1400" b="1" dirty="0">
                <a:solidFill>
                  <a:schemeClr val="accent3"/>
                </a:solidFill>
                <a:latin typeface="Courier New" pitchFamily="34" charset="0"/>
                <a:ea typeface="Courier New" pitchFamily="34" charset="-122"/>
                <a:cs typeface="Courier New" pitchFamily="34" charset="-120"/>
              </a:rPr>
              <a:t>전 후 예</a:t>
            </a:r>
            <a:endParaRPr lang="en-US" sz="1400" dirty="0"/>
          </a:p>
        </p:txBody>
      </p:sp>
      <p:sp>
        <p:nvSpPr>
          <p:cNvPr id="18" name="Text 16"/>
          <p:cNvSpPr txBox="1"/>
          <p:nvPr/>
        </p:nvSpPr>
        <p:spPr>
          <a:xfrm>
            <a:off x="1691640" y="3054096"/>
            <a:ext cx="4434840" cy="402336"/>
          </a:xfrm>
          <a:prstGeom prst="rect">
            <a:avLst/>
          </a:prstGeom>
          <a:noFill/>
          <a:ln/>
        </p:spPr>
        <p:txBody>
          <a:bodyPr wrap="square" lIns="0" tIns="0" rIns="0" bIns="0" rtlCol="0" anchor="ctr"/>
          <a:lstStyle/>
          <a:p>
            <a:pPr indent="0" marL="0">
              <a:buNone/>
            </a:pPr>
            <a:r>
              <a:rPr lang="en-US" sz="1400" dirty="0">
                <a:solidFill>
                  <a:schemeClr val="tx1"/>
                </a:solidFill>
              </a:rPr>
              <a:t>맨 위에 노트의 전 · 후 · 예가 다시 나옵니다</a:t>
            </a:r>
            <a:endParaRPr lang="en-US" sz="1400" dirty="0"/>
          </a:p>
        </p:txBody>
      </p:sp>
      <p:sp>
        <p:nvSpPr>
          <p:cNvPr id="19" name="divider"/>
          <p:cNvSpPr/>
          <p:nvPr/>
        </p:nvSpPr>
        <p:spPr>
          <a:xfrm>
            <a:off x="548640" y="3611880"/>
            <a:ext cx="5577840" cy="0"/>
          </a:xfrm>
          <a:prstGeom prst="line">
            <a:avLst/>
          </a:prstGeom>
          <a:noFill/>
          <a:ln w="12700">
            <a:solidFill>
              <a:srgbClr val="D9E3DF"/>
            </a:solidFill>
            <a:prstDash val="solid"/>
          </a:ln>
        </p:spPr>
      </p:sp>
      <p:sp>
        <p:nvSpPr>
          <p:cNvPr id="20" name="key-1~4"/>
          <p:cNvSpPr/>
          <p:nvPr/>
        </p:nvSpPr>
        <p:spPr>
          <a:xfrm>
            <a:off x="548640" y="3749040"/>
            <a:ext cx="777240" cy="365760"/>
          </a:xfrm>
          <a:prstGeom prst="roundRect">
            <a:avLst>
              <a:gd name="adj" fmla="val 15000"/>
            </a:avLst>
          </a:prstGeom>
          <a:solidFill>
            <a:schemeClr val="bg1"/>
          </a:solidFill>
          <a:ln w="15875">
            <a:solidFill>
              <a:srgbClr val="B9C7C2"/>
            </a:solidFill>
            <a:prstDash val="solid"/>
          </a:ln>
        </p:spPr>
      </p:sp>
      <p:sp>
        <p:nvSpPr>
          <p:cNvPr id="21" name="Text 19"/>
          <p:cNvSpPr txBox="1"/>
          <p:nvPr/>
        </p:nvSpPr>
        <p:spPr>
          <a:xfrm>
            <a:off x="548640" y="3749040"/>
            <a:ext cx="777240" cy="365760"/>
          </a:xfrm>
          <a:prstGeom prst="rect">
            <a:avLst/>
          </a:prstGeom>
          <a:noFill/>
          <a:ln/>
        </p:spPr>
        <p:txBody>
          <a:bodyPr wrap="square" lIns="0" tIns="0" rIns="0" bIns="0" rtlCol="0" anchor="ctr"/>
          <a:lstStyle/>
          <a:p>
            <a:pPr algn="ctr" indent="0" marL="0">
              <a:buNone/>
            </a:pPr>
            <a:r>
              <a:rPr lang="en-US" sz="1250" b="1" dirty="0">
                <a:solidFill>
                  <a:schemeClr val="tx2"/>
                </a:solidFill>
                <a:latin typeface="Courier New" pitchFamily="34" charset="0"/>
                <a:ea typeface="Courier New" pitchFamily="34" charset="-122"/>
                <a:cs typeface="Courier New" pitchFamily="34" charset="-120"/>
              </a:rPr>
              <a:t>1~4</a:t>
            </a:r>
            <a:endParaRPr lang="en-US" sz="1250" dirty="0"/>
          </a:p>
        </p:txBody>
      </p:sp>
      <p:sp>
        <p:nvSpPr>
          <p:cNvPr id="22" name="Text 20"/>
          <p:cNvSpPr txBox="1"/>
          <p:nvPr/>
        </p:nvSpPr>
        <p:spPr>
          <a:xfrm>
            <a:off x="1508760" y="3749040"/>
            <a:ext cx="4617720" cy="365760"/>
          </a:xfrm>
          <a:prstGeom prst="rect">
            <a:avLst/>
          </a:prstGeom>
          <a:noFill/>
          <a:ln/>
        </p:spPr>
        <p:txBody>
          <a:bodyPr wrap="square" lIns="0" tIns="0" rIns="0" bIns="0" rtlCol="0" anchor="ctr"/>
          <a:lstStyle/>
          <a:p>
            <a:pPr indent="0" marL="0">
              <a:buNone/>
            </a:pPr>
            <a:r>
              <a:rPr lang="en-US" sz="1350" dirty="0">
                <a:solidFill>
                  <a:schemeClr val="tx1"/>
                </a:solidFill>
              </a:rPr>
              <a:t>보기 바꾸기 · 숫자는 한/영 상관없이 눌립니다</a:t>
            </a:r>
            <a:endParaRPr lang="en-US" sz="1350" dirty="0"/>
          </a:p>
        </p:txBody>
      </p:sp>
      <p:sp>
        <p:nvSpPr>
          <p:cNvPr id="23" name="key-q"/>
          <p:cNvSpPr/>
          <p:nvPr/>
        </p:nvSpPr>
        <p:spPr>
          <a:xfrm>
            <a:off x="548640" y="4206240"/>
            <a:ext cx="384048" cy="365760"/>
          </a:xfrm>
          <a:prstGeom prst="roundRect">
            <a:avLst>
              <a:gd name="adj" fmla="val 15000"/>
            </a:avLst>
          </a:prstGeom>
          <a:solidFill>
            <a:schemeClr val="bg1"/>
          </a:solidFill>
          <a:ln w="15875">
            <a:solidFill>
              <a:srgbClr val="B9C7C2"/>
            </a:solidFill>
            <a:prstDash val="solid"/>
          </a:ln>
        </p:spPr>
      </p:sp>
      <p:sp>
        <p:nvSpPr>
          <p:cNvPr id="24" name="Text 22"/>
          <p:cNvSpPr txBox="1"/>
          <p:nvPr/>
        </p:nvSpPr>
        <p:spPr>
          <a:xfrm>
            <a:off x="548640" y="4206240"/>
            <a:ext cx="384048" cy="365760"/>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q</a:t>
            </a:r>
            <a:endParaRPr lang="en-US" sz="1500" dirty="0"/>
          </a:p>
        </p:txBody>
      </p:sp>
      <p:sp>
        <p:nvSpPr>
          <p:cNvPr id="25" name="Text 23"/>
          <p:cNvSpPr txBox="1"/>
          <p:nvPr/>
        </p:nvSpPr>
        <p:spPr>
          <a:xfrm>
            <a:off x="1508760" y="4206240"/>
            <a:ext cx="4617720" cy="365760"/>
          </a:xfrm>
          <a:prstGeom prst="rect">
            <a:avLst/>
          </a:prstGeom>
          <a:noFill/>
          <a:ln/>
        </p:spPr>
        <p:txBody>
          <a:bodyPr wrap="square" lIns="0" tIns="0" rIns="0" bIns="0" rtlCol="0" anchor="ctr"/>
          <a:lstStyle/>
          <a:p>
            <a:pPr indent="0" marL="0">
              <a:buNone/>
            </a:pPr>
            <a:r>
              <a:rPr lang="en-US" sz="1350" dirty="0">
                <a:solidFill>
                  <a:schemeClr val="tx1"/>
                </a:solidFill>
              </a:rPr>
              <a:t>오늘 복습 바로 시작 (보기 줄 끝에 보일 때)</a:t>
            </a:r>
            <a:endParaRPr lang="en-US" sz="1350" dirty="0"/>
          </a:p>
        </p:txBody>
      </p:sp>
      <p:sp>
        <p:nvSpPr>
          <p:cNvPr id="26" name="key-p"/>
          <p:cNvSpPr/>
          <p:nvPr/>
        </p:nvSpPr>
        <p:spPr>
          <a:xfrm>
            <a:off x="548640" y="4663440"/>
            <a:ext cx="384048" cy="365760"/>
          </a:xfrm>
          <a:prstGeom prst="roundRect">
            <a:avLst>
              <a:gd name="adj" fmla="val 15000"/>
            </a:avLst>
          </a:prstGeom>
          <a:solidFill>
            <a:schemeClr val="bg1"/>
          </a:solidFill>
          <a:ln w="15875">
            <a:solidFill>
              <a:srgbClr val="B9C7C2"/>
            </a:solidFill>
            <a:prstDash val="solid"/>
          </a:ln>
        </p:spPr>
      </p:sp>
      <p:sp>
        <p:nvSpPr>
          <p:cNvPr id="27" name="Text 25"/>
          <p:cNvSpPr txBox="1"/>
          <p:nvPr/>
        </p:nvSpPr>
        <p:spPr>
          <a:xfrm>
            <a:off x="548640" y="4663440"/>
            <a:ext cx="384048" cy="365760"/>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p</a:t>
            </a:r>
            <a:endParaRPr lang="en-US" sz="1500" dirty="0"/>
          </a:p>
        </p:txBody>
      </p:sp>
      <p:sp>
        <p:nvSpPr>
          <p:cNvPr id="28" name="key-n"/>
          <p:cNvSpPr/>
          <p:nvPr/>
        </p:nvSpPr>
        <p:spPr>
          <a:xfrm>
            <a:off x="960120" y="4663440"/>
            <a:ext cx="384048" cy="365760"/>
          </a:xfrm>
          <a:prstGeom prst="roundRect">
            <a:avLst>
              <a:gd name="adj" fmla="val 15000"/>
            </a:avLst>
          </a:prstGeom>
          <a:solidFill>
            <a:schemeClr val="bg1"/>
          </a:solidFill>
          <a:ln w="15875">
            <a:solidFill>
              <a:srgbClr val="B9C7C2"/>
            </a:solidFill>
            <a:prstDash val="solid"/>
          </a:ln>
        </p:spPr>
      </p:sp>
      <p:sp>
        <p:nvSpPr>
          <p:cNvPr id="29" name="Text 27"/>
          <p:cNvSpPr txBox="1"/>
          <p:nvPr/>
        </p:nvSpPr>
        <p:spPr>
          <a:xfrm>
            <a:off x="960120" y="4663440"/>
            <a:ext cx="384048" cy="365760"/>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n</a:t>
            </a:r>
            <a:endParaRPr lang="en-US" sz="1500" dirty="0"/>
          </a:p>
        </p:txBody>
      </p:sp>
      <p:sp>
        <p:nvSpPr>
          <p:cNvPr id="30" name="Text 28"/>
          <p:cNvSpPr txBox="1"/>
          <p:nvPr/>
        </p:nvSpPr>
        <p:spPr>
          <a:xfrm>
            <a:off x="1508760" y="4663440"/>
            <a:ext cx="4617720" cy="365760"/>
          </a:xfrm>
          <a:prstGeom prst="rect">
            <a:avLst/>
          </a:prstGeom>
          <a:noFill/>
          <a:ln/>
        </p:spPr>
        <p:txBody>
          <a:bodyPr wrap="square" lIns="0" tIns="0" rIns="0" bIns="0" rtlCol="0" anchor="ctr"/>
          <a:lstStyle/>
          <a:p>
            <a:pPr indent="0" marL="0">
              <a:buNone/>
            </a:pPr>
            <a:r>
              <a:rPr lang="en-US" sz="1350" dirty="0">
                <a:solidFill>
                  <a:schemeClr val="tx1"/>
                </a:solidFill>
              </a:rPr>
              <a:t>이전 · 다음 노트 (지난 세션 노트까지)</a:t>
            </a:r>
            <a:endParaRPr lang="en-US" sz="1350" dirty="0"/>
          </a:p>
        </p:txBody>
      </p:sp>
      <p:sp>
        <p:nvSpPr>
          <p:cNvPr id="31" name="key-Esc"/>
          <p:cNvSpPr/>
          <p:nvPr/>
        </p:nvSpPr>
        <p:spPr>
          <a:xfrm>
            <a:off x="548640" y="5120640"/>
            <a:ext cx="777240" cy="365760"/>
          </a:xfrm>
          <a:prstGeom prst="roundRect">
            <a:avLst>
              <a:gd name="adj" fmla="val 15000"/>
            </a:avLst>
          </a:prstGeom>
          <a:solidFill>
            <a:schemeClr val="bg1"/>
          </a:solidFill>
          <a:ln w="15875">
            <a:solidFill>
              <a:srgbClr val="B9C7C2"/>
            </a:solidFill>
            <a:prstDash val="solid"/>
          </a:ln>
        </p:spPr>
      </p:sp>
      <p:sp>
        <p:nvSpPr>
          <p:cNvPr id="32" name="Text 30"/>
          <p:cNvSpPr txBox="1"/>
          <p:nvPr/>
        </p:nvSpPr>
        <p:spPr>
          <a:xfrm>
            <a:off x="548640" y="5120640"/>
            <a:ext cx="777240" cy="365760"/>
          </a:xfrm>
          <a:prstGeom prst="rect">
            <a:avLst/>
          </a:prstGeom>
          <a:noFill/>
          <a:ln/>
        </p:spPr>
        <p:txBody>
          <a:bodyPr wrap="square" lIns="0" tIns="0" rIns="0" bIns="0" rtlCol="0" anchor="ctr"/>
          <a:lstStyle/>
          <a:p>
            <a:pPr algn="ctr" indent="0" marL="0">
              <a:buNone/>
            </a:pPr>
            <a:r>
              <a:rPr lang="en-US" sz="1250" b="1" dirty="0">
                <a:solidFill>
                  <a:schemeClr val="tx2"/>
                </a:solidFill>
                <a:latin typeface="Courier New" pitchFamily="34" charset="0"/>
                <a:ea typeface="Courier New" pitchFamily="34" charset="-122"/>
                <a:cs typeface="Courier New" pitchFamily="34" charset="-120"/>
              </a:rPr>
              <a:t>Esc</a:t>
            </a:r>
            <a:endParaRPr lang="en-US" sz="1250" dirty="0"/>
          </a:p>
        </p:txBody>
      </p:sp>
      <p:sp>
        <p:nvSpPr>
          <p:cNvPr id="33" name="Text 31"/>
          <p:cNvSpPr txBox="1"/>
          <p:nvPr/>
        </p:nvSpPr>
        <p:spPr>
          <a:xfrm>
            <a:off x="1508760" y="5120640"/>
            <a:ext cx="4617720" cy="365760"/>
          </a:xfrm>
          <a:prstGeom prst="rect">
            <a:avLst/>
          </a:prstGeom>
          <a:noFill/>
          <a:ln/>
        </p:spPr>
        <p:txBody>
          <a:bodyPr wrap="square" lIns="0" tIns="0" rIns="0" bIns="0" rtlCol="0" anchor="ctr"/>
          <a:lstStyle/>
          <a:p>
            <a:pPr indent="0" marL="0">
              <a:buNone/>
            </a:pPr>
            <a:r>
              <a:rPr lang="en-US" sz="1350" dirty="0">
                <a:solidFill>
                  <a:schemeClr val="tx1"/>
                </a:solidFill>
              </a:rPr>
              <a:t>대화 입력칸으로 돌아가기 · 패널은 그대로</a:t>
            </a:r>
            <a:endParaRPr lang="en-US" sz="1350" dirty="0"/>
          </a:p>
        </p:txBody>
      </p:sp>
      <p:sp>
        <p:nvSpPr>
          <p:cNvPr id="34" name="card"/>
          <p:cNvSpPr/>
          <p:nvPr/>
        </p:nvSpPr>
        <p:spPr>
          <a:xfrm>
            <a:off x="548640" y="5623560"/>
            <a:ext cx="5577840" cy="502920"/>
          </a:xfrm>
          <a:prstGeom prst="roundRect">
            <a:avLst>
              <a:gd name="adj" fmla="val 18182"/>
            </a:avLst>
          </a:prstGeom>
          <a:solidFill>
            <a:schemeClr val="bg2"/>
          </a:solidFill>
          <a:ln w="9525">
            <a:solidFill>
              <a:schemeClr val="bg2"/>
            </a:solidFill>
            <a:prstDash val="solid"/>
          </a:ln>
        </p:spPr>
      </p:sp>
      <p:sp>
        <p:nvSpPr>
          <p:cNvPr id="35" name="Text 33"/>
          <p:cNvSpPr txBox="1"/>
          <p:nvPr/>
        </p:nvSpPr>
        <p:spPr>
          <a:xfrm>
            <a:off x="731520" y="5623560"/>
            <a:ext cx="5303520" cy="502920"/>
          </a:xfrm>
          <a:prstGeom prst="rect">
            <a:avLst/>
          </a:prstGeom>
          <a:noFill/>
          <a:ln/>
        </p:spPr>
        <p:txBody>
          <a:bodyPr wrap="square" lIns="0" tIns="0" rIns="0" bIns="0" rtlCol="0" anchor="ctr"/>
          <a:lstStyle/>
          <a:p>
            <a:pPr indent="0" marL="0">
              <a:buNone/>
            </a:pPr>
            <a:r>
              <a:rPr lang="en-US" sz="1300" b="1" dirty="0">
                <a:solidFill>
                  <a:schemeClr val="accent1"/>
                </a:solidFill>
                <a:latin typeface="Courier New" pitchFamily="34" charset="0"/>
                <a:ea typeface="Courier New" pitchFamily="34" charset="-122"/>
                <a:cs typeface="Courier New" pitchFamily="34" charset="-120"/>
              </a:rPr>
              <a:t>/learn</a:t>
            </a:r>
            <a:r>
              <a:rPr lang="en-US" sz="1300" dirty="0">
                <a:solidFill>
                  <a:schemeClr val="tx1"/>
                </a:solidFill>
              </a:rPr>
              <a:t> 복습으로 오늘 복습 바로 시작. 글자 키는 영문 상태에서.</a:t>
            </a:r>
            <a:endParaRPr lang="en-US" sz="1300" dirty="0"/>
          </a:p>
        </p:txBody>
      </p:sp>
      <p:pic>
        <p:nvPicPr>
          <p:cNvPr id="36" name="split-pane" descr="split-pane">    </p:cNvPr>
          <p:cNvPicPr>
            <a:picLocks noChangeAspect="1"/>
          </p:cNvPicPr>
          <p:nvPr/>
        </p:nvPicPr>
        <p:blipFill>
          <a:blip r:embed="rId1"/>
          <a:stretch>
            <a:fillRect/>
          </a:stretch>
        </p:blipFill>
        <p:spPr>
          <a:xfrm>
            <a:off x="7208314" y="1325880"/>
            <a:ext cx="4431998" cy="4800600"/>
          </a:xfrm>
          <a:prstGeom prst="rect">
            <a:avLst/>
          </a:prstGeom>
          <a:effectLst>
            <a:outerShdw sx="100000" sy="100000" kx="0" ky="0" algn="bl" rotWithShape="0" blurRad="20483830000000" dist="6145149000000" dir="19440000000000000">
              <a:srgbClr val="0F3D3E">
                <a:alpha val="280000000000000"/>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노트에서 바로 — 고쳐 보고, 묻고, 복사하기</a:t>
            </a:r>
            <a:endParaRPr lang="en-US" sz="3000" dirty="0"/>
          </a:p>
        </p:txBody>
      </p:sp>
      <p:sp>
        <p:nvSpPr>
          <p:cNvPr id="3" name="tool-t"/>
          <p:cNvSpPr/>
          <p:nvPr/>
        </p:nvSpPr>
        <p:spPr>
          <a:xfrm>
            <a:off x="548640" y="1371600"/>
            <a:ext cx="585216" cy="585216"/>
          </a:xfrm>
          <a:prstGeom prst="roundRect">
            <a:avLst>
              <a:gd name="adj" fmla="val 18750"/>
            </a:avLst>
          </a:prstGeom>
          <a:solidFill>
            <a:schemeClr val="accent2"/>
          </a:solidFill>
          <a:ln w="12700">
            <a:solidFill>
              <a:schemeClr val="accent2"/>
            </a:solidFill>
            <a:prstDash val="solid"/>
          </a:ln>
        </p:spPr>
      </p:sp>
      <p:sp>
        <p:nvSpPr>
          <p:cNvPr id="4" name="Text 2"/>
          <p:cNvSpPr txBox="1"/>
          <p:nvPr/>
        </p:nvSpPr>
        <p:spPr>
          <a:xfrm>
            <a:off x="548640" y="1371600"/>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t</a:t>
            </a:r>
            <a:endParaRPr lang="en-US" sz="2200" dirty="0"/>
          </a:p>
        </p:txBody>
      </p:sp>
      <p:sp>
        <p:nvSpPr>
          <p:cNvPr id="5" name="Text 3"/>
          <p:cNvSpPr txBox="1"/>
          <p:nvPr/>
        </p:nvSpPr>
        <p:spPr>
          <a:xfrm>
            <a:off x="1325880" y="1325880"/>
            <a:ext cx="4754880" cy="347472"/>
          </a:xfrm>
          <a:prstGeom prst="rect">
            <a:avLst/>
          </a:prstGeom>
          <a:noFill/>
          <a:ln/>
        </p:spPr>
        <p:txBody>
          <a:bodyPr wrap="square" lIns="0" tIns="0" rIns="0" bIns="0" rtlCol="0" anchor="t"/>
          <a:lstStyle/>
          <a:p>
            <a:pPr indent="0" marL="0">
              <a:buNone/>
            </a:pPr>
            <a:r>
              <a:rPr lang="en-US" sz="1650" b="1" dirty="0">
                <a:solidFill>
                  <a:schemeClr val="tx2"/>
                </a:solidFill>
              </a:rPr>
              <a:t>직접 해 보기</a:t>
            </a:r>
            <a:endParaRPr lang="en-US" sz="1650" dirty="0"/>
          </a:p>
        </p:txBody>
      </p:sp>
      <p:sp>
        <p:nvSpPr>
          <p:cNvPr id="6" name="Text 4"/>
          <p:cNvSpPr txBox="1"/>
          <p:nvPr/>
        </p:nvSpPr>
        <p:spPr>
          <a:xfrm>
            <a:off x="1325880" y="1664208"/>
            <a:ext cx="4754880" cy="365760"/>
          </a:xfrm>
          <a:prstGeom prst="rect">
            <a:avLst/>
          </a:prstGeom>
          <a:noFill/>
          <a:ln/>
        </p:spPr>
        <p:txBody>
          <a:bodyPr wrap="square" lIns="0" tIns="0" rIns="0" bIns="0" rtlCol="0" anchor="t"/>
          <a:lstStyle/>
          <a:p>
            <a:pPr indent="0" marL="0">
              <a:buNone/>
            </a:pPr>
            <a:r>
              <a:rPr lang="en-US" sz="1350" dirty="0">
                <a:solidFill>
                  <a:schemeClr val="tx1"/>
                </a:solidFill>
              </a:rPr>
              <a:t>노트의 한 줄을 패널에서 직접 고쳐 봅니다 (다음 장)</a:t>
            </a:r>
            <a:endParaRPr lang="en-US" sz="1350" dirty="0"/>
          </a:p>
        </p:txBody>
      </p:sp>
      <p:sp>
        <p:nvSpPr>
          <p:cNvPr id="7" name="tool-e"/>
          <p:cNvSpPr/>
          <p:nvPr/>
        </p:nvSpPr>
        <p:spPr>
          <a:xfrm>
            <a:off x="548640" y="2139696"/>
            <a:ext cx="585216" cy="585216"/>
          </a:xfrm>
          <a:prstGeom prst="roundRect">
            <a:avLst>
              <a:gd name="adj" fmla="val 18750"/>
            </a:avLst>
          </a:prstGeom>
          <a:solidFill>
            <a:schemeClr val="accent1"/>
          </a:solidFill>
          <a:ln w="12700">
            <a:solidFill>
              <a:schemeClr val="accent1"/>
            </a:solidFill>
            <a:prstDash val="solid"/>
          </a:ln>
        </p:spPr>
      </p:sp>
      <p:sp>
        <p:nvSpPr>
          <p:cNvPr id="8" name="Text 6"/>
          <p:cNvSpPr txBox="1"/>
          <p:nvPr/>
        </p:nvSpPr>
        <p:spPr>
          <a:xfrm>
            <a:off x="548640" y="2139696"/>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e</a:t>
            </a:r>
            <a:endParaRPr lang="en-US" sz="2200" dirty="0"/>
          </a:p>
        </p:txBody>
      </p:sp>
      <p:sp>
        <p:nvSpPr>
          <p:cNvPr id="9" name="Text 7"/>
          <p:cNvSpPr txBox="1"/>
          <p:nvPr/>
        </p:nvSpPr>
        <p:spPr>
          <a:xfrm>
            <a:off x="1325880" y="2093976"/>
            <a:ext cx="4754880" cy="347472"/>
          </a:xfrm>
          <a:prstGeom prst="rect">
            <a:avLst/>
          </a:prstGeom>
          <a:noFill/>
          <a:ln/>
        </p:spPr>
        <p:txBody>
          <a:bodyPr wrap="square" lIns="0" tIns="0" rIns="0" bIns="0" rtlCol="0" anchor="t"/>
          <a:lstStyle/>
          <a:p>
            <a:pPr indent="0" marL="0">
              <a:buNone/>
            </a:pPr>
            <a:r>
              <a:rPr lang="en-US" sz="1650" b="1" dirty="0">
                <a:solidFill>
                  <a:schemeClr val="tx2"/>
                </a:solidFill>
              </a:rPr>
              <a:t>더 쉽게</a:t>
            </a:r>
            <a:endParaRPr lang="en-US" sz="1650" dirty="0"/>
          </a:p>
        </p:txBody>
      </p:sp>
      <p:sp>
        <p:nvSpPr>
          <p:cNvPr id="10" name="Text 8"/>
          <p:cNvSpPr txBox="1"/>
          <p:nvPr/>
        </p:nvSpPr>
        <p:spPr>
          <a:xfrm>
            <a:off x="1325880" y="2432304"/>
            <a:ext cx="4754880" cy="365760"/>
          </a:xfrm>
          <a:prstGeom prst="rect">
            <a:avLst/>
          </a:prstGeom>
          <a:noFill/>
          <a:ln/>
        </p:spPr>
        <p:txBody>
          <a:bodyPr wrap="square" lIns="0" tIns="0" rIns="0" bIns="0" rtlCol="0" anchor="t"/>
          <a:lstStyle/>
          <a:p>
            <a:pPr indent="0" marL="0">
              <a:buNone/>
            </a:pPr>
            <a:r>
              <a:rPr lang="en-US" sz="1350" dirty="0">
                <a:solidFill>
                  <a:schemeClr val="tx1"/>
                </a:solidFill>
              </a:rPr>
              <a:t>노트는 그대로, 아래에 ▶ 더 쉽게를 덧붙입니다</a:t>
            </a:r>
            <a:endParaRPr lang="en-US" sz="1350" dirty="0"/>
          </a:p>
        </p:txBody>
      </p:sp>
      <p:sp>
        <p:nvSpPr>
          <p:cNvPr id="11" name="tool-r"/>
          <p:cNvSpPr/>
          <p:nvPr/>
        </p:nvSpPr>
        <p:spPr>
          <a:xfrm>
            <a:off x="548640" y="2907792"/>
            <a:ext cx="585216" cy="585216"/>
          </a:xfrm>
          <a:prstGeom prst="roundRect">
            <a:avLst>
              <a:gd name="adj" fmla="val 18750"/>
            </a:avLst>
          </a:prstGeom>
          <a:solidFill>
            <a:schemeClr val="accent5"/>
          </a:solidFill>
          <a:ln w="12700">
            <a:solidFill>
              <a:schemeClr val="accent5"/>
            </a:solidFill>
            <a:prstDash val="solid"/>
          </a:ln>
        </p:spPr>
      </p:sp>
      <p:sp>
        <p:nvSpPr>
          <p:cNvPr id="12" name="Text 10"/>
          <p:cNvSpPr txBox="1"/>
          <p:nvPr/>
        </p:nvSpPr>
        <p:spPr>
          <a:xfrm>
            <a:off x="548640" y="2907792"/>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r</a:t>
            </a:r>
            <a:endParaRPr lang="en-US" sz="2200" dirty="0"/>
          </a:p>
        </p:txBody>
      </p:sp>
      <p:sp>
        <p:nvSpPr>
          <p:cNvPr id="13" name="Text 11"/>
          <p:cNvSpPr txBox="1"/>
          <p:nvPr/>
        </p:nvSpPr>
        <p:spPr>
          <a:xfrm>
            <a:off x="1325880" y="2862072"/>
            <a:ext cx="4754880" cy="347472"/>
          </a:xfrm>
          <a:prstGeom prst="rect">
            <a:avLst/>
          </a:prstGeom>
          <a:noFill/>
          <a:ln/>
        </p:spPr>
        <p:txBody>
          <a:bodyPr wrap="square" lIns="0" tIns="0" rIns="0" bIns="0" rtlCol="0" anchor="t"/>
          <a:lstStyle/>
          <a:p>
            <a:pPr indent="0" marL="0">
              <a:buNone/>
            </a:pPr>
            <a:r>
              <a:rPr lang="en-US" sz="1650" b="1" dirty="0">
                <a:solidFill>
                  <a:schemeClr val="tx2"/>
                </a:solidFill>
              </a:rPr>
              <a:t>예시로 따라가기</a:t>
            </a:r>
            <a:endParaRPr lang="en-US" sz="1650" dirty="0"/>
          </a:p>
        </p:txBody>
      </p:sp>
      <p:sp>
        <p:nvSpPr>
          <p:cNvPr id="14" name="Text 12"/>
          <p:cNvSpPr txBox="1"/>
          <p:nvPr/>
        </p:nvSpPr>
        <p:spPr>
          <a:xfrm>
            <a:off x="1325880" y="3200400"/>
            <a:ext cx="4754880" cy="365760"/>
          </a:xfrm>
          <a:prstGeom prst="rect">
            <a:avLst/>
          </a:prstGeom>
          <a:noFill/>
          <a:ln/>
        </p:spPr>
        <p:txBody>
          <a:bodyPr wrap="square" lIns="0" tIns="0" rIns="0" bIns="0" rtlCol="0" anchor="t"/>
          <a:lstStyle/>
          <a:p>
            <a:pPr indent="0" marL="0">
              <a:buNone/>
            </a:pPr>
            <a:r>
              <a:rPr lang="en-US" sz="1350" dirty="0">
                <a:solidFill>
                  <a:schemeClr val="tx1"/>
                </a:solidFill>
              </a:rPr>
              <a:t>예시 입력 하나로 바뀐 코드를 한 단계씩, 변수 값과 함께</a:t>
            </a:r>
            <a:endParaRPr lang="en-US" sz="1350" dirty="0"/>
          </a:p>
        </p:txBody>
      </p:sp>
      <p:sp>
        <p:nvSpPr>
          <p:cNvPr id="15" name="tool-i"/>
          <p:cNvSpPr/>
          <p:nvPr/>
        </p:nvSpPr>
        <p:spPr>
          <a:xfrm>
            <a:off x="548640" y="3675888"/>
            <a:ext cx="585216" cy="585216"/>
          </a:xfrm>
          <a:prstGeom prst="roundRect">
            <a:avLst>
              <a:gd name="adj" fmla="val 18750"/>
            </a:avLst>
          </a:prstGeom>
          <a:solidFill>
            <a:schemeClr val="accent3"/>
          </a:solidFill>
          <a:ln w="12700">
            <a:solidFill>
              <a:schemeClr val="accent3"/>
            </a:solidFill>
            <a:prstDash val="solid"/>
          </a:ln>
        </p:spPr>
      </p:sp>
      <p:sp>
        <p:nvSpPr>
          <p:cNvPr id="16" name="Text 14"/>
          <p:cNvSpPr txBox="1"/>
          <p:nvPr/>
        </p:nvSpPr>
        <p:spPr>
          <a:xfrm>
            <a:off x="548640" y="3675888"/>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i</a:t>
            </a:r>
            <a:endParaRPr lang="en-US" sz="2200" dirty="0"/>
          </a:p>
        </p:txBody>
      </p:sp>
      <p:sp>
        <p:nvSpPr>
          <p:cNvPr id="17" name="Text 15"/>
          <p:cNvSpPr txBox="1"/>
          <p:nvPr/>
        </p:nvSpPr>
        <p:spPr>
          <a:xfrm>
            <a:off x="1325880" y="3630168"/>
            <a:ext cx="4754880" cy="347472"/>
          </a:xfrm>
          <a:prstGeom prst="rect">
            <a:avLst/>
          </a:prstGeom>
          <a:noFill/>
          <a:ln/>
        </p:spPr>
        <p:txBody>
          <a:bodyPr wrap="square" lIns="0" tIns="0" rIns="0" bIns="0" rtlCol="0" anchor="t"/>
          <a:lstStyle/>
          <a:p>
            <a:pPr indent="0" marL="0">
              <a:buNone/>
            </a:pPr>
            <a:r>
              <a:rPr lang="en-US" sz="1650" b="1" dirty="0">
                <a:solidFill>
                  <a:schemeClr val="tx2"/>
                </a:solidFill>
              </a:rPr>
              <a:t>질문하기</a:t>
            </a:r>
            <a:endParaRPr lang="en-US" sz="1650" dirty="0"/>
          </a:p>
        </p:txBody>
      </p:sp>
      <p:sp>
        <p:nvSpPr>
          <p:cNvPr id="18" name="Text 16"/>
          <p:cNvSpPr txBox="1"/>
          <p:nvPr/>
        </p:nvSpPr>
        <p:spPr>
          <a:xfrm>
            <a:off x="1325880" y="3968496"/>
            <a:ext cx="4754880" cy="365760"/>
          </a:xfrm>
          <a:prstGeom prst="rect">
            <a:avLst/>
          </a:prstGeom>
          <a:noFill/>
          <a:ln/>
        </p:spPr>
        <p:txBody>
          <a:bodyPr wrap="square" lIns="0" tIns="0" rIns="0" bIns="0" rtlCol="0" anchor="t"/>
          <a:lstStyle/>
          <a:p>
            <a:pPr indent="0" marL="0">
              <a:buNone/>
            </a:pPr>
            <a:r>
              <a:rPr lang="en-US" sz="1350" dirty="0">
                <a:solidFill>
                  <a:schemeClr val="tx1"/>
                </a:solidFill>
              </a:rPr>
              <a:t>질문칸에 적고 Enter. 이어서 물어도 됩니다</a:t>
            </a:r>
            <a:endParaRPr lang="en-US" sz="1350" dirty="0"/>
          </a:p>
        </p:txBody>
      </p:sp>
      <p:sp>
        <p:nvSpPr>
          <p:cNvPr id="19" name="tool-c"/>
          <p:cNvSpPr/>
          <p:nvPr/>
        </p:nvSpPr>
        <p:spPr>
          <a:xfrm>
            <a:off x="548640" y="4443984"/>
            <a:ext cx="585216" cy="585216"/>
          </a:xfrm>
          <a:prstGeom prst="roundRect">
            <a:avLst>
              <a:gd name="adj" fmla="val 18750"/>
            </a:avLst>
          </a:prstGeom>
          <a:solidFill>
            <a:schemeClr val="tx2"/>
          </a:solidFill>
          <a:ln w="12700">
            <a:solidFill>
              <a:schemeClr val="tx2"/>
            </a:solidFill>
            <a:prstDash val="solid"/>
          </a:ln>
        </p:spPr>
      </p:sp>
      <p:sp>
        <p:nvSpPr>
          <p:cNvPr id="20" name="Text 18"/>
          <p:cNvSpPr txBox="1"/>
          <p:nvPr/>
        </p:nvSpPr>
        <p:spPr>
          <a:xfrm>
            <a:off x="548640" y="4443984"/>
            <a:ext cx="585216" cy="585216"/>
          </a:xfrm>
          <a:prstGeom prst="rect">
            <a:avLst/>
          </a:prstGeom>
          <a:noFill/>
          <a:ln/>
        </p:spPr>
        <p:txBody>
          <a:bodyPr wrap="square" lIns="0" tIns="0" rIns="0" bIns="0" rtlCol="0" anchor="ctr"/>
          <a:lstStyle/>
          <a:p>
            <a:pPr algn="ctr" indent="0" marL="0">
              <a:buNone/>
            </a:pPr>
            <a:r>
              <a:rPr lang="en-US" sz="2200" b="1" dirty="0">
                <a:solidFill>
                  <a:schemeClr val="bg1"/>
                </a:solidFill>
                <a:latin typeface="Courier New" pitchFamily="34" charset="0"/>
                <a:ea typeface="Courier New" pitchFamily="34" charset="-122"/>
                <a:cs typeface="Courier New" pitchFamily="34" charset="-120"/>
              </a:rPr>
              <a:t>c</a:t>
            </a:r>
            <a:endParaRPr lang="en-US" sz="2200" dirty="0"/>
          </a:p>
        </p:txBody>
      </p:sp>
      <p:sp>
        <p:nvSpPr>
          <p:cNvPr id="21" name="Text 19"/>
          <p:cNvSpPr txBox="1"/>
          <p:nvPr/>
        </p:nvSpPr>
        <p:spPr>
          <a:xfrm>
            <a:off x="1325880" y="4398264"/>
            <a:ext cx="4754880" cy="347472"/>
          </a:xfrm>
          <a:prstGeom prst="rect">
            <a:avLst/>
          </a:prstGeom>
          <a:noFill/>
          <a:ln/>
        </p:spPr>
        <p:txBody>
          <a:bodyPr wrap="square" lIns="0" tIns="0" rIns="0" bIns="0" rtlCol="0" anchor="t"/>
          <a:lstStyle/>
          <a:p>
            <a:pPr indent="0" marL="0">
              <a:buNone/>
            </a:pPr>
            <a:r>
              <a:rPr lang="en-US" sz="1650" b="1" dirty="0">
                <a:solidFill>
                  <a:schemeClr val="tx2"/>
                </a:solidFill>
              </a:rPr>
              <a:t>복사</a:t>
            </a:r>
            <a:endParaRPr lang="en-US" sz="1650" dirty="0"/>
          </a:p>
        </p:txBody>
      </p:sp>
      <p:sp>
        <p:nvSpPr>
          <p:cNvPr id="22" name="Text 20"/>
          <p:cNvSpPr txBox="1"/>
          <p:nvPr/>
        </p:nvSpPr>
        <p:spPr>
          <a:xfrm>
            <a:off x="1325880" y="4736592"/>
            <a:ext cx="4754880" cy="365760"/>
          </a:xfrm>
          <a:prstGeom prst="rect">
            <a:avLst/>
          </a:prstGeom>
          <a:noFill/>
          <a:ln/>
        </p:spPr>
        <p:txBody>
          <a:bodyPr wrap="square" lIns="0" tIns="0" rIns="0" bIns="0" rtlCol="0" anchor="t"/>
          <a:lstStyle/>
          <a:p>
            <a:pPr indent="0" marL="0">
              <a:buNone/>
            </a:pPr>
            <a:r>
              <a:rPr lang="en-US" sz="1350" dirty="0">
                <a:solidFill>
                  <a:schemeClr val="tx1"/>
                </a:solidFill>
              </a:rPr>
              <a:t>요청은 빼고 경로는 줄인 노트를 복사해 멘토에게 묻기</a:t>
            </a:r>
            <a:endParaRPr lang="en-US" sz="1350" dirty="0"/>
          </a:p>
        </p:txBody>
      </p:sp>
      <p:sp>
        <p:nvSpPr>
          <p:cNvPr id="23" name="card"/>
          <p:cNvSpPr/>
          <p:nvPr/>
        </p:nvSpPr>
        <p:spPr>
          <a:xfrm>
            <a:off x="548640" y="5303520"/>
            <a:ext cx="5532120" cy="804672"/>
          </a:xfrm>
          <a:prstGeom prst="roundRect">
            <a:avLst>
              <a:gd name="adj" fmla="val 11364"/>
            </a:avLst>
          </a:prstGeom>
          <a:solidFill>
            <a:srgbClr val="FDF3E2"/>
          </a:solidFill>
          <a:ln w="9525">
            <a:solidFill>
              <a:srgbClr val="FDF3E2"/>
            </a:solidFill>
            <a:prstDash val="solid"/>
          </a:ln>
        </p:spPr>
      </p:sp>
      <p:sp>
        <p:nvSpPr>
          <p:cNvPr id="24" name="Text 22"/>
          <p:cNvSpPr txBox="1"/>
          <p:nvPr/>
        </p:nvSpPr>
        <p:spPr>
          <a:xfrm>
            <a:off x="777240" y="5303520"/>
            <a:ext cx="5120640" cy="804672"/>
          </a:xfrm>
          <a:prstGeom prst="rect">
            <a:avLst/>
          </a:prstGeom>
          <a:noFill/>
          <a:ln/>
        </p:spPr>
        <p:txBody>
          <a:bodyPr wrap="square" lIns="0" tIns="0" rIns="0" bIns="0" rtlCol="0" anchor="ctr"/>
          <a:lstStyle/>
          <a:p>
            <a:pPr indent="0" marL="0">
              <a:buNone/>
            </a:pPr>
            <a:r>
              <a:rPr lang="en-US" sz="1300" b="1" dirty="0">
                <a:solidFill>
                  <a:srgbClr val="A8650B"/>
                </a:solidFill>
              </a:rPr>
              <a:t>대화창의 Claude와 다른 점  </a:t>
            </a:r>
            <a:r>
              <a:rPr lang="en-US" sz="1300" dirty="0">
                <a:solidFill>
                  <a:schemeClr val="tx1"/>
                </a:solidFill>
              </a:rPr>
              <a:t>e · r · i는 코드를 고치지 않고, 그 노트와 바뀐 코드만 보고 저렴한 모델이 짧게 답합니다. c는 모델을 부르지 않습니다.</a:t>
            </a:r>
            <a:endParaRPr lang="en-US" sz="1300" dirty="0"/>
          </a:p>
        </p:txBody>
      </p:sp>
      <p:pic>
        <p:nvPicPr>
          <p:cNvPr id="25" name="trace-pane" descr="trace-pane">    </p:cNvPr>
          <p:cNvPicPr>
            <a:picLocks noChangeAspect="1"/>
          </p:cNvPicPr>
          <p:nvPr/>
        </p:nvPicPr>
        <p:blipFill>
          <a:blip r:embed="rId1"/>
          <a:stretch>
            <a:fillRect/>
          </a:stretch>
        </p:blipFill>
        <p:spPr>
          <a:xfrm>
            <a:off x="6382512" y="1325880"/>
            <a:ext cx="5257800" cy="4450910"/>
          </a:xfrm>
          <a:prstGeom prst="rect">
            <a:avLst/>
          </a:prstGeom>
          <a:effectLst>
            <a:outerShdw sx="100000" sy="100000" kx="0" ky="0" algn="bl" rotWithShape="0" blurRad="260144641000000000" dist="78043392300000000" dir="1.1664e+21">
              <a:srgbClr val="0F3D3E">
                <a:alpha val="28000000000000000000"/>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직접 해 보기 — 내 코드 한 줄을 고쳐 확인</a:t>
            </a:r>
            <a:endParaRPr lang="en-US" sz="3000" dirty="0"/>
          </a:p>
        </p:txBody>
      </p:sp>
      <p:sp>
        <p:nvSpPr>
          <p:cNvPr id="3" name="Text 1"/>
          <p:cNvSpPr txBox="1"/>
          <p:nvPr/>
        </p:nvSpPr>
        <p:spPr>
          <a:xfrm>
            <a:off x="548640" y="1325880"/>
            <a:ext cx="6629400" cy="731520"/>
          </a:xfrm>
          <a:prstGeom prst="rect">
            <a:avLst/>
          </a:prstGeom>
          <a:noFill/>
          <a:ln/>
        </p:spPr>
        <p:txBody>
          <a:bodyPr wrap="square" lIns="0" tIns="0" rIns="0" bIns="0" rtlCol="0" anchor="t"/>
          <a:lstStyle/>
          <a:p>
            <a:pPr indent="0" marL="0">
              <a:buNone/>
            </a:pPr>
            <a:r>
              <a:rPr lang="en-US" sz="1450" dirty="0">
                <a:solidFill>
                  <a:schemeClr val="tx1"/>
                </a:solidFill>
              </a:rPr>
              <a:t>노트의 직접 해 보기 칸에는 할 일과 확인만 보입니다. t를 누르면 질문 칸 아래에 고칠 줄이 칸으로 펼쳐지고 커서가 그 칸에 갑니다. 파일은 바뀌지 않습니다.</a:t>
            </a:r>
            <a:endParaRPr lang="en-US" sz="1450" dirty="0"/>
          </a:p>
        </p:txBody>
      </p:sp>
      <p:sp>
        <p:nvSpPr>
          <p:cNvPr id="4" name="flow-0"/>
          <p:cNvSpPr/>
          <p:nvPr/>
        </p:nvSpPr>
        <p:spPr>
          <a:xfrm>
            <a:off x="548640" y="2194560"/>
            <a:ext cx="1463040" cy="530352"/>
          </a:xfrm>
          <a:prstGeom prst="roundRect">
            <a:avLst>
              <a:gd name="adj" fmla="val 17241"/>
            </a:avLst>
          </a:prstGeom>
          <a:solidFill>
            <a:schemeClr val="bg2"/>
          </a:solidFill>
          <a:ln w="12700">
            <a:solidFill>
              <a:schemeClr val="bg2"/>
            </a:solidFill>
            <a:prstDash val="solid"/>
          </a:ln>
        </p:spPr>
      </p:sp>
      <p:sp>
        <p:nvSpPr>
          <p:cNvPr id="5" name="Text 3"/>
          <p:cNvSpPr txBox="1"/>
          <p:nvPr/>
        </p:nvSpPr>
        <p:spPr>
          <a:xfrm>
            <a:off x="548640" y="219456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t로 펼치기</a:t>
            </a:r>
            <a:endParaRPr lang="en-US" sz="1250" dirty="0"/>
          </a:p>
        </p:txBody>
      </p:sp>
      <p:sp>
        <p:nvSpPr>
          <p:cNvPr id="6" name="arrow"/>
          <p:cNvSpPr/>
          <p:nvPr/>
        </p:nvSpPr>
        <p:spPr>
          <a:xfrm rot="5400000">
            <a:off x="2066544" y="2377440"/>
            <a:ext cx="128016" cy="164592"/>
          </a:xfrm>
          <a:prstGeom prst="triangle">
            <a:avLst/>
          </a:prstGeom>
          <a:solidFill>
            <a:srgbClr val="B9C7C2"/>
          </a:solidFill>
          <a:ln w="12700">
            <a:solidFill>
              <a:srgbClr val="B9C7C2"/>
            </a:solidFill>
            <a:prstDash val="solid"/>
          </a:ln>
        </p:spPr>
      </p:sp>
      <p:sp>
        <p:nvSpPr>
          <p:cNvPr id="7" name="flow-1"/>
          <p:cNvSpPr/>
          <p:nvPr/>
        </p:nvSpPr>
        <p:spPr>
          <a:xfrm>
            <a:off x="2249424" y="2194560"/>
            <a:ext cx="1463040" cy="530352"/>
          </a:xfrm>
          <a:prstGeom prst="roundRect">
            <a:avLst>
              <a:gd name="adj" fmla="val 17241"/>
            </a:avLst>
          </a:prstGeom>
          <a:solidFill>
            <a:schemeClr val="bg2"/>
          </a:solidFill>
          <a:ln w="12700">
            <a:solidFill>
              <a:schemeClr val="bg2"/>
            </a:solidFill>
            <a:prstDash val="solid"/>
          </a:ln>
        </p:spPr>
      </p:sp>
      <p:sp>
        <p:nvSpPr>
          <p:cNvPr id="8" name="Text 6"/>
          <p:cNvSpPr txBox="1"/>
          <p:nvPr/>
        </p:nvSpPr>
        <p:spPr>
          <a:xfrm>
            <a:off x="2249424" y="219456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칸의 줄 고치기</a:t>
            </a:r>
            <a:endParaRPr lang="en-US" sz="1250" dirty="0"/>
          </a:p>
        </p:txBody>
      </p:sp>
      <p:sp>
        <p:nvSpPr>
          <p:cNvPr id="9" name="arrow"/>
          <p:cNvSpPr/>
          <p:nvPr/>
        </p:nvSpPr>
        <p:spPr>
          <a:xfrm rot="5400000">
            <a:off x="3767328" y="2377440"/>
            <a:ext cx="128016" cy="164592"/>
          </a:xfrm>
          <a:prstGeom prst="triangle">
            <a:avLst/>
          </a:prstGeom>
          <a:solidFill>
            <a:srgbClr val="B9C7C2"/>
          </a:solidFill>
          <a:ln w="12700">
            <a:solidFill>
              <a:srgbClr val="B9C7C2"/>
            </a:solidFill>
            <a:prstDash val="solid"/>
          </a:ln>
        </p:spPr>
      </p:sp>
      <p:sp>
        <p:nvSpPr>
          <p:cNvPr id="10" name="flow-2"/>
          <p:cNvSpPr/>
          <p:nvPr/>
        </p:nvSpPr>
        <p:spPr>
          <a:xfrm>
            <a:off x="3950208" y="2194560"/>
            <a:ext cx="1463040" cy="530352"/>
          </a:xfrm>
          <a:prstGeom prst="roundRect">
            <a:avLst>
              <a:gd name="adj" fmla="val 17241"/>
            </a:avLst>
          </a:prstGeom>
          <a:solidFill>
            <a:schemeClr val="accent1"/>
          </a:solidFill>
          <a:ln w="12700">
            <a:solidFill>
              <a:schemeClr val="accent1"/>
            </a:solidFill>
            <a:prstDash val="solid"/>
          </a:ln>
        </p:spPr>
      </p:sp>
      <p:sp>
        <p:nvSpPr>
          <p:cNvPr id="11" name="Text 9"/>
          <p:cNvSpPr txBox="1"/>
          <p:nvPr/>
        </p:nvSpPr>
        <p:spPr>
          <a:xfrm>
            <a:off x="3950208" y="2194560"/>
            <a:ext cx="1463040" cy="530352"/>
          </a:xfrm>
          <a:prstGeom prst="rect">
            <a:avLst/>
          </a:prstGeom>
          <a:noFill/>
          <a:ln/>
        </p:spPr>
        <p:txBody>
          <a:bodyPr wrap="square" lIns="0" tIns="0" rIns="0" bIns="0" rtlCol="0" anchor="ctr"/>
          <a:lstStyle/>
          <a:p>
            <a:pPr algn="ctr" indent="0" marL="0">
              <a:buNone/>
            </a:pPr>
            <a:r>
              <a:rPr lang="en-US" sz="1250" b="1" dirty="0">
                <a:solidFill>
                  <a:schemeClr val="bg1"/>
                </a:solidFill>
              </a:rPr>
              <a:t>Enter로 확인</a:t>
            </a:r>
            <a:endParaRPr lang="en-US" sz="1250" dirty="0"/>
          </a:p>
        </p:txBody>
      </p:sp>
      <p:sp>
        <p:nvSpPr>
          <p:cNvPr id="12" name="arrow"/>
          <p:cNvSpPr/>
          <p:nvPr/>
        </p:nvSpPr>
        <p:spPr>
          <a:xfrm rot="5400000">
            <a:off x="5468112" y="2377440"/>
            <a:ext cx="128016" cy="164592"/>
          </a:xfrm>
          <a:prstGeom prst="triangle">
            <a:avLst/>
          </a:prstGeom>
          <a:solidFill>
            <a:srgbClr val="B9C7C2"/>
          </a:solidFill>
          <a:ln w="12700">
            <a:solidFill>
              <a:srgbClr val="B9C7C2"/>
            </a:solidFill>
            <a:prstDash val="solid"/>
          </a:ln>
        </p:spPr>
      </p:sp>
      <p:sp>
        <p:nvSpPr>
          <p:cNvPr id="13" name="flow-3"/>
          <p:cNvSpPr/>
          <p:nvPr/>
        </p:nvSpPr>
        <p:spPr>
          <a:xfrm>
            <a:off x="5650992" y="2194560"/>
            <a:ext cx="1463040" cy="530352"/>
          </a:xfrm>
          <a:prstGeom prst="roundRect">
            <a:avLst>
              <a:gd name="adj" fmla="val 17241"/>
            </a:avLst>
          </a:prstGeom>
          <a:solidFill>
            <a:schemeClr val="bg2"/>
          </a:solidFill>
          <a:ln w="12700">
            <a:solidFill>
              <a:schemeClr val="bg2"/>
            </a:solidFill>
            <a:prstDash val="solid"/>
          </a:ln>
        </p:spPr>
      </p:sp>
      <p:sp>
        <p:nvSpPr>
          <p:cNvPr id="14" name="Text 12"/>
          <p:cNvSpPr txBox="1"/>
          <p:nvPr/>
        </p:nvSpPr>
        <p:spPr>
          <a:xfrm>
            <a:off x="5650992" y="219456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틀리면 되묻기</a:t>
            </a:r>
            <a:endParaRPr lang="en-US" sz="1250" dirty="0"/>
          </a:p>
        </p:txBody>
      </p:sp>
      <p:sp>
        <p:nvSpPr>
          <p:cNvPr id="15" name="Text 13"/>
          <p:cNvSpPr txBox="1"/>
          <p:nvPr/>
        </p:nvSpPr>
        <p:spPr>
          <a:xfrm>
            <a:off x="548640" y="2944368"/>
            <a:ext cx="6629400" cy="365760"/>
          </a:xfrm>
          <a:prstGeom prst="rect">
            <a:avLst/>
          </a:prstGeom>
          <a:noFill/>
          <a:ln/>
        </p:spPr>
        <p:txBody>
          <a:bodyPr wrap="square" lIns="0" tIns="0" rIns="0" bIns="0" rtlCol="0" anchor="t"/>
          <a:lstStyle/>
          <a:p>
            <a:pPr indent="0" marL="0">
              <a:buNone/>
            </a:pPr>
            <a:r>
              <a:rPr lang="en-US" sz="1450" b="1" dirty="0">
                <a:solidFill>
                  <a:schemeClr val="tx2"/>
                </a:solidFill>
              </a:rPr>
              <a:t>이럴 때는 모델을 부르지 않고 바로 알려 줍니다</a:t>
            </a:r>
            <a:endParaRPr lang="en-US" sz="1450" dirty="0"/>
          </a:p>
        </p:txBody>
      </p:sp>
      <p:sp>
        <p:nvSpPr>
          <p:cNvPr id="16" name="Text 14"/>
          <p:cNvSpPr txBox="1"/>
          <p:nvPr/>
        </p:nvSpPr>
        <p:spPr>
          <a:xfrm>
            <a:off x="548640" y="3383280"/>
            <a:ext cx="1600200" cy="347472"/>
          </a:xfrm>
          <a:prstGeom prst="rect">
            <a:avLst/>
          </a:prstGeom>
          <a:noFill/>
          <a:ln/>
        </p:spPr>
        <p:txBody>
          <a:bodyPr wrap="square" lIns="0" tIns="0" rIns="0" bIns="0" rtlCol="0" anchor="ctr"/>
          <a:lstStyle/>
          <a:p>
            <a:pPr indent="0" marL="0">
              <a:buNone/>
            </a:pPr>
            <a:r>
              <a:rPr lang="en-US" sz="1350" b="1" dirty="0">
                <a:solidFill>
                  <a:schemeClr val="accent1"/>
                </a:solidFill>
              </a:rPr>
              <a:t>고치지 않음</a:t>
            </a:r>
            <a:endParaRPr lang="en-US" sz="1350" dirty="0"/>
          </a:p>
        </p:txBody>
      </p:sp>
      <p:sp>
        <p:nvSpPr>
          <p:cNvPr id="17" name="Text 15"/>
          <p:cNvSpPr txBox="1"/>
          <p:nvPr/>
        </p:nvSpPr>
        <p:spPr>
          <a:xfrm>
            <a:off x="2194560" y="3383280"/>
            <a:ext cx="4983480" cy="347472"/>
          </a:xfrm>
          <a:prstGeom prst="rect">
            <a:avLst/>
          </a:prstGeom>
          <a:noFill/>
          <a:ln/>
        </p:spPr>
        <p:txBody>
          <a:bodyPr wrap="square" lIns="0" tIns="0" rIns="0" bIns="0" rtlCol="0" anchor="ctr"/>
          <a:lstStyle/>
          <a:p>
            <a:pPr indent="0" marL="0">
              <a:buNone/>
            </a:pPr>
            <a:r>
              <a:rPr lang="en-US" sz="1350" dirty="0">
                <a:solidFill>
                  <a:schemeClr val="tx1"/>
                </a:solidFill>
              </a:rPr>
              <a:t>아직 바꾼 곳이 없습니다 · 줄을 고친 뒤 Enter</a:t>
            </a:r>
            <a:endParaRPr lang="en-US" sz="1350" dirty="0"/>
          </a:p>
        </p:txBody>
      </p:sp>
      <p:sp>
        <p:nvSpPr>
          <p:cNvPr id="18" name="Text 16"/>
          <p:cNvSpPr txBox="1"/>
          <p:nvPr/>
        </p:nvSpPr>
        <p:spPr>
          <a:xfrm>
            <a:off x="548640" y="3785616"/>
            <a:ext cx="1600200" cy="347472"/>
          </a:xfrm>
          <a:prstGeom prst="rect">
            <a:avLst/>
          </a:prstGeom>
          <a:noFill/>
          <a:ln/>
        </p:spPr>
        <p:txBody>
          <a:bodyPr wrap="square" lIns="0" tIns="0" rIns="0" bIns="0" rtlCol="0" anchor="ctr"/>
          <a:lstStyle/>
          <a:p>
            <a:pPr indent="0" marL="0">
              <a:buNone/>
            </a:pPr>
            <a:r>
              <a:rPr lang="en-US" sz="1350" b="1" dirty="0">
                <a:solidFill>
                  <a:schemeClr val="accent1"/>
                </a:solidFill>
              </a:rPr>
              <a:t>한글로 적음</a:t>
            </a:r>
            <a:endParaRPr lang="en-US" sz="1350" dirty="0"/>
          </a:p>
        </p:txBody>
      </p:sp>
      <p:sp>
        <p:nvSpPr>
          <p:cNvPr id="19" name="Text 17"/>
          <p:cNvSpPr txBox="1"/>
          <p:nvPr/>
        </p:nvSpPr>
        <p:spPr>
          <a:xfrm>
            <a:off x="2194560" y="3785616"/>
            <a:ext cx="4983480" cy="347472"/>
          </a:xfrm>
          <a:prstGeom prst="rect">
            <a:avLst/>
          </a:prstGeom>
          <a:noFill/>
          <a:ln/>
        </p:spPr>
        <p:txBody>
          <a:bodyPr wrap="square" lIns="0" tIns="0" rIns="0" bIns="0" rtlCol="0" anchor="ctr"/>
          <a:lstStyle/>
          <a:p>
            <a:pPr indent="0" marL="0">
              <a:buNone/>
            </a:pPr>
            <a:r>
              <a:rPr lang="en-US" sz="1350" dirty="0">
                <a:solidFill>
                  <a:schemeClr val="tx1"/>
                </a:solidFill>
              </a:rPr>
              <a:t>코드는 영문 상태에서 적습니다</a:t>
            </a:r>
            <a:endParaRPr lang="en-US" sz="1350" dirty="0"/>
          </a:p>
        </p:txBody>
      </p:sp>
      <p:sp>
        <p:nvSpPr>
          <p:cNvPr id="20" name="Text 18"/>
          <p:cNvSpPr txBox="1"/>
          <p:nvPr/>
        </p:nvSpPr>
        <p:spPr>
          <a:xfrm>
            <a:off x="548640" y="4187952"/>
            <a:ext cx="1600200" cy="347472"/>
          </a:xfrm>
          <a:prstGeom prst="rect">
            <a:avLst/>
          </a:prstGeom>
          <a:noFill/>
          <a:ln/>
        </p:spPr>
        <p:txBody>
          <a:bodyPr wrap="square" lIns="0" tIns="0" rIns="0" bIns="0" rtlCol="0" anchor="ctr"/>
          <a:lstStyle/>
          <a:p>
            <a:pPr indent="0" marL="0">
              <a:buNone/>
            </a:pPr>
            <a:r>
              <a:rPr lang="en-US" sz="1350" b="1" dirty="0">
                <a:solidFill>
                  <a:schemeClr val="accent1"/>
                </a:solidFill>
              </a:rPr>
              <a:t>예시 답과 같음</a:t>
            </a:r>
            <a:endParaRPr lang="en-US" sz="1350" dirty="0"/>
          </a:p>
        </p:txBody>
      </p:sp>
      <p:sp>
        <p:nvSpPr>
          <p:cNvPr id="21" name="Text 19"/>
          <p:cNvSpPr txBox="1"/>
          <p:nvPr/>
        </p:nvSpPr>
        <p:spPr>
          <a:xfrm>
            <a:off x="2194560" y="4187952"/>
            <a:ext cx="4983480" cy="347472"/>
          </a:xfrm>
          <a:prstGeom prst="rect">
            <a:avLst/>
          </a:prstGeom>
          <a:noFill/>
          <a:ln/>
        </p:spPr>
        <p:txBody>
          <a:bodyPr wrap="square" lIns="0" tIns="0" rIns="0" bIns="0" rtlCol="0" anchor="ctr"/>
          <a:lstStyle/>
          <a:p>
            <a:pPr indent="0" marL="0">
              <a:buNone/>
            </a:pPr>
            <a:r>
              <a:rPr lang="en-US" sz="1350" dirty="0">
                <a:solidFill>
                  <a:schemeClr val="tx1"/>
                </a:solidFill>
              </a:rPr>
              <a:t>✓ 해냈습니다</a:t>
            </a:r>
            <a:endParaRPr lang="en-US" sz="1350" dirty="0"/>
          </a:p>
        </p:txBody>
      </p:sp>
      <p:sp>
        <p:nvSpPr>
          <p:cNvPr id="22" name="Text 20"/>
          <p:cNvSpPr txBox="1"/>
          <p:nvPr/>
        </p:nvSpPr>
        <p:spPr>
          <a:xfrm>
            <a:off x="548640" y="4590288"/>
            <a:ext cx="1600200" cy="347472"/>
          </a:xfrm>
          <a:prstGeom prst="rect">
            <a:avLst/>
          </a:prstGeom>
          <a:noFill/>
          <a:ln/>
        </p:spPr>
        <p:txBody>
          <a:bodyPr wrap="square" lIns="0" tIns="0" rIns="0" bIns="0" rtlCol="0" anchor="ctr"/>
          <a:lstStyle/>
          <a:p>
            <a:pPr indent="0" marL="0">
              <a:buNone/>
            </a:pPr>
            <a:r>
              <a:rPr lang="en-US" sz="1350" b="1" dirty="0">
                <a:solidFill>
                  <a:schemeClr val="accent1"/>
                </a:solidFill>
              </a:rPr>
              <a:t>'모르겠어요'</a:t>
            </a:r>
            <a:endParaRPr lang="en-US" sz="1350" dirty="0"/>
          </a:p>
        </p:txBody>
      </p:sp>
      <p:sp>
        <p:nvSpPr>
          <p:cNvPr id="23" name="Text 21"/>
          <p:cNvSpPr txBox="1"/>
          <p:nvPr/>
        </p:nvSpPr>
        <p:spPr>
          <a:xfrm>
            <a:off x="2194560" y="4590288"/>
            <a:ext cx="4983480" cy="347472"/>
          </a:xfrm>
          <a:prstGeom prst="rect">
            <a:avLst/>
          </a:prstGeom>
          <a:noFill/>
          <a:ln/>
        </p:spPr>
        <p:txBody>
          <a:bodyPr wrap="square" lIns="0" tIns="0" rIns="0" bIns="0" rtlCol="0" anchor="ctr"/>
          <a:lstStyle/>
          <a:p>
            <a:pPr indent="0" marL="0">
              <a:buNone/>
            </a:pPr>
            <a:r>
              <a:rPr lang="en-US" sz="1350" dirty="0">
                <a:solidFill>
                  <a:schemeClr val="tx1"/>
                </a:solidFill>
              </a:rPr>
              <a:t>할 일과 확인을 다시 읽어 보라는 힌트</a:t>
            </a:r>
            <a:endParaRPr lang="en-US" sz="1350" dirty="0"/>
          </a:p>
        </p:txBody>
      </p:sp>
      <p:sp>
        <p:nvSpPr>
          <p:cNvPr id="24" name="Text 22"/>
          <p:cNvSpPr txBox="1"/>
          <p:nvPr/>
        </p:nvSpPr>
        <p:spPr>
          <a:xfrm>
            <a:off x="548640" y="5029200"/>
            <a:ext cx="6629400" cy="347472"/>
          </a:xfrm>
          <a:prstGeom prst="rect">
            <a:avLst/>
          </a:prstGeom>
          <a:noFill/>
          <a:ln/>
        </p:spPr>
        <p:txBody>
          <a:bodyPr wrap="square" lIns="0" tIns="0" rIns="0" bIns="0" rtlCol="0" anchor="ctr"/>
          <a:lstStyle/>
          <a:p>
            <a:pPr indent="0" marL="0">
              <a:buNone/>
            </a:pPr>
            <a:r>
              <a:rPr lang="en-US" sz="1350" dirty="0">
                <a:solidFill>
                  <a:srgbClr val="5A6B70"/>
                </a:solidFill>
              </a:rPr>
              <a:t>그 밖에는 Claude가 할 일과 확인대로 동작하는지 봅니다 (모델 호출 1번).</a:t>
            </a:r>
            <a:endParaRPr lang="en-US" sz="1350" dirty="0"/>
          </a:p>
        </p:txBody>
      </p:sp>
      <p:sp>
        <p:nvSpPr>
          <p:cNvPr id="25" name="card"/>
          <p:cNvSpPr/>
          <p:nvPr/>
        </p:nvSpPr>
        <p:spPr>
          <a:xfrm>
            <a:off x="548640" y="5468112"/>
            <a:ext cx="6629400" cy="658368"/>
          </a:xfrm>
          <a:prstGeom prst="roundRect">
            <a:avLst>
              <a:gd name="adj" fmla="val 13889"/>
            </a:avLst>
          </a:prstGeom>
          <a:solidFill>
            <a:schemeClr val="bg2"/>
          </a:solidFill>
          <a:ln w="9525">
            <a:solidFill>
              <a:schemeClr val="bg2"/>
            </a:solidFill>
            <a:prstDash val="solid"/>
          </a:ln>
        </p:spPr>
      </p:sp>
      <p:sp>
        <p:nvSpPr>
          <p:cNvPr id="26" name="key-a"/>
          <p:cNvSpPr/>
          <p:nvPr/>
        </p:nvSpPr>
        <p:spPr>
          <a:xfrm>
            <a:off x="777240" y="5614416"/>
            <a:ext cx="365760" cy="365760"/>
          </a:xfrm>
          <a:prstGeom prst="roundRect">
            <a:avLst>
              <a:gd name="adj" fmla="val 15000"/>
            </a:avLst>
          </a:prstGeom>
          <a:solidFill>
            <a:schemeClr val="bg1"/>
          </a:solidFill>
          <a:ln w="15875">
            <a:solidFill>
              <a:srgbClr val="B9C7C2"/>
            </a:solidFill>
            <a:prstDash val="solid"/>
          </a:ln>
        </p:spPr>
      </p:sp>
      <p:sp>
        <p:nvSpPr>
          <p:cNvPr id="27" name="Text 25"/>
          <p:cNvSpPr txBox="1"/>
          <p:nvPr/>
        </p:nvSpPr>
        <p:spPr>
          <a:xfrm>
            <a:off x="777240" y="5614416"/>
            <a:ext cx="365760" cy="365760"/>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a</a:t>
            </a:r>
            <a:endParaRPr lang="en-US" sz="1500" dirty="0"/>
          </a:p>
        </p:txBody>
      </p:sp>
      <p:sp>
        <p:nvSpPr>
          <p:cNvPr id="28" name="Text 26"/>
          <p:cNvSpPr txBox="1"/>
          <p:nvPr/>
        </p:nvSpPr>
        <p:spPr>
          <a:xfrm>
            <a:off x="1325880" y="5468112"/>
            <a:ext cx="5715000" cy="658368"/>
          </a:xfrm>
          <a:prstGeom prst="rect">
            <a:avLst/>
          </a:prstGeom>
          <a:noFill/>
          <a:ln/>
        </p:spPr>
        <p:txBody>
          <a:bodyPr wrap="square" lIns="0" tIns="0" rIns="0" bIns="0" rtlCol="0" anchor="ctr"/>
          <a:lstStyle/>
          <a:p>
            <a:pPr indent="0" marL="0">
              <a:buNone/>
            </a:pPr>
            <a:r>
              <a:rPr lang="en-US" sz="1300" dirty="0">
                <a:solidFill>
                  <a:schemeClr val="tx1"/>
                </a:solidFill>
              </a:rPr>
              <a:t>예시 답은 한 번 고쳐 본 뒤에 봅니다. 결과는 퀴즈처럼 복습 단계에 들어가고, 헷갈린 점은 오답 노트에 남습니다.</a:t>
            </a:r>
            <a:endParaRPr lang="en-US" sz="1300" dirty="0"/>
          </a:p>
        </p:txBody>
      </p:sp>
      <p:pic>
        <p:nvPicPr>
          <p:cNvPr id="29" name="drill-pane" descr="drill-pane">    </p:cNvPr>
          <p:cNvPicPr>
            <a:picLocks noChangeAspect="1"/>
          </p:cNvPicPr>
          <p:nvPr/>
        </p:nvPicPr>
        <p:blipFill>
          <a:blip r:embed="rId1"/>
          <a:stretch>
            <a:fillRect/>
          </a:stretch>
        </p:blipFill>
        <p:spPr>
          <a:xfrm>
            <a:off x="7400405" y="1325880"/>
            <a:ext cx="4239907" cy="4617720"/>
          </a:xfrm>
          <a:prstGeom prst="rect">
            <a:avLst/>
          </a:prstGeom>
          <a:effectLst>
            <a:outerShdw sx="100000" sy="100000" kx="0" ky="0" algn="bl" rotWithShape="0" blurRad="3.3038369407e+21" dist="991151082210000000000" dir="6.9984e+25">
              <a:srgbClr val="0F3D3E">
                <a:alpha val="2.8e+24"/>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내 코드로 푸는 퀴즈, 틀리면 되묻습니다</a:t>
            </a:r>
            <a:endParaRPr lang="en-US" sz="3000" dirty="0"/>
          </a:p>
        </p:txBody>
      </p:sp>
      <p:sp>
        <p:nvSpPr>
          <p:cNvPr id="3" name="Text 1"/>
          <p:cNvSpPr txBox="1"/>
          <p:nvPr/>
        </p:nvSpPr>
        <p:spPr>
          <a:xfrm>
            <a:off x="548640" y="1325880"/>
            <a:ext cx="6629400" cy="548640"/>
          </a:xfrm>
          <a:prstGeom prst="rect">
            <a:avLst/>
          </a:prstGeom>
          <a:noFill/>
          <a:ln/>
        </p:spPr>
        <p:txBody>
          <a:bodyPr wrap="square" lIns="0" tIns="0" rIns="0" bIns="0" rtlCol="0" anchor="t"/>
          <a:lstStyle/>
          <a:p>
            <a:pPr indent="0" marL="0">
              <a:buNone/>
            </a:pPr>
            <a:r>
              <a:rPr lang="en-US" sz="1450" dirty="0">
                <a:solidFill>
                  <a:schemeClr val="tx1"/>
                </a:solidFill>
              </a:rPr>
              <a:t>복습할 때가 된 개념부터, 그 개념을 배운 노트의 내 코드로 묻습니다(7일 단계부터는 조금 바꿔서). 한 번에 최대 3문제입니다.</a:t>
            </a:r>
            <a:endParaRPr lang="en-US" sz="1450" dirty="0"/>
          </a:p>
        </p:txBody>
      </p:sp>
      <p:sp>
        <p:nvSpPr>
          <p:cNvPr id="4" name="kind-0"/>
          <p:cNvSpPr/>
          <p:nvPr/>
        </p:nvSpPr>
        <p:spPr>
          <a:xfrm>
            <a:off x="548640" y="1938528"/>
            <a:ext cx="2130552" cy="896112"/>
          </a:xfrm>
          <a:prstGeom prst="roundRect">
            <a:avLst>
              <a:gd name="adj" fmla="val 10204"/>
            </a:avLst>
          </a:prstGeom>
          <a:solidFill>
            <a:schemeClr val="bg1"/>
          </a:solidFill>
          <a:ln w="12700">
            <a:solidFill>
              <a:schemeClr val="accent3"/>
            </a:solidFill>
            <a:prstDash val="solid"/>
          </a:ln>
        </p:spPr>
      </p:sp>
      <p:sp>
        <p:nvSpPr>
          <p:cNvPr id="5" name="Text 3"/>
          <p:cNvSpPr txBox="1"/>
          <p:nvPr/>
        </p:nvSpPr>
        <p:spPr>
          <a:xfrm>
            <a:off x="713232" y="2011680"/>
            <a:ext cx="1828800" cy="310896"/>
          </a:xfrm>
          <a:prstGeom prst="rect">
            <a:avLst/>
          </a:prstGeom>
          <a:noFill/>
          <a:ln/>
        </p:spPr>
        <p:txBody>
          <a:bodyPr wrap="square" lIns="0" tIns="0" rIns="0" bIns="0" rtlCol="0" anchor="t"/>
          <a:lstStyle/>
          <a:p>
            <a:pPr indent="0" marL="0">
              <a:buNone/>
            </a:pPr>
            <a:r>
              <a:rPr lang="en-US" sz="1600" b="1" dirty="0">
                <a:solidFill>
                  <a:schemeClr val="accent3"/>
                </a:solidFill>
              </a:rPr>
              <a:t>예측</a:t>
            </a:r>
            <a:endParaRPr lang="en-US" sz="1600" dirty="0"/>
          </a:p>
        </p:txBody>
      </p:sp>
      <p:sp>
        <p:nvSpPr>
          <p:cNvPr id="6" name="Text 4"/>
          <p:cNvSpPr txBox="1"/>
          <p:nvPr/>
        </p:nvSpPr>
        <p:spPr>
          <a:xfrm>
            <a:off x="713232" y="2340864"/>
            <a:ext cx="1828800" cy="457200"/>
          </a:xfrm>
          <a:prstGeom prst="rect">
            <a:avLst/>
          </a:prstGeom>
          <a:noFill/>
          <a:ln/>
        </p:spPr>
        <p:txBody>
          <a:bodyPr wrap="square" lIns="0" tIns="0" rIns="0" bIns="0" rtlCol="0" anchor="t"/>
          <a:lstStyle/>
          <a:p>
            <a:pPr indent="0" marL="0">
              <a:buNone/>
            </a:pPr>
            <a:r>
              <a:rPr lang="en-US" sz="1200" dirty="0">
                <a:solidFill>
                  <a:schemeClr val="tx1"/>
                </a:solidFill>
              </a:rPr>
              <a:t>코드를 보고 출력이나 값을 맞힙니다</a:t>
            </a:r>
            <a:endParaRPr lang="en-US" sz="1200" dirty="0"/>
          </a:p>
        </p:txBody>
      </p:sp>
      <p:sp>
        <p:nvSpPr>
          <p:cNvPr id="7" name="kind-1"/>
          <p:cNvSpPr/>
          <p:nvPr/>
        </p:nvSpPr>
        <p:spPr>
          <a:xfrm>
            <a:off x="2788920" y="1938528"/>
            <a:ext cx="2130552" cy="896112"/>
          </a:xfrm>
          <a:prstGeom prst="roundRect">
            <a:avLst>
              <a:gd name="adj" fmla="val 10204"/>
            </a:avLst>
          </a:prstGeom>
          <a:solidFill>
            <a:schemeClr val="bg1"/>
          </a:solidFill>
          <a:ln w="12700">
            <a:solidFill>
              <a:schemeClr val="accent5"/>
            </a:solidFill>
            <a:prstDash val="solid"/>
          </a:ln>
        </p:spPr>
      </p:sp>
      <p:sp>
        <p:nvSpPr>
          <p:cNvPr id="8" name="Text 6"/>
          <p:cNvSpPr txBox="1"/>
          <p:nvPr/>
        </p:nvSpPr>
        <p:spPr>
          <a:xfrm>
            <a:off x="2953512" y="2011680"/>
            <a:ext cx="1828800" cy="310896"/>
          </a:xfrm>
          <a:prstGeom prst="rect">
            <a:avLst/>
          </a:prstGeom>
          <a:noFill/>
          <a:ln/>
        </p:spPr>
        <p:txBody>
          <a:bodyPr wrap="square" lIns="0" tIns="0" rIns="0" bIns="0" rtlCol="0" anchor="t"/>
          <a:lstStyle/>
          <a:p>
            <a:pPr indent="0" marL="0">
              <a:buNone/>
            </a:pPr>
            <a:r>
              <a:rPr lang="en-US" sz="1600" b="1" dirty="0">
                <a:solidFill>
                  <a:schemeClr val="accent5"/>
                </a:solidFill>
              </a:rPr>
              <a:t>왜</a:t>
            </a:r>
            <a:endParaRPr lang="en-US" sz="1600" dirty="0"/>
          </a:p>
        </p:txBody>
      </p:sp>
      <p:sp>
        <p:nvSpPr>
          <p:cNvPr id="9" name="Text 7"/>
          <p:cNvSpPr txBox="1"/>
          <p:nvPr/>
        </p:nvSpPr>
        <p:spPr>
          <a:xfrm>
            <a:off x="2953512" y="2340864"/>
            <a:ext cx="1828800" cy="457200"/>
          </a:xfrm>
          <a:prstGeom prst="rect">
            <a:avLst/>
          </a:prstGeom>
          <a:noFill/>
          <a:ln/>
        </p:spPr>
        <p:txBody>
          <a:bodyPr wrap="square" lIns="0" tIns="0" rIns="0" bIns="0" rtlCol="0" anchor="t"/>
          <a:lstStyle/>
          <a:p>
            <a:pPr indent="0" marL="0">
              <a:buNone/>
            </a:pPr>
            <a:r>
              <a:rPr lang="en-US" sz="1200" dirty="0">
                <a:solidFill>
                  <a:schemeClr val="tx1"/>
                </a:solidFill>
              </a:rPr>
              <a:t>이 줄을 빼면? 왜 이렇게 썼을까?</a:t>
            </a:r>
            <a:endParaRPr lang="en-US" sz="1200" dirty="0"/>
          </a:p>
        </p:txBody>
      </p:sp>
      <p:sp>
        <p:nvSpPr>
          <p:cNvPr id="10" name="kind-2"/>
          <p:cNvSpPr/>
          <p:nvPr/>
        </p:nvSpPr>
        <p:spPr>
          <a:xfrm>
            <a:off x="5029200" y="1938528"/>
            <a:ext cx="2130552" cy="896112"/>
          </a:xfrm>
          <a:prstGeom prst="roundRect">
            <a:avLst>
              <a:gd name="adj" fmla="val 10204"/>
            </a:avLst>
          </a:prstGeom>
          <a:solidFill>
            <a:schemeClr val="bg1"/>
          </a:solidFill>
          <a:ln w="12700">
            <a:solidFill>
              <a:schemeClr val="accent2"/>
            </a:solidFill>
            <a:prstDash val="solid"/>
          </a:ln>
        </p:spPr>
      </p:sp>
      <p:sp>
        <p:nvSpPr>
          <p:cNvPr id="11" name="Text 9"/>
          <p:cNvSpPr txBox="1"/>
          <p:nvPr/>
        </p:nvSpPr>
        <p:spPr>
          <a:xfrm>
            <a:off x="5193792" y="2011680"/>
            <a:ext cx="1828800" cy="310896"/>
          </a:xfrm>
          <a:prstGeom prst="rect">
            <a:avLst/>
          </a:prstGeom>
          <a:noFill/>
          <a:ln/>
        </p:spPr>
        <p:txBody>
          <a:bodyPr wrap="square" lIns="0" tIns="0" rIns="0" bIns="0" rtlCol="0" anchor="t"/>
          <a:lstStyle/>
          <a:p>
            <a:pPr indent="0" marL="0">
              <a:buNone/>
            </a:pPr>
            <a:r>
              <a:rPr lang="en-US" sz="1600" b="1" dirty="0">
                <a:solidFill>
                  <a:schemeClr val="accent2"/>
                </a:solidFill>
              </a:rPr>
              <a:t>바꿔 보기</a:t>
            </a:r>
            <a:endParaRPr lang="en-US" sz="1600" dirty="0"/>
          </a:p>
        </p:txBody>
      </p:sp>
      <p:sp>
        <p:nvSpPr>
          <p:cNvPr id="12" name="Text 10"/>
          <p:cNvSpPr txBox="1"/>
          <p:nvPr/>
        </p:nvSpPr>
        <p:spPr>
          <a:xfrm>
            <a:off x="5193792" y="2340864"/>
            <a:ext cx="1828800" cy="457200"/>
          </a:xfrm>
          <a:prstGeom prst="rect">
            <a:avLst/>
          </a:prstGeom>
          <a:noFill/>
          <a:ln/>
        </p:spPr>
        <p:txBody>
          <a:bodyPr wrap="square" lIns="0" tIns="0" rIns="0" bIns="0" rtlCol="0" anchor="t"/>
          <a:lstStyle/>
          <a:p>
            <a:pPr indent="0" marL="0">
              <a:buNone/>
            </a:pPr>
            <a:r>
              <a:rPr lang="en-US" sz="1200" dirty="0">
                <a:solidFill>
                  <a:schemeClr val="tx1"/>
                </a:solidFill>
              </a:rPr>
              <a:t>바라는 동작이 되게 고쳐 봅니다</a:t>
            </a:r>
            <a:endParaRPr lang="en-US" sz="1200" dirty="0"/>
          </a:p>
        </p:txBody>
      </p:sp>
      <p:sp>
        <p:nvSpPr>
          <p:cNvPr id="13" name="Text 11"/>
          <p:cNvSpPr txBox="1"/>
          <p:nvPr/>
        </p:nvSpPr>
        <p:spPr>
          <a:xfrm>
            <a:off x="548640" y="2962656"/>
            <a:ext cx="6629400" cy="347472"/>
          </a:xfrm>
          <a:prstGeom prst="rect">
            <a:avLst/>
          </a:prstGeom>
          <a:noFill/>
          <a:ln/>
        </p:spPr>
        <p:txBody>
          <a:bodyPr wrap="square" lIns="0" tIns="0" rIns="0" bIns="0" rtlCol="0" anchor="t"/>
          <a:lstStyle/>
          <a:p>
            <a:pPr indent="0" marL="0">
              <a:buNone/>
            </a:pPr>
            <a:r>
              <a:rPr lang="en-US" sz="1450" b="1" dirty="0">
                <a:solidFill>
                  <a:schemeClr val="tx2"/>
                </a:solidFill>
              </a:rPr>
              <a:t>첫 답이 틀리면 정답 대신 되묻기 — 한 번 더 떠올립니다</a:t>
            </a:r>
            <a:endParaRPr lang="en-US" sz="1450" dirty="0"/>
          </a:p>
        </p:txBody>
      </p:sp>
      <p:sp>
        <p:nvSpPr>
          <p:cNvPr id="14" name="flow-0"/>
          <p:cNvSpPr/>
          <p:nvPr/>
        </p:nvSpPr>
        <p:spPr>
          <a:xfrm>
            <a:off x="548640" y="3383280"/>
            <a:ext cx="1463040" cy="530352"/>
          </a:xfrm>
          <a:prstGeom prst="roundRect">
            <a:avLst>
              <a:gd name="adj" fmla="val 17241"/>
            </a:avLst>
          </a:prstGeom>
          <a:solidFill>
            <a:schemeClr val="bg2"/>
          </a:solidFill>
          <a:ln w="12700">
            <a:solidFill>
              <a:schemeClr val="bg2"/>
            </a:solidFill>
            <a:prstDash val="solid"/>
          </a:ln>
        </p:spPr>
      </p:sp>
      <p:sp>
        <p:nvSpPr>
          <p:cNvPr id="15" name="Text 13"/>
          <p:cNvSpPr txBox="1"/>
          <p:nvPr/>
        </p:nvSpPr>
        <p:spPr>
          <a:xfrm>
            <a:off x="548640" y="338328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답 적고 Enter</a:t>
            </a:r>
            <a:endParaRPr lang="en-US" sz="1250" dirty="0"/>
          </a:p>
        </p:txBody>
      </p:sp>
      <p:sp>
        <p:nvSpPr>
          <p:cNvPr id="16" name="arrow"/>
          <p:cNvSpPr/>
          <p:nvPr/>
        </p:nvSpPr>
        <p:spPr>
          <a:xfrm rot="5400000">
            <a:off x="2066544" y="3566160"/>
            <a:ext cx="128016" cy="164592"/>
          </a:xfrm>
          <a:prstGeom prst="triangle">
            <a:avLst/>
          </a:prstGeom>
          <a:solidFill>
            <a:srgbClr val="B9C7C2"/>
          </a:solidFill>
          <a:ln w="12700">
            <a:solidFill>
              <a:srgbClr val="B9C7C2"/>
            </a:solidFill>
            <a:prstDash val="solid"/>
          </a:ln>
        </p:spPr>
      </p:sp>
      <p:sp>
        <p:nvSpPr>
          <p:cNvPr id="17" name="flow-1"/>
          <p:cNvSpPr/>
          <p:nvPr/>
        </p:nvSpPr>
        <p:spPr>
          <a:xfrm>
            <a:off x="2249424" y="3383280"/>
            <a:ext cx="1463040" cy="530352"/>
          </a:xfrm>
          <a:prstGeom prst="roundRect">
            <a:avLst>
              <a:gd name="adj" fmla="val 17241"/>
            </a:avLst>
          </a:prstGeom>
          <a:solidFill>
            <a:schemeClr val="bg2"/>
          </a:solidFill>
          <a:ln w="12700">
            <a:solidFill>
              <a:schemeClr val="bg2"/>
            </a:solidFill>
            <a:prstDash val="solid"/>
          </a:ln>
        </p:spPr>
      </p:sp>
      <p:sp>
        <p:nvSpPr>
          <p:cNvPr id="18" name="Text 16"/>
          <p:cNvSpPr txBox="1"/>
          <p:nvPr/>
        </p:nvSpPr>
        <p:spPr>
          <a:xfrm>
            <a:off x="2249424" y="338328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되묻기 읽기</a:t>
            </a:r>
            <a:endParaRPr lang="en-US" sz="1250" dirty="0"/>
          </a:p>
        </p:txBody>
      </p:sp>
      <p:sp>
        <p:nvSpPr>
          <p:cNvPr id="19" name="arrow"/>
          <p:cNvSpPr/>
          <p:nvPr/>
        </p:nvSpPr>
        <p:spPr>
          <a:xfrm rot="5400000">
            <a:off x="3767328" y="3566160"/>
            <a:ext cx="128016" cy="164592"/>
          </a:xfrm>
          <a:prstGeom prst="triangle">
            <a:avLst/>
          </a:prstGeom>
          <a:solidFill>
            <a:srgbClr val="B9C7C2"/>
          </a:solidFill>
          <a:ln w="12700">
            <a:solidFill>
              <a:srgbClr val="B9C7C2"/>
            </a:solidFill>
            <a:prstDash val="solid"/>
          </a:ln>
        </p:spPr>
      </p:sp>
      <p:sp>
        <p:nvSpPr>
          <p:cNvPr id="20" name="flow-2"/>
          <p:cNvSpPr/>
          <p:nvPr/>
        </p:nvSpPr>
        <p:spPr>
          <a:xfrm>
            <a:off x="3950208" y="3383280"/>
            <a:ext cx="1463040" cy="530352"/>
          </a:xfrm>
          <a:prstGeom prst="roundRect">
            <a:avLst>
              <a:gd name="adj" fmla="val 17241"/>
            </a:avLst>
          </a:prstGeom>
          <a:solidFill>
            <a:schemeClr val="accent1"/>
          </a:solidFill>
          <a:ln w="12700">
            <a:solidFill>
              <a:schemeClr val="accent1"/>
            </a:solidFill>
            <a:prstDash val="solid"/>
          </a:ln>
        </p:spPr>
      </p:sp>
      <p:sp>
        <p:nvSpPr>
          <p:cNvPr id="21" name="Text 19"/>
          <p:cNvSpPr txBox="1"/>
          <p:nvPr/>
        </p:nvSpPr>
        <p:spPr>
          <a:xfrm>
            <a:off x="3950208" y="3383280"/>
            <a:ext cx="1463040" cy="530352"/>
          </a:xfrm>
          <a:prstGeom prst="rect">
            <a:avLst/>
          </a:prstGeom>
          <a:noFill/>
          <a:ln/>
        </p:spPr>
        <p:txBody>
          <a:bodyPr wrap="square" lIns="0" tIns="0" rIns="0" bIns="0" rtlCol="0" anchor="ctr"/>
          <a:lstStyle/>
          <a:p>
            <a:pPr algn="ctr" indent="0" marL="0">
              <a:buNone/>
            </a:pPr>
            <a:r>
              <a:rPr lang="en-US" sz="1250" b="1" dirty="0">
                <a:solidFill>
                  <a:schemeClr val="bg1"/>
                </a:solidFill>
              </a:rPr>
              <a:t>내 답 (한 번 더)</a:t>
            </a:r>
            <a:endParaRPr lang="en-US" sz="1250" dirty="0"/>
          </a:p>
        </p:txBody>
      </p:sp>
      <p:sp>
        <p:nvSpPr>
          <p:cNvPr id="22" name="arrow"/>
          <p:cNvSpPr/>
          <p:nvPr/>
        </p:nvSpPr>
        <p:spPr>
          <a:xfrm rot="5400000">
            <a:off x="5468112" y="3566160"/>
            <a:ext cx="128016" cy="164592"/>
          </a:xfrm>
          <a:prstGeom prst="triangle">
            <a:avLst/>
          </a:prstGeom>
          <a:solidFill>
            <a:srgbClr val="B9C7C2"/>
          </a:solidFill>
          <a:ln w="12700">
            <a:solidFill>
              <a:srgbClr val="B9C7C2"/>
            </a:solidFill>
            <a:prstDash val="solid"/>
          </a:ln>
        </p:spPr>
      </p:sp>
      <p:sp>
        <p:nvSpPr>
          <p:cNvPr id="23" name="flow-3"/>
          <p:cNvSpPr/>
          <p:nvPr/>
        </p:nvSpPr>
        <p:spPr>
          <a:xfrm>
            <a:off x="5650992" y="3383280"/>
            <a:ext cx="1463040" cy="530352"/>
          </a:xfrm>
          <a:prstGeom prst="roundRect">
            <a:avLst>
              <a:gd name="adj" fmla="val 17241"/>
            </a:avLst>
          </a:prstGeom>
          <a:solidFill>
            <a:schemeClr val="bg2"/>
          </a:solidFill>
          <a:ln w="12700">
            <a:solidFill>
              <a:schemeClr val="bg2"/>
            </a:solidFill>
            <a:prstDash val="solid"/>
          </a:ln>
        </p:spPr>
      </p:sp>
      <p:sp>
        <p:nvSpPr>
          <p:cNvPr id="24" name="Text 22"/>
          <p:cNvSpPr txBox="1"/>
          <p:nvPr/>
        </p:nvSpPr>
        <p:spPr>
          <a:xfrm>
            <a:off x="5650992" y="3383280"/>
            <a:ext cx="1463040" cy="530352"/>
          </a:xfrm>
          <a:prstGeom prst="rect">
            <a:avLst/>
          </a:prstGeom>
          <a:noFill/>
          <a:ln/>
        </p:spPr>
        <p:txBody>
          <a:bodyPr wrap="square" lIns="0" tIns="0" rIns="0" bIns="0" rtlCol="0" anchor="ctr"/>
          <a:lstStyle/>
          <a:p>
            <a:pPr algn="ctr" indent="0" marL="0">
              <a:buNone/>
            </a:pPr>
            <a:r>
              <a:rPr lang="en-US" sz="1250" b="1" dirty="0">
                <a:solidFill>
                  <a:schemeClr val="tx2"/>
                </a:solidFill>
              </a:rPr>
              <a:t>✓ 되짚어 맞힘</a:t>
            </a:r>
            <a:endParaRPr lang="en-US" sz="1250" dirty="0"/>
          </a:p>
        </p:txBody>
      </p:sp>
      <p:sp>
        <p:nvSpPr>
          <p:cNvPr id="25" name="key-모르겠어요"/>
          <p:cNvSpPr/>
          <p:nvPr/>
        </p:nvSpPr>
        <p:spPr>
          <a:xfrm>
            <a:off x="548640" y="4096512"/>
            <a:ext cx="1051560" cy="347472"/>
          </a:xfrm>
          <a:prstGeom prst="roundRect">
            <a:avLst>
              <a:gd name="adj" fmla="val 15789"/>
            </a:avLst>
          </a:prstGeom>
          <a:solidFill>
            <a:schemeClr val="bg1"/>
          </a:solidFill>
          <a:ln w="15875">
            <a:solidFill>
              <a:srgbClr val="B9C7C2"/>
            </a:solidFill>
            <a:prstDash val="solid"/>
          </a:ln>
        </p:spPr>
      </p:sp>
      <p:sp>
        <p:nvSpPr>
          <p:cNvPr id="26" name="Text 24"/>
          <p:cNvSpPr txBox="1"/>
          <p:nvPr/>
        </p:nvSpPr>
        <p:spPr>
          <a:xfrm>
            <a:off x="548640" y="4096512"/>
            <a:ext cx="1051560" cy="347472"/>
          </a:xfrm>
          <a:prstGeom prst="rect">
            <a:avLst/>
          </a:prstGeom>
          <a:noFill/>
          <a:ln/>
        </p:spPr>
        <p:txBody>
          <a:bodyPr wrap="square" lIns="0" tIns="0" rIns="0" bIns="0" rtlCol="0" anchor="ctr"/>
          <a:lstStyle/>
          <a:p>
            <a:pPr algn="ctr" indent="0" marL="0">
              <a:buNone/>
            </a:pPr>
            <a:r>
              <a:rPr lang="en-US" sz="1200" b="1" dirty="0">
                <a:solidFill>
                  <a:schemeClr val="tx2"/>
                </a:solidFill>
              </a:rPr>
              <a:t>모르겠어요</a:t>
            </a:r>
            <a:endParaRPr lang="en-US" sz="1200" dirty="0"/>
          </a:p>
        </p:txBody>
      </p:sp>
      <p:sp>
        <p:nvSpPr>
          <p:cNvPr id="27" name="Text 25"/>
          <p:cNvSpPr txBox="1"/>
          <p:nvPr/>
        </p:nvSpPr>
        <p:spPr>
          <a:xfrm>
            <a:off x="1783080" y="4096512"/>
            <a:ext cx="5394960" cy="347472"/>
          </a:xfrm>
          <a:prstGeom prst="rect">
            <a:avLst/>
          </a:prstGeom>
          <a:noFill/>
          <a:ln/>
        </p:spPr>
        <p:txBody>
          <a:bodyPr wrap="square" lIns="0" tIns="0" rIns="0" bIns="0" rtlCol="0" anchor="ctr"/>
          <a:lstStyle/>
          <a:p>
            <a:pPr indent="0" marL="0">
              <a:buNone/>
            </a:pPr>
            <a:r>
              <a:rPr lang="en-US" sz="1350" dirty="0">
                <a:solidFill>
                  <a:schemeClr val="tx1"/>
                </a:solidFill>
              </a:rPr>
              <a:t>라고 적고 Enter: 호출 없이 힌트 (힌트를 봤으면 정답과 ✗ 틀림)</a:t>
            </a:r>
            <a:endParaRPr lang="en-US" sz="1350" dirty="0"/>
          </a:p>
        </p:txBody>
      </p:sp>
      <p:sp>
        <p:nvSpPr>
          <p:cNvPr id="28" name="key-h"/>
          <p:cNvSpPr/>
          <p:nvPr/>
        </p:nvSpPr>
        <p:spPr>
          <a:xfrm>
            <a:off x="548640" y="4507992"/>
            <a:ext cx="347472" cy="347472"/>
          </a:xfrm>
          <a:prstGeom prst="roundRect">
            <a:avLst>
              <a:gd name="adj" fmla="val 15789"/>
            </a:avLst>
          </a:prstGeom>
          <a:solidFill>
            <a:schemeClr val="bg1"/>
          </a:solidFill>
          <a:ln w="15875">
            <a:solidFill>
              <a:srgbClr val="B9C7C2"/>
            </a:solidFill>
            <a:prstDash val="solid"/>
          </a:ln>
        </p:spPr>
      </p:sp>
      <p:sp>
        <p:nvSpPr>
          <p:cNvPr id="29" name="Text 27"/>
          <p:cNvSpPr txBox="1"/>
          <p:nvPr/>
        </p:nvSpPr>
        <p:spPr>
          <a:xfrm>
            <a:off x="548640" y="4507992"/>
            <a:ext cx="347472" cy="347472"/>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h</a:t>
            </a:r>
            <a:endParaRPr lang="en-US" sz="1500" dirty="0"/>
          </a:p>
        </p:txBody>
      </p:sp>
      <p:sp>
        <p:nvSpPr>
          <p:cNvPr id="30" name="Text 28"/>
          <p:cNvSpPr txBox="1"/>
          <p:nvPr/>
        </p:nvSpPr>
        <p:spPr>
          <a:xfrm>
            <a:off x="1783080" y="4507992"/>
            <a:ext cx="5394960" cy="347472"/>
          </a:xfrm>
          <a:prstGeom prst="rect">
            <a:avLst/>
          </a:prstGeom>
          <a:noFill/>
          <a:ln/>
        </p:spPr>
        <p:txBody>
          <a:bodyPr wrap="square" lIns="0" tIns="0" rIns="0" bIns="0" rtlCol="0" anchor="ctr"/>
          <a:lstStyle/>
          <a:p>
            <a:pPr indent="0" marL="0">
              <a:buNone/>
            </a:pPr>
            <a:r>
              <a:rPr lang="en-US" sz="1350" dirty="0">
                <a:solidFill>
                  <a:schemeClr val="tx1"/>
                </a:solidFill>
              </a:rPr>
              <a:t>막히면 힌트: 답 대신 실마리만</a:t>
            </a:r>
            <a:endParaRPr lang="en-US" sz="1350" dirty="0"/>
          </a:p>
        </p:txBody>
      </p:sp>
      <p:sp>
        <p:nvSpPr>
          <p:cNvPr id="31" name="key-a"/>
          <p:cNvSpPr/>
          <p:nvPr/>
        </p:nvSpPr>
        <p:spPr>
          <a:xfrm>
            <a:off x="548640" y="4919472"/>
            <a:ext cx="347472" cy="347472"/>
          </a:xfrm>
          <a:prstGeom prst="roundRect">
            <a:avLst>
              <a:gd name="adj" fmla="val 15789"/>
            </a:avLst>
          </a:prstGeom>
          <a:solidFill>
            <a:schemeClr val="bg1"/>
          </a:solidFill>
          <a:ln w="15875">
            <a:solidFill>
              <a:srgbClr val="B9C7C2"/>
            </a:solidFill>
            <a:prstDash val="solid"/>
          </a:ln>
        </p:spPr>
      </p:sp>
      <p:sp>
        <p:nvSpPr>
          <p:cNvPr id="32" name="Text 30"/>
          <p:cNvSpPr txBox="1"/>
          <p:nvPr/>
        </p:nvSpPr>
        <p:spPr>
          <a:xfrm>
            <a:off x="548640" y="4919472"/>
            <a:ext cx="347472" cy="347472"/>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a</a:t>
            </a:r>
            <a:endParaRPr lang="en-US" sz="1500" dirty="0"/>
          </a:p>
        </p:txBody>
      </p:sp>
      <p:sp>
        <p:nvSpPr>
          <p:cNvPr id="33" name="Text 31"/>
          <p:cNvSpPr txBox="1"/>
          <p:nvPr/>
        </p:nvSpPr>
        <p:spPr>
          <a:xfrm>
            <a:off x="1783080" y="4919472"/>
            <a:ext cx="5394960" cy="347472"/>
          </a:xfrm>
          <a:prstGeom prst="rect">
            <a:avLst/>
          </a:prstGeom>
          <a:noFill/>
          <a:ln/>
        </p:spPr>
        <p:txBody>
          <a:bodyPr wrap="square" lIns="0" tIns="0" rIns="0" bIns="0" rtlCol="0" anchor="ctr"/>
          <a:lstStyle/>
          <a:p>
            <a:pPr indent="0" marL="0">
              <a:buNone/>
            </a:pPr>
            <a:r>
              <a:rPr lang="en-US" sz="1350" dirty="0">
                <a:solidFill>
                  <a:schemeClr val="tx1"/>
                </a:solidFill>
              </a:rPr>
              <a:t>정답은 한 번 적어 본 뒤에 · 첫 판정대로 매깁니다</a:t>
            </a:r>
            <a:endParaRPr lang="en-US" sz="1350" dirty="0"/>
          </a:p>
        </p:txBody>
      </p:sp>
      <p:sp>
        <p:nvSpPr>
          <p:cNvPr id="34" name="key-n"/>
          <p:cNvSpPr/>
          <p:nvPr/>
        </p:nvSpPr>
        <p:spPr>
          <a:xfrm>
            <a:off x="548640" y="5330952"/>
            <a:ext cx="347472" cy="347472"/>
          </a:xfrm>
          <a:prstGeom prst="roundRect">
            <a:avLst>
              <a:gd name="adj" fmla="val 15789"/>
            </a:avLst>
          </a:prstGeom>
          <a:solidFill>
            <a:schemeClr val="bg1"/>
          </a:solidFill>
          <a:ln w="15875">
            <a:solidFill>
              <a:srgbClr val="B9C7C2"/>
            </a:solidFill>
            <a:prstDash val="solid"/>
          </a:ln>
        </p:spPr>
      </p:sp>
      <p:sp>
        <p:nvSpPr>
          <p:cNvPr id="35" name="Text 33"/>
          <p:cNvSpPr txBox="1"/>
          <p:nvPr/>
        </p:nvSpPr>
        <p:spPr>
          <a:xfrm>
            <a:off x="548640" y="5330952"/>
            <a:ext cx="347472" cy="347472"/>
          </a:xfrm>
          <a:prstGeom prst="rect">
            <a:avLst/>
          </a:prstGeom>
          <a:noFill/>
          <a:ln/>
        </p:spPr>
        <p:txBody>
          <a:bodyPr wrap="square" lIns="0" tIns="0" rIns="0" bIns="0" rtlCol="0" anchor="ctr"/>
          <a:lstStyle/>
          <a:p>
            <a:pPr algn="ctr" indent="0" marL="0">
              <a:buNone/>
            </a:pPr>
            <a:r>
              <a:rPr lang="en-US" sz="1500" b="1" dirty="0">
                <a:solidFill>
                  <a:schemeClr val="tx2"/>
                </a:solidFill>
                <a:latin typeface="Courier New" pitchFamily="34" charset="0"/>
                <a:ea typeface="Courier New" pitchFamily="34" charset="-122"/>
                <a:cs typeface="Courier New" pitchFamily="34" charset="-120"/>
              </a:rPr>
              <a:t>n</a:t>
            </a:r>
            <a:endParaRPr lang="en-US" sz="1500" dirty="0"/>
          </a:p>
        </p:txBody>
      </p:sp>
      <p:sp>
        <p:nvSpPr>
          <p:cNvPr id="36" name="Text 34"/>
          <p:cNvSpPr txBox="1"/>
          <p:nvPr/>
        </p:nvSpPr>
        <p:spPr>
          <a:xfrm>
            <a:off x="1783080" y="5330952"/>
            <a:ext cx="5394960" cy="347472"/>
          </a:xfrm>
          <a:prstGeom prst="rect">
            <a:avLst/>
          </a:prstGeom>
          <a:noFill/>
          <a:ln/>
        </p:spPr>
        <p:txBody>
          <a:bodyPr wrap="square" lIns="0" tIns="0" rIns="0" bIns="0" rtlCol="0" anchor="ctr"/>
          <a:lstStyle/>
          <a:p>
            <a:pPr indent="0" marL="0">
              <a:buNone/>
            </a:pPr>
            <a:r>
              <a:rPr lang="en-US" sz="1350" dirty="0">
                <a:solidFill>
                  <a:schemeClr val="tx1"/>
                </a:solidFill>
              </a:rPr>
              <a:t>틀린 개념을 배운 노트로 (거기서 r로 따라가기)</a:t>
            </a:r>
            <a:endParaRPr lang="en-US" sz="1350" dirty="0"/>
          </a:p>
        </p:txBody>
      </p:sp>
      <p:sp>
        <p:nvSpPr>
          <p:cNvPr id="37" name="Text 35"/>
          <p:cNvSpPr txBox="1"/>
          <p:nvPr/>
        </p:nvSpPr>
        <p:spPr>
          <a:xfrm>
            <a:off x="548640" y="5760720"/>
            <a:ext cx="6629400" cy="365760"/>
          </a:xfrm>
          <a:prstGeom prst="rect">
            <a:avLst/>
          </a:prstGeom>
          <a:noFill/>
          <a:ln/>
        </p:spPr>
        <p:txBody>
          <a:bodyPr wrap="square" lIns="0" tIns="0" rIns="0" bIns="0" rtlCol="0" anchor="t"/>
          <a:lstStyle/>
          <a:p>
            <a:pPr indent="0" marL="0">
              <a:buNone/>
            </a:pPr>
            <a:r>
              <a:rPr lang="en-US" sz="1200" dirty="0">
                <a:solidFill>
                  <a:srgbClr val="5A6B70"/>
                </a:solidFill>
              </a:rPr>
              <a:t>답 칸에서는 글자가 답으로 들어갑니다(한글로 적어도 됩니다). h · a · n은 Tab으로 버튼에 간 뒤 누르세요.</a:t>
            </a:r>
            <a:endParaRPr lang="en-US" sz="1200" dirty="0"/>
          </a:p>
        </p:txBody>
      </p:sp>
      <p:pic>
        <p:nvPicPr>
          <p:cNvPr id="38" name="asked-pane" descr="asked-pane">    </p:cNvPr>
          <p:cNvPicPr>
            <a:picLocks noChangeAspect="1"/>
          </p:cNvPicPr>
          <p:nvPr/>
        </p:nvPicPr>
        <p:blipFill>
          <a:blip r:embed="rId1"/>
          <a:stretch>
            <a:fillRect/>
          </a:stretch>
        </p:blipFill>
        <p:spPr>
          <a:xfrm>
            <a:off x="7296912" y="1325880"/>
            <a:ext cx="4343400" cy="4369202"/>
          </a:xfrm>
          <a:prstGeom prst="rect">
            <a:avLst/>
          </a:prstGeom>
          <a:effectLst>
            <a:outerShdw sx="100000" sy="100000" kx="0" ky="0" algn="bl" rotWithShape="0" blurRad="4.1958729146890005e+25" dist="1.2587618744067e+25" dir="4.19904e+30">
              <a:srgbClr val="0F3D3E">
                <a:alpha val="2.8000000000000003e+29"/>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답을 적으면 Claude가 채점합니다</a:t>
            </a:r>
            <a:endParaRPr lang="en-US" sz="3000" dirty="0"/>
          </a:p>
        </p:txBody>
      </p:sp>
      <p:pic>
        <p:nvPicPr>
          <p:cNvPr id="3" name="graded-pane" descr="graded-pane">    </p:cNvPr>
          <p:cNvPicPr>
            <a:picLocks noChangeAspect="1"/>
          </p:cNvPicPr>
          <p:nvPr/>
        </p:nvPicPr>
        <p:blipFill>
          <a:blip r:embed="rId1"/>
          <a:stretch>
            <a:fillRect/>
          </a:stretch>
        </p:blipFill>
        <p:spPr>
          <a:xfrm>
            <a:off x="548640" y="1325880"/>
            <a:ext cx="5486400" cy="4427145"/>
          </a:xfrm>
          <a:prstGeom prst="rect">
            <a:avLst/>
          </a:prstGeom>
          <a:effectLst>
            <a:outerShdw sx="100000" sy="100000" kx="0" ky="0" algn="bl" rotWithShape="0" blurRad="5.328758601655031e+29" dist="1.598627580496509e+29" dir="2.519424e+35">
              <a:srgbClr val="0F3D3E">
                <a:alpha val="2.8000000000000005e+34"/>
              </a:srgbClr>
            </a:outerShdw>
          </a:effectLst>
        </p:spPr>
      </p:pic>
      <p:sp>
        <p:nvSpPr>
          <p:cNvPr id="4" name="outline"/>
          <p:cNvSpPr/>
          <p:nvPr/>
        </p:nvSpPr>
        <p:spPr>
          <a:xfrm>
            <a:off x="6309360" y="1417320"/>
            <a:ext cx="5330952" cy="1143000"/>
          </a:xfrm>
          <a:prstGeom prst="roundRect">
            <a:avLst>
              <a:gd name="adj" fmla="val 8000"/>
            </a:avLst>
          </a:prstGeom>
          <a:solidFill>
            <a:schemeClr val="bg1"/>
          </a:solidFill>
          <a:ln w="12700">
            <a:solidFill>
              <a:srgbClr val="D9E3DF"/>
            </a:solidFill>
            <a:prstDash val="solid"/>
          </a:ln>
        </p:spPr>
      </p:sp>
      <p:sp>
        <p:nvSpPr>
          <p:cNvPr id="5" name="badge-LuCircleCheck"/>
          <p:cNvSpPr/>
          <p:nvPr/>
        </p:nvSpPr>
        <p:spPr>
          <a:xfrm>
            <a:off x="6537960" y="1645920"/>
            <a:ext cx="685800" cy="685800"/>
          </a:xfrm>
          <a:prstGeom prst="ellipse">
            <a:avLst/>
          </a:prstGeom>
          <a:solidFill>
            <a:schemeClr val="accent1"/>
          </a:solidFill>
          <a:ln w="12700">
            <a:solidFill>
              <a:schemeClr val="accent1"/>
            </a:solidFill>
            <a:prstDash val="solid"/>
          </a:ln>
        </p:spPr>
      </p:sp>
      <p:pic>
        <p:nvPicPr>
          <p:cNvPr id="6" name="icon-LuCircleCheck" descr="LuCircleCheck">    </p:cNvPr>
          <p:cNvPicPr>
            <a:picLocks noChangeAspect="1"/>
          </p:cNvPicPr>
          <p:nvPr/>
        </p:nvPicPr>
        <p:blipFill>
          <a:blip r:embed="rId2"/>
          <a:stretch>
            <a:fillRect/>
          </a:stretch>
        </p:blipFill>
        <p:spPr>
          <a:xfrm>
            <a:off x="6702552" y="1810512"/>
            <a:ext cx="356616" cy="356616"/>
          </a:xfrm>
          <a:prstGeom prst="rect">
            <a:avLst/>
          </a:prstGeom>
        </p:spPr>
      </p:pic>
      <p:sp>
        <p:nvSpPr>
          <p:cNvPr id="7" name="Text 3"/>
          <p:cNvSpPr txBox="1"/>
          <p:nvPr/>
        </p:nvSpPr>
        <p:spPr>
          <a:xfrm>
            <a:off x="7406640" y="1572768"/>
            <a:ext cx="4023360" cy="384048"/>
          </a:xfrm>
          <a:prstGeom prst="rect">
            <a:avLst/>
          </a:prstGeom>
          <a:noFill/>
          <a:ln/>
        </p:spPr>
        <p:txBody>
          <a:bodyPr wrap="square" lIns="0" tIns="0" rIns="0" bIns="0" rtlCol="0" anchor="t"/>
          <a:lstStyle/>
          <a:p>
            <a:pPr indent="0" marL="0">
              <a:buNone/>
            </a:pPr>
            <a:r>
              <a:rPr lang="en-US" sz="1800" b="1" dirty="0">
                <a:solidFill>
                  <a:schemeClr val="accent1"/>
                </a:solidFill>
              </a:rPr>
              <a:t>✓ 맞힘</a:t>
            </a:r>
            <a:endParaRPr lang="en-US" sz="1800" dirty="0"/>
          </a:p>
        </p:txBody>
      </p:sp>
      <p:sp>
        <p:nvSpPr>
          <p:cNvPr id="8" name="Text 4"/>
          <p:cNvSpPr txBox="1"/>
          <p:nvPr/>
        </p:nvSpPr>
        <p:spPr>
          <a:xfrm>
            <a:off x="7406640" y="1965960"/>
            <a:ext cx="4069080" cy="548640"/>
          </a:xfrm>
          <a:prstGeom prst="rect">
            <a:avLst/>
          </a:prstGeom>
          <a:noFill/>
          <a:ln/>
        </p:spPr>
        <p:txBody>
          <a:bodyPr wrap="square" lIns="0" tIns="0" rIns="0" bIns="0" rtlCol="0" anchor="t"/>
          <a:lstStyle/>
          <a:p>
            <a:pPr indent="0" marL="0">
              <a:buNone/>
            </a:pPr>
            <a:r>
              <a:rPr lang="en-US" sz="1350" dirty="0">
                <a:solidFill>
                  <a:schemeClr val="tx1"/>
                </a:solidFill>
              </a:rPr>
              <a:t>때가 된 개념이면 한 칸 올라 더 나중에 다시 나옵니다</a:t>
            </a:r>
            <a:endParaRPr lang="en-US" sz="1350" dirty="0"/>
          </a:p>
        </p:txBody>
      </p:sp>
      <p:sp>
        <p:nvSpPr>
          <p:cNvPr id="9" name="outline"/>
          <p:cNvSpPr/>
          <p:nvPr/>
        </p:nvSpPr>
        <p:spPr>
          <a:xfrm>
            <a:off x="6309360" y="2743200"/>
            <a:ext cx="5330952" cy="1143000"/>
          </a:xfrm>
          <a:prstGeom prst="roundRect">
            <a:avLst>
              <a:gd name="adj" fmla="val 8000"/>
            </a:avLst>
          </a:prstGeom>
          <a:solidFill>
            <a:schemeClr val="bg1"/>
          </a:solidFill>
          <a:ln w="12700">
            <a:solidFill>
              <a:srgbClr val="D9E3DF"/>
            </a:solidFill>
            <a:prstDash val="solid"/>
          </a:ln>
        </p:spPr>
      </p:sp>
      <p:sp>
        <p:nvSpPr>
          <p:cNvPr id="10" name="badge-LuTriangle"/>
          <p:cNvSpPr/>
          <p:nvPr/>
        </p:nvSpPr>
        <p:spPr>
          <a:xfrm>
            <a:off x="6537960" y="2971800"/>
            <a:ext cx="685800" cy="685800"/>
          </a:xfrm>
          <a:prstGeom prst="ellipse">
            <a:avLst/>
          </a:prstGeom>
          <a:solidFill>
            <a:schemeClr val="accent2"/>
          </a:solidFill>
          <a:ln w="12700">
            <a:solidFill>
              <a:schemeClr val="accent2"/>
            </a:solidFill>
            <a:prstDash val="solid"/>
          </a:ln>
        </p:spPr>
      </p:sp>
      <p:pic>
        <p:nvPicPr>
          <p:cNvPr id="11" name="icon-LuTriangle" descr="LuTriangle">    </p:cNvPr>
          <p:cNvPicPr>
            <a:picLocks noChangeAspect="1"/>
          </p:cNvPicPr>
          <p:nvPr/>
        </p:nvPicPr>
        <p:blipFill>
          <a:blip r:embed="rId3"/>
          <a:stretch>
            <a:fillRect/>
          </a:stretch>
        </p:blipFill>
        <p:spPr>
          <a:xfrm>
            <a:off x="6702552" y="3136392"/>
            <a:ext cx="356616" cy="356616"/>
          </a:xfrm>
          <a:prstGeom prst="rect">
            <a:avLst/>
          </a:prstGeom>
        </p:spPr>
      </p:pic>
      <p:sp>
        <p:nvSpPr>
          <p:cNvPr id="12" name="Text 7"/>
          <p:cNvSpPr txBox="1"/>
          <p:nvPr/>
        </p:nvSpPr>
        <p:spPr>
          <a:xfrm>
            <a:off x="7406640" y="2898648"/>
            <a:ext cx="4023360" cy="384048"/>
          </a:xfrm>
          <a:prstGeom prst="rect">
            <a:avLst/>
          </a:prstGeom>
          <a:noFill/>
          <a:ln/>
        </p:spPr>
        <p:txBody>
          <a:bodyPr wrap="square" lIns="0" tIns="0" rIns="0" bIns="0" rtlCol="0" anchor="t"/>
          <a:lstStyle/>
          <a:p>
            <a:pPr indent="0" marL="0">
              <a:buNone/>
            </a:pPr>
            <a:r>
              <a:rPr lang="en-US" sz="1800" b="1" dirty="0">
                <a:solidFill>
                  <a:schemeClr val="accent2"/>
                </a:solidFill>
              </a:rPr>
              <a:t>△ 거의 맞음</a:t>
            </a:r>
            <a:endParaRPr lang="en-US" sz="1800" dirty="0"/>
          </a:p>
        </p:txBody>
      </p:sp>
      <p:sp>
        <p:nvSpPr>
          <p:cNvPr id="13" name="Text 8"/>
          <p:cNvSpPr txBox="1"/>
          <p:nvPr/>
        </p:nvSpPr>
        <p:spPr>
          <a:xfrm>
            <a:off x="7406640" y="3291840"/>
            <a:ext cx="4069080" cy="548640"/>
          </a:xfrm>
          <a:prstGeom prst="rect">
            <a:avLst/>
          </a:prstGeom>
          <a:noFill/>
          <a:ln/>
        </p:spPr>
        <p:txBody>
          <a:bodyPr wrap="square" lIns="0" tIns="0" rIns="0" bIns="0" rtlCol="0" anchor="t"/>
          <a:lstStyle/>
          <a:p>
            <a:pPr indent="0" marL="0">
              <a:buNone/>
            </a:pPr>
            <a:r>
              <a:rPr lang="en-US" sz="1350" dirty="0">
                <a:solidFill>
                  <a:schemeClr val="tx1"/>
                </a:solidFill>
              </a:rPr>
              <a:t>한 칸 내려 조금 일찍 다시 나옵니다. 빠진 점을 짚어 줍니다</a:t>
            </a:r>
            <a:endParaRPr lang="en-US" sz="1350" dirty="0"/>
          </a:p>
        </p:txBody>
      </p:sp>
      <p:sp>
        <p:nvSpPr>
          <p:cNvPr id="14" name="outline"/>
          <p:cNvSpPr/>
          <p:nvPr/>
        </p:nvSpPr>
        <p:spPr>
          <a:xfrm>
            <a:off x="6309360" y="4069080"/>
            <a:ext cx="5330952" cy="1143000"/>
          </a:xfrm>
          <a:prstGeom prst="roundRect">
            <a:avLst>
              <a:gd name="adj" fmla="val 8000"/>
            </a:avLst>
          </a:prstGeom>
          <a:solidFill>
            <a:schemeClr val="bg1"/>
          </a:solidFill>
          <a:ln w="12700">
            <a:solidFill>
              <a:srgbClr val="D9E3DF"/>
            </a:solidFill>
            <a:prstDash val="solid"/>
          </a:ln>
        </p:spPr>
      </p:sp>
      <p:sp>
        <p:nvSpPr>
          <p:cNvPr id="15" name="badge-LuCircleX"/>
          <p:cNvSpPr/>
          <p:nvPr/>
        </p:nvSpPr>
        <p:spPr>
          <a:xfrm>
            <a:off x="6537960" y="4297680"/>
            <a:ext cx="685800" cy="685800"/>
          </a:xfrm>
          <a:prstGeom prst="ellipse">
            <a:avLst/>
          </a:prstGeom>
          <a:solidFill>
            <a:schemeClr val="accent4"/>
          </a:solidFill>
          <a:ln w="12700">
            <a:solidFill>
              <a:schemeClr val="accent4"/>
            </a:solidFill>
            <a:prstDash val="solid"/>
          </a:ln>
        </p:spPr>
      </p:sp>
      <p:pic>
        <p:nvPicPr>
          <p:cNvPr id="16" name="icon-LuCircleX" descr="LuCircleX">    </p:cNvPr>
          <p:cNvPicPr>
            <a:picLocks noChangeAspect="1"/>
          </p:cNvPicPr>
          <p:nvPr/>
        </p:nvPicPr>
        <p:blipFill>
          <a:blip r:embed="rId4"/>
          <a:stretch>
            <a:fillRect/>
          </a:stretch>
        </p:blipFill>
        <p:spPr>
          <a:xfrm>
            <a:off x="6702552" y="4462272"/>
            <a:ext cx="356616" cy="356616"/>
          </a:xfrm>
          <a:prstGeom prst="rect">
            <a:avLst/>
          </a:prstGeom>
        </p:spPr>
      </p:pic>
      <p:sp>
        <p:nvSpPr>
          <p:cNvPr id="17" name="Text 11"/>
          <p:cNvSpPr txBox="1"/>
          <p:nvPr/>
        </p:nvSpPr>
        <p:spPr>
          <a:xfrm>
            <a:off x="7406640" y="4224528"/>
            <a:ext cx="4023360" cy="384048"/>
          </a:xfrm>
          <a:prstGeom prst="rect">
            <a:avLst/>
          </a:prstGeom>
          <a:noFill/>
          <a:ln/>
        </p:spPr>
        <p:txBody>
          <a:bodyPr wrap="square" lIns="0" tIns="0" rIns="0" bIns="0" rtlCol="0" anchor="t"/>
          <a:lstStyle/>
          <a:p>
            <a:pPr indent="0" marL="0">
              <a:buNone/>
            </a:pPr>
            <a:r>
              <a:rPr lang="en-US" sz="1800" b="1" dirty="0">
                <a:solidFill>
                  <a:schemeClr val="accent4"/>
                </a:solidFill>
              </a:rPr>
              <a:t>✗ 틀림</a:t>
            </a:r>
            <a:endParaRPr lang="en-US" sz="1800" dirty="0"/>
          </a:p>
        </p:txBody>
      </p:sp>
      <p:sp>
        <p:nvSpPr>
          <p:cNvPr id="18" name="Text 12"/>
          <p:cNvSpPr txBox="1"/>
          <p:nvPr/>
        </p:nvSpPr>
        <p:spPr>
          <a:xfrm>
            <a:off x="7406640" y="4617720"/>
            <a:ext cx="4069080" cy="548640"/>
          </a:xfrm>
          <a:prstGeom prst="rect">
            <a:avLst/>
          </a:prstGeom>
          <a:noFill/>
          <a:ln/>
        </p:spPr>
        <p:txBody>
          <a:bodyPr wrap="square" lIns="0" tIns="0" rIns="0" bIns="0" rtlCol="0" anchor="t"/>
          <a:lstStyle/>
          <a:p>
            <a:pPr indent="0" marL="0">
              <a:buNone/>
            </a:pPr>
            <a:r>
              <a:rPr lang="en-US" sz="1350" dirty="0">
                <a:solidFill>
                  <a:schemeClr val="tx1"/>
                </a:solidFill>
              </a:rPr>
              <a:t>처음 단계로 돌아가 다음 퀴즈 맨 앞에 나옵니다</a:t>
            </a:r>
            <a:endParaRPr lang="en-US" sz="1350" dirty="0"/>
          </a:p>
        </p:txBody>
      </p:sp>
      <p:sp>
        <p:nvSpPr>
          <p:cNvPr id="19" name="card"/>
          <p:cNvSpPr/>
          <p:nvPr/>
        </p:nvSpPr>
        <p:spPr>
          <a:xfrm>
            <a:off x="6309360" y="5440680"/>
            <a:ext cx="5330952" cy="685800"/>
          </a:xfrm>
          <a:prstGeom prst="roundRect">
            <a:avLst>
              <a:gd name="adj" fmla="val 13333"/>
            </a:avLst>
          </a:prstGeom>
          <a:solidFill>
            <a:schemeClr val="bg2"/>
          </a:solidFill>
          <a:ln w="9525">
            <a:solidFill>
              <a:schemeClr val="bg2"/>
            </a:solidFill>
            <a:prstDash val="solid"/>
          </a:ln>
        </p:spPr>
      </p:sp>
      <p:sp>
        <p:nvSpPr>
          <p:cNvPr id="20" name="Text 14"/>
          <p:cNvSpPr txBox="1"/>
          <p:nvPr/>
        </p:nvSpPr>
        <p:spPr>
          <a:xfrm>
            <a:off x="6537960" y="5440680"/>
            <a:ext cx="4937760" cy="685800"/>
          </a:xfrm>
          <a:prstGeom prst="rect">
            <a:avLst/>
          </a:prstGeom>
          <a:noFill/>
          <a:ln/>
        </p:spPr>
        <p:txBody>
          <a:bodyPr wrap="square" lIns="0" tIns="0" rIns="0" bIns="0" rtlCol="0" anchor="ctr"/>
          <a:lstStyle/>
          <a:p>
            <a:pPr indent="0" marL="0">
              <a:buNone/>
            </a:pPr>
            <a:r>
              <a:rPr lang="en-US" sz="1300" b="1" dirty="0">
                <a:solidFill>
                  <a:schemeClr val="tx2"/>
                </a:solidFill>
              </a:rPr>
              <a:t>예측은 값이, 바꿔 보기는 동작이 맞으면 맞힘</a:t>
            </a:r>
            <a:endParaRPr lang="en-US" sz="1300" dirty="0"/>
          </a:p>
          <a:p>
            <a:pPr indent="0" marL="0">
              <a:buNone/>
            </a:pPr>
            <a:r>
              <a:rPr lang="en-US" sz="1300" b="1" dirty="0">
                <a:solidFill>
                  <a:schemeClr val="tx2"/>
                </a:solidFill>
              </a:rPr>
              <a:t>힌트 봄 · 풀이 봄 · 되짚어 맞힘은 단계 그대로</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오답 노트 — 헷갈린 점은 다음 퀴즈에서 다시</a:t>
            </a:r>
            <a:endParaRPr lang="en-US" sz="3000" dirty="0"/>
          </a:p>
        </p:txBody>
      </p:sp>
      <p:sp>
        <p:nvSpPr>
          <p:cNvPr id="3" name="Text 1"/>
          <p:cNvSpPr txBox="1"/>
          <p:nvPr/>
        </p:nvSpPr>
        <p:spPr>
          <a:xfrm>
            <a:off x="548640" y="1325880"/>
            <a:ext cx="3657600" cy="777240"/>
          </a:xfrm>
          <a:prstGeom prst="rect">
            <a:avLst/>
          </a:prstGeom>
          <a:noFill/>
          <a:ln/>
        </p:spPr>
        <p:txBody>
          <a:bodyPr wrap="square" lIns="0" tIns="0" rIns="0" bIns="0" rtlCol="0" anchor="t"/>
          <a:lstStyle/>
          <a:p>
            <a:pPr indent="0" marL="0">
              <a:buNone/>
            </a:pPr>
            <a:r>
              <a:rPr lang="en-US" sz="1350" dirty="0">
                <a:solidFill>
                  <a:schemeClr val="tx1"/>
                </a:solidFill>
              </a:rPr>
              <a:t>첫 답이 틀리면 Claude가 무엇을 헷갈렸는지 한 줄로 적어 둡니다. 새 키나 명령은 없습니다.</a:t>
            </a:r>
            <a:endParaRPr lang="en-US" sz="1350" dirty="0"/>
          </a:p>
        </p:txBody>
      </p:sp>
      <p:sp>
        <p:nvSpPr>
          <p:cNvPr id="4" name="slip-bar-0"/>
          <p:cNvSpPr/>
          <p:nvPr/>
        </p:nvSpPr>
        <p:spPr>
          <a:xfrm>
            <a:off x="548640" y="2249424"/>
            <a:ext cx="64008" cy="749808"/>
          </a:xfrm>
          <a:prstGeom prst="rect">
            <a:avLst/>
          </a:prstGeom>
          <a:solidFill>
            <a:schemeClr val="accent4"/>
          </a:solidFill>
          <a:ln w="12700">
            <a:solidFill>
              <a:schemeClr val="accent4"/>
            </a:solidFill>
            <a:prstDash val="solid"/>
          </a:ln>
        </p:spPr>
      </p:sp>
      <p:sp>
        <p:nvSpPr>
          <p:cNvPr id="5" name="Text 3"/>
          <p:cNvSpPr txBox="1"/>
          <p:nvPr/>
        </p:nvSpPr>
        <p:spPr>
          <a:xfrm>
            <a:off x="749808" y="2212848"/>
            <a:ext cx="3474720" cy="310896"/>
          </a:xfrm>
          <a:prstGeom prst="rect">
            <a:avLst/>
          </a:prstGeom>
          <a:noFill/>
          <a:ln/>
        </p:spPr>
        <p:txBody>
          <a:bodyPr wrap="square" lIns="0" tIns="0" rIns="0" bIns="0" rtlCol="0" anchor="t"/>
          <a:lstStyle/>
          <a:p>
            <a:pPr indent="0" marL="0">
              <a:buNone/>
            </a:pPr>
            <a:r>
              <a:rPr lang="en-US" sz="1500" b="1" dirty="0">
                <a:solidFill>
                  <a:schemeClr val="accent4"/>
                </a:solidFill>
              </a:rPr>
              <a:t>헷갈린 점</a:t>
            </a:r>
            <a:endParaRPr lang="en-US" sz="1500" dirty="0"/>
          </a:p>
        </p:txBody>
      </p:sp>
      <p:sp>
        <p:nvSpPr>
          <p:cNvPr id="6" name="Text 4"/>
          <p:cNvSpPr txBox="1"/>
          <p:nvPr/>
        </p:nvSpPr>
        <p:spPr>
          <a:xfrm>
            <a:off x="749808" y="2542032"/>
            <a:ext cx="3474720" cy="512064"/>
          </a:xfrm>
          <a:prstGeom prst="rect">
            <a:avLst/>
          </a:prstGeom>
          <a:noFill/>
          <a:ln/>
        </p:spPr>
        <p:txBody>
          <a:bodyPr wrap="square" lIns="0" tIns="0" rIns="0" bIns="0" rtlCol="0" anchor="t"/>
          <a:lstStyle/>
          <a:p>
            <a:pPr indent="0" marL="0">
              <a:buNone/>
            </a:pPr>
            <a:r>
              <a:rPr lang="en-US" sz="1250" dirty="0">
                <a:solidFill>
                  <a:schemeClr val="tx1"/>
                </a:solidFill>
              </a:rPr>
              <a:t>한 번 더도 틀리면 피드백 아래 흐린 한 줄. 다음 퀴즈에서 다른 코드로 다시 묻습니다.</a:t>
            </a:r>
            <a:endParaRPr lang="en-US" sz="1250" dirty="0"/>
          </a:p>
        </p:txBody>
      </p:sp>
      <p:sp>
        <p:nvSpPr>
          <p:cNvPr id="7" name="slip-bar-1"/>
          <p:cNvSpPr/>
          <p:nvPr/>
        </p:nvSpPr>
        <p:spPr>
          <a:xfrm>
            <a:off x="548640" y="3145536"/>
            <a:ext cx="64008" cy="749808"/>
          </a:xfrm>
          <a:prstGeom prst="rect">
            <a:avLst/>
          </a:prstGeom>
          <a:solidFill>
            <a:schemeClr val="accent2"/>
          </a:solidFill>
          <a:ln w="12700">
            <a:solidFill>
              <a:schemeClr val="accent2"/>
            </a:solidFill>
            <a:prstDash val="solid"/>
          </a:ln>
        </p:spPr>
      </p:sp>
      <p:sp>
        <p:nvSpPr>
          <p:cNvPr id="8" name="Text 6"/>
          <p:cNvSpPr txBox="1"/>
          <p:nvPr/>
        </p:nvSpPr>
        <p:spPr>
          <a:xfrm>
            <a:off x="749808" y="3108960"/>
            <a:ext cx="3474720" cy="310896"/>
          </a:xfrm>
          <a:prstGeom prst="rect">
            <a:avLst/>
          </a:prstGeom>
          <a:noFill/>
          <a:ln/>
        </p:spPr>
        <p:txBody>
          <a:bodyPr wrap="square" lIns="0" tIns="0" rIns="0" bIns="0" rtlCol="0" anchor="t"/>
          <a:lstStyle/>
          <a:p>
            <a:pPr indent="0" marL="0">
              <a:buNone/>
            </a:pPr>
            <a:r>
              <a:rPr lang="en-US" sz="1500" b="1" dirty="0">
                <a:solidFill>
                  <a:schemeClr val="accent2"/>
                </a:solidFill>
              </a:rPr>
              <a:t>다시 도전</a:t>
            </a:r>
            <a:endParaRPr lang="en-US" sz="1500" dirty="0"/>
          </a:p>
        </p:txBody>
      </p:sp>
      <p:sp>
        <p:nvSpPr>
          <p:cNvPr id="9" name="Text 7"/>
          <p:cNvSpPr txBox="1"/>
          <p:nvPr/>
        </p:nvSpPr>
        <p:spPr>
          <a:xfrm>
            <a:off x="749808" y="3438144"/>
            <a:ext cx="3474720" cy="512064"/>
          </a:xfrm>
          <a:prstGeom prst="rect">
            <a:avLst/>
          </a:prstGeom>
          <a:noFill/>
          <a:ln/>
        </p:spPr>
        <p:txBody>
          <a:bodyPr wrap="square" lIns="0" tIns="0" rIns="0" bIns="0" rtlCol="0" anchor="t"/>
          <a:lstStyle/>
          <a:p>
            <a:pPr indent="0" marL="0">
              <a:buNone/>
            </a:pPr>
            <a:r>
              <a:rPr lang="en-US" sz="1250" dirty="0">
                <a:solidFill>
                  <a:schemeClr val="tx1"/>
                </a:solidFill>
              </a:rPr>
              <a:t>다음 퀴즈 맨 앞에 나옵니다. 헷갈린 점은 답하기 전에는 보이지 않습니다.</a:t>
            </a:r>
            <a:endParaRPr lang="en-US" sz="1250" dirty="0"/>
          </a:p>
        </p:txBody>
      </p:sp>
      <p:sp>
        <p:nvSpPr>
          <p:cNvPr id="10" name="slip-bar-2"/>
          <p:cNvSpPr/>
          <p:nvPr/>
        </p:nvSpPr>
        <p:spPr>
          <a:xfrm>
            <a:off x="548640" y="4041648"/>
            <a:ext cx="64008" cy="749808"/>
          </a:xfrm>
          <a:prstGeom prst="rect">
            <a:avLst/>
          </a:prstGeom>
          <a:solidFill>
            <a:schemeClr val="accent1"/>
          </a:solidFill>
          <a:ln w="12700">
            <a:solidFill>
              <a:schemeClr val="accent1"/>
            </a:solidFill>
            <a:prstDash val="solid"/>
          </a:ln>
        </p:spPr>
      </p:sp>
      <p:sp>
        <p:nvSpPr>
          <p:cNvPr id="11" name="Text 9"/>
          <p:cNvSpPr txBox="1"/>
          <p:nvPr/>
        </p:nvSpPr>
        <p:spPr>
          <a:xfrm>
            <a:off x="749808" y="4005072"/>
            <a:ext cx="3474720" cy="310896"/>
          </a:xfrm>
          <a:prstGeom prst="rect">
            <a:avLst/>
          </a:prstGeom>
          <a:noFill/>
          <a:ln/>
        </p:spPr>
        <p:txBody>
          <a:bodyPr wrap="square" lIns="0" tIns="0" rIns="0" bIns="0" rtlCol="0" anchor="t"/>
          <a:lstStyle/>
          <a:p>
            <a:pPr indent="0" marL="0">
              <a:buNone/>
            </a:pPr>
            <a:r>
              <a:rPr lang="en-US" sz="1500" b="1" dirty="0">
                <a:solidFill>
                  <a:schemeClr val="accent1"/>
                </a:solidFill>
              </a:rPr>
              <a:t>✓ 바로잡음</a:t>
            </a:r>
            <a:endParaRPr lang="en-US" sz="1500" dirty="0"/>
          </a:p>
        </p:txBody>
      </p:sp>
      <p:sp>
        <p:nvSpPr>
          <p:cNvPr id="12" name="Text 10"/>
          <p:cNvSpPr txBox="1"/>
          <p:nvPr/>
        </p:nvSpPr>
        <p:spPr>
          <a:xfrm>
            <a:off x="749808" y="4334256"/>
            <a:ext cx="3474720" cy="512064"/>
          </a:xfrm>
          <a:prstGeom prst="rect">
            <a:avLst/>
          </a:prstGeom>
          <a:noFill/>
          <a:ln/>
        </p:spPr>
        <p:txBody>
          <a:bodyPr wrap="square" lIns="0" tIns="0" rIns="0" bIns="0" rtlCol="0" anchor="t"/>
          <a:lstStyle/>
          <a:p>
            <a:pPr indent="0" marL="0">
              <a:buNone/>
            </a:pPr>
            <a:r>
              <a:rPr lang="en-US" sz="1250" dirty="0">
                <a:solidFill>
                  <a:schemeClr val="tx1"/>
                </a:solidFill>
              </a:rPr>
              <a:t>다른 날 힌트·되묻기 없이 맞히면 초록 줄로 알려 줍니다.</a:t>
            </a:r>
            <a:endParaRPr lang="en-US" sz="1250" dirty="0"/>
          </a:p>
        </p:txBody>
      </p:sp>
      <p:sp>
        <p:nvSpPr>
          <p:cNvPr id="13" name="slip-bar-3"/>
          <p:cNvSpPr/>
          <p:nvPr/>
        </p:nvSpPr>
        <p:spPr>
          <a:xfrm>
            <a:off x="548640" y="4937760"/>
            <a:ext cx="64008" cy="749808"/>
          </a:xfrm>
          <a:prstGeom prst="rect">
            <a:avLst/>
          </a:prstGeom>
          <a:solidFill>
            <a:schemeClr val="accent5"/>
          </a:solidFill>
          <a:ln w="12700">
            <a:solidFill>
              <a:schemeClr val="accent5"/>
            </a:solidFill>
            <a:prstDash val="solid"/>
          </a:ln>
        </p:spPr>
      </p:sp>
      <p:sp>
        <p:nvSpPr>
          <p:cNvPr id="14" name="Text 12"/>
          <p:cNvSpPr txBox="1"/>
          <p:nvPr/>
        </p:nvSpPr>
        <p:spPr>
          <a:xfrm>
            <a:off x="749808" y="4901184"/>
            <a:ext cx="3474720" cy="310896"/>
          </a:xfrm>
          <a:prstGeom prst="rect">
            <a:avLst/>
          </a:prstGeom>
          <a:noFill/>
          <a:ln/>
        </p:spPr>
        <p:txBody>
          <a:bodyPr wrap="square" lIns="0" tIns="0" rIns="0" bIns="0" rtlCol="0" anchor="t"/>
          <a:lstStyle/>
          <a:p>
            <a:pPr indent="0" marL="0">
              <a:buNone/>
            </a:pPr>
            <a:r>
              <a:rPr lang="en-US" sz="1500" b="1" dirty="0">
                <a:solidFill>
                  <a:schemeClr val="accent5"/>
                </a:solidFill>
              </a:rPr>
              <a:t>또 틀리면</a:t>
            </a:r>
            <a:endParaRPr lang="en-US" sz="1500" dirty="0"/>
          </a:p>
        </p:txBody>
      </p:sp>
      <p:sp>
        <p:nvSpPr>
          <p:cNvPr id="15" name="Text 13"/>
          <p:cNvSpPr txBox="1"/>
          <p:nvPr/>
        </p:nvSpPr>
        <p:spPr>
          <a:xfrm>
            <a:off x="749808" y="5230368"/>
            <a:ext cx="3474720" cy="512064"/>
          </a:xfrm>
          <a:prstGeom prst="rect">
            <a:avLst/>
          </a:prstGeom>
          <a:noFill/>
          <a:ln/>
        </p:spPr>
        <p:txBody>
          <a:bodyPr wrap="square" lIns="0" tIns="0" rIns="0" bIns="0" rtlCol="0" anchor="t"/>
          <a:lstStyle/>
          <a:p>
            <a:pPr indent="0" marL="0">
              <a:buNone/>
            </a:pPr>
            <a:r>
              <a:rPr lang="en-US" sz="1250" dirty="0">
                <a:solidFill>
                  <a:schemeClr val="tx1"/>
                </a:solidFill>
              </a:rPr>
              <a:t>"같은 곳을 또 헷갈렸습니다 · 다음 복습 퀴즈는 풀이부터 보여 줍니다" (다음 장)</a:t>
            </a:r>
            <a:endParaRPr lang="en-US" sz="1250" dirty="0"/>
          </a:p>
        </p:txBody>
      </p:sp>
      <p:pic>
        <p:nvPicPr>
          <p:cNvPr id="16" name="slip-pane" descr="slip-pane">    </p:cNvPr>
          <p:cNvPicPr>
            <a:picLocks noChangeAspect="1"/>
          </p:cNvPicPr>
          <p:nvPr/>
        </p:nvPicPr>
        <p:blipFill>
          <a:blip r:embed="rId1"/>
          <a:stretch>
            <a:fillRect/>
          </a:stretch>
        </p:blipFill>
        <p:spPr>
          <a:xfrm>
            <a:off x="4434840" y="1325880"/>
            <a:ext cx="3520440" cy="2049523"/>
          </a:xfrm>
          <a:prstGeom prst="rect">
            <a:avLst/>
          </a:prstGeom>
          <a:effectLst>
            <a:outerShdw sx="100000" sy="100000" kx="0" ky="0" algn="bl" rotWithShape="0" blurRad="6.767523424101889e+33" dist="2.0302570272305663e+33" dir="1.5116544e+40">
              <a:srgbClr val="0F3D3E">
                <a:alpha val="2.8000000000000006e+39"/>
              </a:srgbClr>
            </a:outerShdw>
          </a:effectLst>
        </p:spPr>
      </p:pic>
      <p:pic>
        <p:nvPicPr>
          <p:cNvPr id="17" name="retry-pane" descr="retry-pane">    </p:cNvPr>
          <p:cNvPicPr>
            <a:picLocks noChangeAspect="1"/>
          </p:cNvPicPr>
          <p:nvPr/>
        </p:nvPicPr>
        <p:blipFill>
          <a:blip r:embed="rId2"/>
          <a:stretch>
            <a:fillRect/>
          </a:stretch>
        </p:blipFill>
        <p:spPr>
          <a:xfrm>
            <a:off x="8119872" y="1325880"/>
            <a:ext cx="3520440" cy="2136663"/>
          </a:xfrm>
          <a:prstGeom prst="rect">
            <a:avLst/>
          </a:prstGeom>
          <a:effectLst>
            <a:outerShdw sx="100000" sy="100000" kx="0" ky="0" algn="bl" rotWithShape="0" blurRad="8.594754748609398e+37" dist="2.578426424582819e+37" dir="9.069926400000001e+44">
              <a:srgbClr val="0F3D3E">
                <a:alpha val="2.8000000000000005e+44"/>
              </a:srgbClr>
            </a:outerShdw>
          </a:effectLst>
        </p:spPr>
      </p:pic>
      <p:sp>
        <p:nvSpPr>
          <p:cNvPr id="18" name="Text 14"/>
          <p:cNvSpPr txBox="1"/>
          <p:nvPr/>
        </p:nvSpPr>
        <p:spPr>
          <a:xfrm>
            <a:off x="4434840" y="3553983"/>
            <a:ext cx="3520440" cy="274320"/>
          </a:xfrm>
          <a:prstGeom prst="rect">
            <a:avLst/>
          </a:prstGeom>
          <a:noFill/>
          <a:ln/>
        </p:spPr>
        <p:txBody>
          <a:bodyPr wrap="square" lIns="0" tIns="0" rIns="0" bIns="0" rtlCol="0" anchor="t"/>
          <a:lstStyle/>
          <a:p>
            <a:pPr algn="ctr" indent="0" marL="0">
              <a:buNone/>
            </a:pPr>
            <a:r>
              <a:rPr lang="en-US" sz="1200" b="1" dirty="0">
                <a:solidFill>
                  <a:schemeClr val="tx2"/>
                </a:solidFill>
              </a:rPr>
              <a:t>① 채점 직후: 헷갈린 점 한 줄</a:t>
            </a:r>
            <a:endParaRPr lang="en-US" sz="1200" dirty="0"/>
          </a:p>
        </p:txBody>
      </p:sp>
      <p:sp>
        <p:nvSpPr>
          <p:cNvPr id="19" name="Text 15"/>
          <p:cNvSpPr txBox="1"/>
          <p:nvPr/>
        </p:nvSpPr>
        <p:spPr>
          <a:xfrm>
            <a:off x="8119872" y="3553983"/>
            <a:ext cx="3520440" cy="274320"/>
          </a:xfrm>
          <a:prstGeom prst="rect">
            <a:avLst/>
          </a:prstGeom>
          <a:noFill/>
          <a:ln/>
        </p:spPr>
        <p:txBody>
          <a:bodyPr wrap="square" lIns="0" tIns="0" rIns="0" bIns="0" rtlCol="0" anchor="t"/>
          <a:lstStyle/>
          <a:p>
            <a:pPr algn="ctr" indent="0" marL="0">
              <a:buNone/>
            </a:pPr>
            <a:r>
              <a:rPr lang="en-US" sz="1200" b="1" dirty="0">
                <a:solidFill>
                  <a:schemeClr val="tx2"/>
                </a:solidFill>
              </a:rPr>
              <a:t>② 다음 퀴즈: 문제 1/3 · 다시 도전</a:t>
            </a:r>
            <a:endParaRPr lang="en-US" sz="1200" dirty="0"/>
          </a:p>
        </p:txBody>
      </p:sp>
      <p:sp>
        <p:nvSpPr>
          <p:cNvPr id="20" name="Text 16"/>
          <p:cNvSpPr txBox="1"/>
          <p:nvPr/>
        </p:nvSpPr>
        <p:spPr>
          <a:xfrm>
            <a:off x="4434840" y="3938031"/>
            <a:ext cx="7205472" cy="274320"/>
          </a:xfrm>
          <a:prstGeom prst="rect">
            <a:avLst/>
          </a:prstGeom>
          <a:noFill/>
          <a:ln/>
        </p:spPr>
        <p:txBody>
          <a:bodyPr wrap="square" lIns="0" tIns="0" rIns="0" bIns="0" rtlCol="0" anchor="t"/>
          <a:lstStyle/>
          <a:p>
            <a:pPr indent="0" marL="0">
              <a:buNone/>
            </a:pPr>
            <a:r>
              <a:rPr lang="en-US" sz="1200" b="1" dirty="0">
                <a:solidFill>
                  <a:schemeClr val="tx2"/>
                </a:solidFill>
              </a:rPr>
              <a:t>③ 그 개념을 다시 만난 노트</a:t>
            </a:r>
            <a:r>
              <a:rPr lang="en-US" sz="1200" dirty="0">
                <a:solidFill>
                  <a:srgbClr val="5A6B70"/>
                </a:solidFill>
              </a:rPr>
              <a:t>  ·  개념 줄 아래에 이름만 (1.8.0)</a:t>
            </a:r>
            <a:endParaRPr lang="en-US" sz="1200" dirty="0"/>
          </a:p>
        </p:txBody>
      </p:sp>
      <p:pic>
        <p:nvPicPr>
          <p:cNvPr id="21" name="slipline-band" descr="slipline-band">    </p:cNvPr>
          <p:cNvPicPr>
            <a:picLocks noChangeAspect="1"/>
          </p:cNvPicPr>
          <p:nvPr/>
        </p:nvPicPr>
        <p:blipFill>
          <a:blip r:embed="rId3"/>
          <a:stretch>
            <a:fillRect/>
          </a:stretch>
        </p:blipFill>
        <p:spPr>
          <a:xfrm>
            <a:off x="4434840" y="4248927"/>
            <a:ext cx="5120640" cy="735141"/>
          </a:xfrm>
          <a:prstGeom prst="rect">
            <a:avLst/>
          </a:prstGeom>
          <a:effectLst>
            <a:outerShdw sx="100000" sy="100000" kx="0" ky="0" algn="bl" rotWithShape="0" blurRad="1.0915338530733936e+42" dist="3.2746015592201804e+41" dir="5.44195584e+49">
              <a:srgbClr val="0F3D3E">
                <a:alpha val="2.8000000000000003e+49"/>
              </a:srgbClr>
            </a:outerShdw>
          </a:effectLst>
        </p:spPr>
      </p:pic>
      <p:sp>
        <p:nvSpPr>
          <p:cNvPr id="22" name="Text 17"/>
          <p:cNvSpPr txBox="1"/>
          <p:nvPr/>
        </p:nvSpPr>
        <p:spPr>
          <a:xfrm>
            <a:off x="9738360" y="4248927"/>
            <a:ext cx="1901952" cy="735141"/>
          </a:xfrm>
          <a:prstGeom prst="rect">
            <a:avLst/>
          </a:prstGeom>
          <a:noFill/>
          <a:ln/>
        </p:spPr>
        <p:txBody>
          <a:bodyPr wrap="square" lIns="0" tIns="0" rIns="0" bIns="0" rtlCol="0" anchor="ctr"/>
          <a:lstStyle/>
          <a:p>
            <a:pPr indent="0" marL="0">
              <a:buNone/>
            </a:pPr>
            <a:r>
              <a:rPr lang="en-US" sz="1100" dirty="0">
                <a:solidFill>
                  <a:srgbClr val="5A6B70"/>
                </a:solidFill>
              </a:rPr>
              <a:t>헷갈린 점 문장은 보이지 않습니다. 다음 다시 도전의 답을 미리 알려 주지 않으려는 것입니다.</a:t>
            </a:r>
            <a:endParaRPr lang="en-US" sz="1100" dirty="0"/>
          </a:p>
        </p:txBody>
      </p:sp>
      <p:sp>
        <p:nvSpPr>
          <p:cNvPr id="23" name="record-line"/>
          <p:cNvSpPr/>
          <p:nvPr/>
        </p:nvSpPr>
        <p:spPr>
          <a:xfrm>
            <a:off x="4434840" y="5148660"/>
            <a:ext cx="7205472" cy="959532"/>
          </a:xfrm>
          <a:prstGeom prst="roundRect">
            <a:avLst>
              <a:gd name="adj" fmla="val 9530"/>
            </a:avLst>
          </a:prstGeom>
          <a:solidFill>
            <a:schemeClr val="bg2"/>
          </a:solidFill>
          <a:ln w="9525">
            <a:solidFill>
              <a:schemeClr val="bg2"/>
            </a:solidFill>
            <a:prstDash val="solid"/>
          </a:ln>
        </p:spPr>
      </p:sp>
      <p:sp>
        <p:nvSpPr>
          <p:cNvPr id="24" name="Text 19"/>
          <p:cNvSpPr txBox="1"/>
          <p:nvPr/>
        </p:nvSpPr>
        <p:spPr>
          <a:xfrm>
            <a:off x="4663440" y="5148660"/>
            <a:ext cx="6812280" cy="959532"/>
          </a:xfrm>
          <a:prstGeom prst="rect">
            <a:avLst/>
          </a:prstGeom>
          <a:noFill/>
          <a:ln/>
        </p:spPr>
        <p:txBody>
          <a:bodyPr wrap="square" lIns="0" tIns="0" rIns="0" bIns="0" rtlCol="0" anchor="ctr"/>
          <a:lstStyle/>
          <a:p>
            <a:pPr indent="0" marL="0">
              <a:spcAft>
                <a:spcPts val="300"/>
              </a:spcAft>
              <a:buNone/>
            </a:pPr>
            <a:r>
              <a:rPr lang="en-US" sz="1300" b="1" dirty="0">
                <a:solidFill>
                  <a:schemeClr val="tx2"/>
                </a:solidFill>
              </a:rPr>
              <a:t>④ </a:t>
            </a:r>
            <a:r>
              <a:rPr lang="en-US" sz="1300" b="1" dirty="0">
                <a:solidFill>
                  <a:schemeClr val="accent1"/>
                </a:solidFill>
                <a:latin typeface="Courier New" pitchFamily="34" charset="0"/>
                <a:ea typeface="Courier New" pitchFamily="34" charset="-122"/>
                <a:cs typeface="Courier New" pitchFamily="34" charset="-120"/>
              </a:rPr>
              <a:t>/learn</a:t>
            </a:r>
            <a:r>
              <a:rPr lang="en-US" sz="1300" b="1" dirty="0">
                <a:solidFill>
                  <a:schemeClr val="accent1"/>
                </a:solidFill>
              </a:rPr>
              <a:t> 기록</a:t>
            </a:r>
            <a:r>
              <a:rPr lang="en-US" sz="1300" b="1" dirty="0">
                <a:solidFill>
                  <a:schemeClr val="tx2"/>
                </a:solidFill>
              </a:rPr>
              <a:t>   최근 30일에 같은 종류로 헷갈린 개념이 3개 이상이면 한 줄</a:t>
            </a:r>
            <a:endParaRPr lang="en-US" sz="1300" dirty="0"/>
          </a:p>
          <a:p>
            <a:pPr indent="0" marL="0">
              <a:spcAft>
                <a:spcPts val="300"/>
              </a:spcAft>
              <a:buNone/>
            </a:pPr>
            <a:r>
              <a:rPr lang="en-US" sz="1150" dirty="0">
                <a:solidFill>
                  <a:schemeClr val="tx1"/>
                </a:solidFill>
              </a:rPr>
              <a:t>- 최근 30일 같은 종류로 헷갈린 개념 3개: filter, 화살표 함수, 가드 절 · 반환과 출력(함수가 돌려주는 값과 화면에 찍히는 값)</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문제 사다리 — 단계가 오르면 묻는 코드가 바뀝니다</a:t>
            </a:r>
            <a:endParaRPr lang="en-US" sz="3000" dirty="0"/>
          </a:p>
        </p:txBody>
      </p:sp>
      <p:sp>
        <p:nvSpPr>
          <p:cNvPr id="3" name="Text 1"/>
          <p:cNvSpPr txBox="1"/>
          <p:nvPr/>
        </p:nvSpPr>
        <p:spPr>
          <a:xfrm>
            <a:off x="548640" y="1325880"/>
            <a:ext cx="3657600" cy="731520"/>
          </a:xfrm>
          <a:prstGeom prst="rect">
            <a:avLst/>
          </a:prstGeom>
          <a:noFill/>
          <a:ln/>
        </p:spPr>
        <p:txBody>
          <a:bodyPr wrap="square" lIns="0" tIns="0" rIns="0" bIns="0" rtlCol="0" anchor="t"/>
          <a:lstStyle/>
          <a:p>
            <a:pPr indent="0" marL="0">
              <a:buNone/>
            </a:pPr>
            <a:r>
              <a:rPr lang="en-US" sz="1350" dirty="0">
                <a:solidFill>
                  <a:schemeClr val="tx1"/>
                </a:solidFill>
              </a:rPr>
              <a:t>같은 개념도 복습 단계에 따라 다른 코드로 묻습니다. 어느 칸으로 물을지는 내가 고르지 않고 단계가 정합니다.</a:t>
            </a:r>
            <a:endParaRPr lang="en-US" sz="1350" dirty="0"/>
          </a:p>
        </p:txBody>
      </p:sp>
      <p:sp>
        <p:nvSpPr>
          <p:cNvPr id="4" name="rung-bar-0"/>
          <p:cNvSpPr/>
          <p:nvPr/>
        </p:nvSpPr>
        <p:spPr>
          <a:xfrm>
            <a:off x="548640" y="2157984"/>
            <a:ext cx="64008" cy="822960"/>
          </a:xfrm>
          <a:prstGeom prst="rect">
            <a:avLst/>
          </a:prstGeom>
          <a:solidFill>
            <a:schemeClr val="accent3"/>
          </a:solidFill>
          <a:ln w="12700">
            <a:solidFill>
              <a:schemeClr val="accent3"/>
            </a:solidFill>
            <a:prstDash val="solid"/>
          </a:ln>
        </p:spPr>
      </p:sp>
      <p:sp>
        <p:nvSpPr>
          <p:cNvPr id="5" name="Text 3"/>
          <p:cNvSpPr txBox="1"/>
          <p:nvPr/>
        </p:nvSpPr>
        <p:spPr>
          <a:xfrm>
            <a:off x="749808" y="2121408"/>
            <a:ext cx="3474720" cy="310896"/>
          </a:xfrm>
          <a:prstGeom prst="rect">
            <a:avLst/>
          </a:prstGeom>
          <a:noFill/>
          <a:ln/>
        </p:spPr>
        <p:txBody>
          <a:bodyPr wrap="square" lIns="0" tIns="0" rIns="0" bIns="0" rtlCol="0" anchor="t"/>
          <a:lstStyle/>
          <a:p>
            <a:pPr indent="0" marL="0">
              <a:buNone/>
            </a:pPr>
            <a:r>
              <a:rPr lang="en-US" sz="1500" b="1" dirty="0">
                <a:solidFill>
                  <a:schemeClr val="accent3"/>
                </a:solidFill>
              </a:rPr>
              <a:t>내 코드</a:t>
            </a:r>
            <a:endParaRPr lang="en-US" sz="1500" dirty="0"/>
          </a:p>
        </p:txBody>
      </p:sp>
      <p:sp>
        <p:nvSpPr>
          <p:cNvPr id="6" name="Text 4"/>
          <p:cNvSpPr txBox="1"/>
          <p:nvPr/>
        </p:nvSpPr>
        <p:spPr>
          <a:xfrm>
            <a:off x="749808" y="2450592"/>
            <a:ext cx="3474720" cy="585216"/>
          </a:xfrm>
          <a:prstGeom prst="rect">
            <a:avLst/>
          </a:prstGeom>
          <a:noFill/>
          <a:ln/>
        </p:spPr>
        <p:txBody>
          <a:bodyPr wrap="square" lIns="0" tIns="0" rIns="0" bIns="0" rtlCol="0" anchor="t"/>
          <a:lstStyle/>
          <a:p>
            <a:pPr indent="0" marL="0">
              <a:buNone/>
            </a:pPr>
            <a:r>
              <a:rPr lang="en-US" sz="1250" dirty="0">
                <a:solidFill>
                  <a:schemeClr val="tx1"/>
                </a:solidFill>
              </a:rPr>
              <a:t>처음 두 단계(1일 · 3일 복습)는 그 개념을 배운 노트의 내 코드 그대로 묻습니다.</a:t>
            </a:r>
            <a:endParaRPr lang="en-US" sz="1250" dirty="0"/>
          </a:p>
        </p:txBody>
      </p:sp>
      <p:sp>
        <p:nvSpPr>
          <p:cNvPr id="7" name="rung-bar-1"/>
          <p:cNvSpPr/>
          <p:nvPr/>
        </p:nvSpPr>
        <p:spPr>
          <a:xfrm>
            <a:off x="548640" y="3099816"/>
            <a:ext cx="64008" cy="822960"/>
          </a:xfrm>
          <a:prstGeom prst="rect">
            <a:avLst/>
          </a:prstGeom>
          <a:solidFill>
            <a:schemeClr val="accent2"/>
          </a:solidFill>
          <a:ln w="12700">
            <a:solidFill>
              <a:schemeClr val="accent2"/>
            </a:solidFill>
            <a:prstDash val="solid"/>
          </a:ln>
        </p:spPr>
      </p:sp>
      <p:sp>
        <p:nvSpPr>
          <p:cNvPr id="8" name="Text 6"/>
          <p:cNvSpPr txBox="1"/>
          <p:nvPr/>
        </p:nvSpPr>
        <p:spPr>
          <a:xfrm>
            <a:off x="749808" y="3063240"/>
            <a:ext cx="3474720" cy="310896"/>
          </a:xfrm>
          <a:prstGeom prst="rect">
            <a:avLst/>
          </a:prstGeom>
          <a:noFill/>
          <a:ln/>
        </p:spPr>
        <p:txBody>
          <a:bodyPr wrap="square" lIns="0" tIns="0" rIns="0" bIns="0" rtlCol="0" anchor="t"/>
          <a:lstStyle/>
          <a:p>
            <a:pPr indent="0" marL="0">
              <a:buNone/>
            </a:pPr>
            <a:r>
              <a:rPr lang="en-US" sz="1500" b="1" dirty="0">
                <a:solidFill>
                  <a:schemeClr val="accent2"/>
                </a:solidFill>
              </a:rPr>
              <a:t>비슷한 코드</a:t>
            </a:r>
            <a:endParaRPr lang="en-US" sz="1500" dirty="0"/>
          </a:p>
        </p:txBody>
      </p:sp>
      <p:sp>
        <p:nvSpPr>
          <p:cNvPr id="9" name="Text 7"/>
          <p:cNvSpPr txBox="1"/>
          <p:nvPr/>
        </p:nvSpPr>
        <p:spPr>
          <a:xfrm>
            <a:off x="749808" y="3392424"/>
            <a:ext cx="3474720" cy="585216"/>
          </a:xfrm>
          <a:prstGeom prst="rect">
            <a:avLst/>
          </a:prstGeom>
          <a:noFill/>
          <a:ln/>
        </p:spPr>
        <p:txBody>
          <a:bodyPr wrap="square" lIns="0" tIns="0" rIns="0" bIns="0" rtlCol="0" anchor="t"/>
          <a:lstStyle/>
          <a:p>
            <a:pPr indent="0" marL="0">
              <a:buNone/>
            </a:pPr>
            <a:r>
              <a:rPr lang="en-US" sz="1250" dirty="0">
                <a:solidFill>
                  <a:schemeClr val="tx1"/>
                </a:solidFill>
              </a:rPr>
              <a:t>7일 단계부터는 내 코드의 값 · 조건 · 순서 한 곳을 바꿔 묻습니다. 외운 답이 아니라 원리로 맞히게 하려는 것입니다.</a:t>
            </a:r>
            <a:endParaRPr lang="en-US" sz="1250" dirty="0"/>
          </a:p>
        </p:txBody>
      </p:sp>
      <p:sp>
        <p:nvSpPr>
          <p:cNvPr id="10" name="rung-bar-2"/>
          <p:cNvSpPr/>
          <p:nvPr/>
        </p:nvSpPr>
        <p:spPr>
          <a:xfrm>
            <a:off x="548640" y="4041648"/>
            <a:ext cx="64008" cy="822960"/>
          </a:xfrm>
          <a:prstGeom prst="rect">
            <a:avLst/>
          </a:prstGeom>
          <a:solidFill>
            <a:schemeClr val="accent5"/>
          </a:solidFill>
          <a:ln w="12700">
            <a:solidFill>
              <a:schemeClr val="accent5"/>
            </a:solidFill>
            <a:prstDash val="solid"/>
          </a:ln>
        </p:spPr>
      </p:sp>
      <p:sp>
        <p:nvSpPr>
          <p:cNvPr id="11" name="Text 9"/>
          <p:cNvSpPr txBox="1"/>
          <p:nvPr/>
        </p:nvSpPr>
        <p:spPr>
          <a:xfrm>
            <a:off x="749808" y="4005072"/>
            <a:ext cx="3474720" cy="310896"/>
          </a:xfrm>
          <a:prstGeom prst="rect">
            <a:avLst/>
          </a:prstGeom>
          <a:noFill/>
          <a:ln/>
        </p:spPr>
        <p:txBody>
          <a:bodyPr wrap="square" lIns="0" tIns="0" rIns="0" bIns="0" rtlCol="0" anchor="t"/>
          <a:lstStyle/>
          <a:p>
            <a:pPr indent="0" marL="0">
              <a:buNone/>
            </a:pPr>
            <a:r>
              <a:rPr lang="en-US" sz="1500" b="1" dirty="0">
                <a:solidFill>
                  <a:schemeClr val="accent5"/>
                </a:solidFill>
              </a:rPr>
              <a:t>풀이 보고 풀기</a:t>
            </a:r>
            <a:endParaRPr lang="en-US" sz="1500" dirty="0"/>
          </a:p>
        </p:txBody>
      </p:sp>
      <p:sp>
        <p:nvSpPr>
          <p:cNvPr id="12" name="Text 10"/>
          <p:cNvSpPr txBox="1"/>
          <p:nvPr/>
        </p:nvSpPr>
        <p:spPr>
          <a:xfrm>
            <a:off x="749808" y="4334256"/>
            <a:ext cx="3474720" cy="585216"/>
          </a:xfrm>
          <a:prstGeom prst="rect">
            <a:avLst/>
          </a:prstGeom>
          <a:noFill/>
          <a:ln/>
        </p:spPr>
        <p:txBody>
          <a:bodyPr wrap="square" lIns="0" tIns="0" rIns="0" bIns="0" rtlCol="0" anchor="t"/>
          <a:lstStyle/>
          <a:p>
            <a:pPr indent="0" marL="0">
              <a:buNone/>
            </a:pPr>
            <a:r>
              <a:rPr lang="en-US" sz="1250" dirty="0">
                <a:solidFill>
                  <a:schemeClr val="tx1"/>
                </a:solidFill>
              </a:rPr>
              <a:t>같은 곳에서 두 번 연달아 막히면, 다음 복습 퀴즈가 풀이부터 보여 주고 묻습니다.</a:t>
            </a:r>
            <a:endParaRPr lang="en-US" sz="1250" dirty="0"/>
          </a:p>
        </p:txBody>
      </p:sp>
      <p:sp>
        <p:nvSpPr>
          <p:cNvPr id="13" name="rung-bar-3"/>
          <p:cNvSpPr/>
          <p:nvPr/>
        </p:nvSpPr>
        <p:spPr>
          <a:xfrm>
            <a:off x="548640" y="4983480"/>
            <a:ext cx="64008" cy="822960"/>
          </a:xfrm>
          <a:prstGeom prst="rect">
            <a:avLst/>
          </a:prstGeom>
          <a:solidFill>
            <a:schemeClr val="accent1"/>
          </a:solidFill>
          <a:ln w="12700">
            <a:solidFill>
              <a:schemeClr val="accent1"/>
            </a:solidFill>
            <a:prstDash val="solid"/>
          </a:ln>
        </p:spPr>
      </p:sp>
      <p:sp>
        <p:nvSpPr>
          <p:cNvPr id="14" name="Text 12"/>
          <p:cNvSpPr txBox="1"/>
          <p:nvPr/>
        </p:nvSpPr>
        <p:spPr>
          <a:xfrm>
            <a:off x="749808" y="4946904"/>
            <a:ext cx="3474720" cy="310896"/>
          </a:xfrm>
          <a:prstGeom prst="rect">
            <a:avLst/>
          </a:prstGeom>
          <a:noFill/>
          <a:ln/>
        </p:spPr>
        <p:txBody>
          <a:bodyPr wrap="square" lIns="0" tIns="0" rIns="0" bIns="0" rtlCol="0" anchor="t"/>
          <a:lstStyle/>
          <a:p>
            <a:pPr indent="0" marL="0">
              <a:buNone/>
            </a:pPr>
            <a:r>
              <a:rPr lang="en-US" sz="1500" b="1" dirty="0">
                <a:solidFill>
                  <a:schemeClr val="accent1"/>
                </a:solidFill>
              </a:rPr>
              <a:t>맞혀도 단계 그대로</a:t>
            </a:r>
            <a:endParaRPr lang="en-US" sz="1500" dirty="0"/>
          </a:p>
        </p:txBody>
      </p:sp>
      <p:sp>
        <p:nvSpPr>
          <p:cNvPr id="15" name="Text 13"/>
          <p:cNvSpPr txBox="1"/>
          <p:nvPr/>
        </p:nvSpPr>
        <p:spPr>
          <a:xfrm>
            <a:off x="749808" y="5276088"/>
            <a:ext cx="3474720" cy="585216"/>
          </a:xfrm>
          <a:prstGeom prst="rect">
            <a:avLst/>
          </a:prstGeom>
          <a:noFill/>
          <a:ln/>
        </p:spPr>
        <p:txBody>
          <a:bodyPr wrap="square" lIns="0" tIns="0" rIns="0" bIns="0" rtlCol="0" anchor="t"/>
          <a:lstStyle/>
          <a:p>
            <a:pPr indent="0" marL="0">
              <a:buNone/>
            </a:pPr>
            <a:r>
              <a:rPr lang="en-US" sz="1250" dirty="0">
                <a:solidFill>
                  <a:schemeClr val="tx1"/>
                </a:solidFill>
              </a:rPr>
              <a:t>채점 줄에 "· 풀이 봄". 같은 간격 뒤 풀이 없이 다시 도전으로 한 번 더 묻습니다.</a:t>
            </a:r>
            <a:endParaRPr lang="en-US" sz="1250" dirty="0"/>
          </a:p>
        </p:txBody>
      </p:sp>
      <p:pic>
        <p:nvPicPr>
          <p:cNvPr id="16" name="worked-pane" descr="worked-pane">    </p:cNvPr>
          <p:cNvPicPr>
            <a:picLocks noChangeAspect="1"/>
          </p:cNvPicPr>
          <p:nvPr/>
        </p:nvPicPr>
        <p:blipFill>
          <a:blip r:embed="rId1"/>
          <a:stretch>
            <a:fillRect/>
          </a:stretch>
        </p:blipFill>
        <p:spPr>
          <a:xfrm>
            <a:off x="4434840" y="1325880"/>
            <a:ext cx="3520440" cy="2683900"/>
          </a:xfrm>
          <a:prstGeom prst="rect">
            <a:avLst/>
          </a:prstGeom>
          <a:effectLst>
            <a:outerShdw sx="100000" sy="100000" kx="0" ky="0" algn="bl" rotWithShape="0" blurRad="1.38624799340321e+46" dist="4.158743980209629e+45" dir="3.2651735040000005e+54">
              <a:srgbClr val="0F3D3E">
                <a:alpha val="2.8e+54"/>
              </a:srgbClr>
            </a:outerShdw>
          </a:effectLst>
        </p:spPr>
      </p:pic>
      <p:pic>
        <p:nvPicPr>
          <p:cNvPr id="17" name="similar-pane" descr="similar-pane">    </p:cNvPr>
          <p:cNvPicPr>
            <a:picLocks noChangeAspect="1"/>
          </p:cNvPicPr>
          <p:nvPr/>
        </p:nvPicPr>
        <p:blipFill>
          <a:blip r:embed="rId2"/>
          <a:stretch>
            <a:fillRect/>
          </a:stretch>
        </p:blipFill>
        <p:spPr>
          <a:xfrm>
            <a:off x="8119872" y="1325880"/>
            <a:ext cx="3520440" cy="3015030"/>
          </a:xfrm>
          <a:prstGeom prst="rect">
            <a:avLst/>
          </a:prstGeom>
          <a:effectLst>
            <a:outerShdw sx="100000" sy="100000" kx="0" ky="0" algn="bl" rotWithShape="0" blurRad="1.7605349516220767e+50" dist="5.281604854866228e+49" dir="1.9591041024000004e+59">
              <a:srgbClr val="0F3D3E">
                <a:alpha val="2.8000000000000002e+59"/>
              </a:srgbClr>
            </a:outerShdw>
          </a:effectLst>
        </p:spPr>
      </p:pic>
      <p:sp>
        <p:nvSpPr>
          <p:cNvPr id="18" name="Text 14"/>
          <p:cNvSpPr txBox="1"/>
          <p:nvPr/>
        </p:nvSpPr>
        <p:spPr>
          <a:xfrm>
            <a:off x="4434840" y="4432350"/>
            <a:ext cx="3520440" cy="274320"/>
          </a:xfrm>
          <a:prstGeom prst="rect">
            <a:avLst/>
          </a:prstGeom>
          <a:noFill/>
          <a:ln/>
        </p:spPr>
        <p:txBody>
          <a:bodyPr wrap="square" lIns="0" tIns="0" rIns="0" bIns="0" rtlCol="0" anchor="t"/>
          <a:lstStyle/>
          <a:p>
            <a:pPr algn="ctr" indent="0" marL="0">
              <a:buNone/>
            </a:pPr>
            <a:r>
              <a:rPr lang="en-US" sz="1200" b="1" dirty="0">
                <a:solidFill>
                  <a:schemeClr val="tx2"/>
                </a:solidFill>
              </a:rPr>
              <a:t>① 두 번 막힌 개념: 풀이 보고 풀기</a:t>
            </a:r>
            <a:endParaRPr lang="en-US" sz="1200" dirty="0"/>
          </a:p>
        </p:txBody>
      </p:sp>
      <p:sp>
        <p:nvSpPr>
          <p:cNvPr id="19" name="Text 15"/>
          <p:cNvSpPr txBox="1"/>
          <p:nvPr/>
        </p:nvSpPr>
        <p:spPr>
          <a:xfrm>
            <a:off x="8119872" y="4432350"/>
            <a:ext cx="3520440" cy="274320"/>
          </a:xfrm>
          <a:prstGeom prst="rect">
            <a:avLst/>
          </a:prstGeom>
          <a:noFill/>
          <a:ln/>
        </p:spPr>
        <p:txBody>
          <a:bodyPr wrap="square" lIns="0" tIns="0" rIns="0" bIns="0" rtlCol="0" anchor="t"/>
          <a:lstStyle/>
          <a:p>
            <a:pPr algn="ctr" indent="0" marL="0">
              <a:buNone/>
            </a:pPr>
            <a:r>
              <a:rPr lang="en-US" sz="1200" b="1" dirty="0">
                <a:solidFill>
                  <a:schemeClr val="tx2"/>
                </a:solidFill>
              </a:rPr>
              <a:t>② 맞히면 · 풀이 봄, 다음 문제는 비슷한 코드</a:t>
            </a:r>
            <a:endParaRPr lang="en-US" sz="1200" dirty="0"/>
          </a:p>
        </p:txBody>
      </p:sp>
      <p:sp>
        <p:nvSpPr>
          <p:cNvPr id="20" name="worked-next"/>
          <p:cNvSpPr/>
          <p:nvPr/>
        </p:nvSpPr>
        <p:spPr>
          <a:xfrm>
            <a:off x="4434840" y="4843830"/>
            <a:ext cx="7205472" cy="1264362"/>
          </a:xfrm>
          <a:prstGeom prst="roundRect">
            <a:avLst>
              <a:gd name="adj" fmla="val 7232"/>
            </a:avLst>
          </a:prstGeom>
          <a:solidFill>
            <a:srgbClr val="FDF3E2"/>
          </a:solidFill>
          <a:ln w="9525">
            <a:solidFill>
              <a:srgbClr val="FDF3E2"/>
            </a:solidFill>
            <a:prstDash val="solid"/>
          </a:ln>
        </p:spPr>
      </p:sp>
      <p:sp>
        <p:nvSpPr>
          <p:cNvPr id="21" name="Text 17"/>
          <p:cNvSpPr txBox="1"/>
          <p:nvPr/>
        </p:nvSpPr>
        <p:spPr>
          <a:xfrm>
            <a:off x="4663440" y="4843830"/>
            <a:ext cx="6812280" cy="1264362"/>
          </a:xfrm>
          <a:prstGeom prst="rect">
            <a:avLst/>
          </a:prstGeom>
          <a:noFill/>
          <a:ln/>
        </p:spPr>
        <p:txBody>
          <a:bodyPr wrap="square" lIns="0" tIns="0" rIns="0" bIns="0" rtlCol="0" anchor="ctr"/>
          <a:lstStyle/>
          <a:p>
            <a:pPr indent="0" marL="0">
              <a:spcAft>
                <a:spcPts val="300"/>
              </a:spcAft>
              <a:buNone/>
            </a:pPr>
            <a:r>
              <a:rPr lang="en-US" sz="1350" b="1" dirty="0">
                <a:solidFill>
                  <a:srgbClr val="A8650B"/>
                </a:solidFill>
              </a:rPr>
              <a:t>두 번째로 막힌 채점 줄이 미리 알려 줍니다</a:t>
            </a:r>
            <a:endParaRPr lang="en-US" sz="1350" dirty="0"/>
          </a:p>
          <a:p>
            <a:pPr indent="0" marL="0">
              <a:spcAft>
                <a:spcPts val="300"/>
              </a:spcAft>
              <a:buNone/>
            </a:pPr>
            <a:r>
              <a:rPr lang="en-US" sz="1200" dirty="0">
                <a:solidFill>
                  <a:schemeClr val="tx1"/>
                </a:solidFill>
              </a:rPr>
              <a:t>같은 곳을 또 헷갈렸습니다 · n: 이 개념을 배운 노트 · 다음 복습 퀴즈는 풀이부터 보여 줍니다</a:t>
            </a:r>
            <a:endParaRPr lang="en-US" sz="1350" dirty="0"/>
          </a:p>
          <a:p>
            <a:pPr indent="0" marL="0">
              <a:spcAft>
                <a:spcPts val="300"/>
              </a:spcAft>
              <a:buNone/>
            </a:pPr>
            <a:r>
              <a:rPr lang="en-US" sz="1150" dirty="0">
                <a:solidFill>
                  <a:srgbClr val="5A6B70"/>
                </a:solidFill>
              </a:rPr>
              <a:t>팀 용어 문제는 1.7처럼 묻습니다 · 새 키 · 새 설정 없음 · 모델 호출 수는 그대로</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잊을 때쯤 다시: 간격 반복 복습</a:t>
            </a:r>
            <a:endParaRPr lang="en-US" sz="3000" dirty="0"/>
          </a:p>
        </p:txBody>
      </p:sp>
      <p:sp>
        <p:nvSpPr>
          <p:cNvPr id="3" name="Text 1"/>
          <p:cNvSpPr txBox="1"/>
          <p:nvPr/>
        </p:nvSpPr>
        <p:spPr>
          <a:xfrm>
            <a:off x="548640" y="1325880"/>
            <a:ext cx="11064240" cy="594360"/>
          </a:xfrm>
          <a:prstGeom prst="rect">
            <a:avLst/>
          </a:prstGeom>
          <a:noFill/>
          <a:ln/>
        </p:spPr>
        <p:txBody>
          <a:bodyPr wrap="square" lIns="0" tIns="0" rIns="0" bIns="0" rtlCol="0" anchor="t"/>
          <a:lstStyle/>
          <a:p>
            <a:pPr indent="0" marL="0">
              <a:buNone/>
            </a:pPr>
            <a:r>
              <a:rPr lang="en-US" sz="1600" dirty="0">
                <a:solidFill>
                  <a:schemeClr val="tx1"/>
                </a:solidFill>
              </a:rPr>
              <a:t>직접 떠올려 맞힐 때만 다음 복습까지의 간격이 늘어납니다. 7일 단계부터는 비슷한 코드로 묻고, 60일 단계에서 또 맞히면 졸업입니다.</a:t>
            </a:r>
            <a:endParaRPr lang="en-US" sz="1600" dirty="0"/>
          </a:p>
        </p:txBody>
      </p:sp>
      <p:sp>
        <p:nvSpPr>
          <p:cNvPr id="4" name="timeline"/>
          <p:cNvSpPr/>
          <p:nvPr/>
        </p:nvSpPr>
        <p:spPr>
          <a:xfrm>
            <a:off x="1097280" y="2606040"/>
            <a:ext cx="9966960" cy="0"/>
          </a:xfrm>
          <a:prstGeom prst="line">
            <a:avLst/>
          </a:prstGeom>
          <a:noFill/>
          <a:ln w="38100">
            <a:solidFill>
              <a:srgbClr val="C5D3CE"/>
            </a:solidFill>
            <a:prstDash val="solid"/>
          </a:ln>
        </p:spPr>
      </p:sp>
      <p:sp>
        <p:nvSpPr>
          <p:cNvPr id="5" name="day-1"/>
          <p:cNvSpPr/>
          <p:nvPr/>
        </p:nvSpPr>
        <p:spPr>
          <a:xfrm>
            <a:off x="548640" y="2011680"/>
            <a:ext cx="1188720" cy="1188720"/>
          </a:xfrm>
          <a:prstGeom prst="ellipse">
            <a:avLst/>
          </a:prstGeom>
          <a:solidFill>
            <a:schemeClr val="accent4"/>
          </a:solidFill>
          <a:ln w="38100">
            <a:solidFill>
              <a:schemeClr val="bg1"/>
            </a:solidFill>
            <a:prstDash val="solid"/>
          </a:ln>
        </p:spPr>
      </p:sp>
      <p:sp>
        <p:nvSpPr>
          <p:cNvPr id="6" name="Text 4"/>
          <p:cNvSpPr txBox="1"/>
          <p:nvPr/>
        </p:nvSpPr>
        <p:spPr>
          <a:xfrm>
            <a:off x="548640"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1</a:t>
            </a:r>
            <a:endParaRPr lang="en-US" sz="1400" dirty="0"/>
          </a:p>
          <a:p>
            <a:pPr algn="ctr" indent="0" marL="0">
              <a:buNone/>
            </a:pPr>
            <a:r>
              <a:rPr lang="en-US" sz="1200" dirty="0">
                <a:solidFill>
                  <a:schemeClr val="bg1"/>
                </a:solidFill>
              </a:rPr>
              <a:t>일 뒤</a:t>
            </a:r>
            <a:endParaRPr lang="en-US" sz="1400" dirty="0"/>
          </a:p>
        </p:txBody>
      </p:sp>
      <p:sp>
        <p:nvSpPr>
          <p:cNvPr id="7" name="Text 5"/>
          <p:cNvSpPr txBox="1"/>
          <p:nvPr/>
        </p:nvSpPr>
        <p:spPr>
          <a:xfrm>
            <a:off x="548640"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0단계</a:t>
            </a:r>
            <a:endParaRPr lang="en-US" sz="1300" dirty="0"/>
          </a:p>
        </p:txBody>
      </p:sp>
      <p:sp>
        <p:nvSpPr>
          <p:cNvPr id="8" name="day-3"/>
          <p:cNvSpPr/>
          <p:nvPr/>
        </p:nvSpPr>
        <p:spPr>
          <a:xfrm>
            <a:off x="2185416" y="2011680"/>
            <a:ext cx="1188720" cy="1188720"/>
          </a:xfrm>
          <a:prstGeom prst="ellipse">
            <a:avLst/>
          </a:prstGeom>
          <a:solidFill>
            <a:schemeClr val="accent2"/>
          </a:solidFill>
          <a:ln w="38100">
            <a:solidFill>
              <a:schemeClr val="bg1"/>
            </a:solidFill>
            <a:prstDash val="solid"/>
          </a:ln>
        </p:spPr>
      </p:sp>
      <p:sp>
        <p:nvSpPr>
          <p:cNvPr id="9" name="Text 7"/>
          <p:cNvSpPr txBox="1"/>
          <p:nvPr/>
        </p:nvSpPr>
        <p:spPr>
          <a:xfrm>
            <a:off x="2185416"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3</a:t>
            </a:r>
            <a:endParaRPr lang="en-US" sz="1400" dirty="0"/>
          </a:p>
          <a:p>
            <a:pPr algn="ctr" indent="0" marL="0">
              <a:buNone/>
            </a:pPr>
            <a:r>
              <a:rPr lang="en-US" sz="1200" dirty="0">
                <a:solidFill>
                  <a:schemeClr val="bg1"/>
                </a:solidFill>
              </a:rPr>
              <a:t>일 뒤</a:t>
            </a:r>
            <a:endParaRPr lang="en-US" sz="1400" dirty="0"/>
          </a:p>
        </p:txBody>
      </p:sp>
      <p:sp>
        <p:nvSpPr>
          <p:cNvPr id="10" name="Text 8"/>
          <p:cNvSpPr txBox="1"/>
          <p:nvPr/>
        </p:nvSpPr>
        <p:spPr>
          <a:xfrm>
            <a:off x="2185416"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1단계</a:t>
            </a:r>
            <a:endParaRPr lang="en-US" sz="1300" dirty="0"/>
          </a:p>
        </p:txBody>
      </p:sp>
      <p:sp>
        <p:nvSpPr>
          <p:cNvPr id="11" name="day-7"/>
          <p:cNvSpPr/>
          <p:nvPr/>
        </p:nvSpPr>
        <p:spPr>
          <a:xfrm>
            <a:off x="3822192" y="2011680"/>
            <a:ext cx="1188720" cy="1188720"/>
          </a:xfrm>
          <a:prstGeom prst="ellipse">
            <a:avLst/>
          </a:prstGeom>
          <a:solidFill>
            <a:schemeClr val="accent2"/>
          </a:solidFill>
          <a:ln w="38100">
            <a:solidFill>
              <a:schemeClr val="bg1"/>
            </a:solidFill>
            <a:prstDash val="solid"/>
          </a:ln>
        </p:spPr>
      </p:sp>
      <p:sp>
        <p:nvSpPr>
          <p:cNvPr id="12" name="Text 10"/>
          <p:cNvSpPr txBox="1"/>
          <p:nvPr/>
        </p:nvSpPr>
        <p:spPr>
          <a:xfrm>
            <a:off x="3822192"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7</a:t>
            </a:r>
            <a:endParaRPr lang="en-US" sz="1400" dirty="0"/>
          </a:p>
          <a:p>
            <a:pPr algn="ctr" indent="0" marL="0">
              <a:buNone/>
            </a:pPr>
            <a:r>
              <a:rPr lang="en-US" sz="1200" dirty="0">
                <a:solidFill>
                  <a:schemeClr val="bg1"/>
                </a:solidFill>
              </a:rPr>
              <a:t>일 뒤</a:t>
            </a:r>
            <a:endParaRPr lang="en-US" sz="1400" dirty="0"/>
          </a:p>
        </p:txBody>
      </p:sp>
      <p:sp>
        <p:nvSpPr>
          <p:cNvPr id="13" name="Text 11"/>
          <p:cNvSpPr txBox="1"/>
          <p:nvPr/>
        </p:nvSpPr>
        <p:spPr>
          <a:xfrm>
            <a:off x="3822192"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2단계</a:t>
            </a:r>
            <a:endParaRPr lang="en-US" sz="1300" dirty="0"/>
          </a:p>
        </p:txBody>
      </p:sp>
      <p:sp>
        <p:nvSpPr>
          <p:cNvPr id="14" name="day-14"/>
          <p:cNvSpPr/>
          <p:nvPr/>
        </p:nvSpPr>
        <p:spPr>
          <a:xfrm>
            <a:off x="5458968" y="2011680"/>
            <a:ext cx="1188720" cy="1188720"/>
          </a:xfrm>
          <a:prstGeom prst="ellipse">
            <a:avLst/>
          </a:prstGeom>
          <a:solidFill>
            <a:schemeClr val="accent1"/>
          </a:solidFill>
          <a:ln w="38100">
            <a:solidFill>
              <a:schemeClr val="bg1"/>
            </a:solidFill>
            <a:prstDash val="solid"/>
          </a:ln>
        </p:spPr>
      </p:sp>
      <p:sp>
        <p:nvSpPr>
          <p:cNvPr id="15" name="Text 13"/>
          <p:cNvSpPr txBox="1"/>
          <p:nvPr/>
        </p:nvSpPr>
        <p:spPr>
          <a:xfrm>
            <a:off x="5458968"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14</a:t>
            </a:r>
            <a:endParaRPr lang="en-US" sz="1400" dirty="0"/>
          </a:p>
          <a:p>
            <a:pPr algn="ctr" indent="0" marL="0">
              <a:buNone/>
            </a:pPr>
            <a:r>
              <a:rPr lang="en-US" sz="1200" dirty="0">
                <a:solidFill>
                  <a:schemeClr val="bg1"/>
                </a:solidFill>
              </a:rPr>
              <a:t>일 뒤</a:t>
            </a:r>
            <a:endParaRPr lang="en-US" sz="1400" dirty="0"/>
          </a:p>
        </p:txBody>
      </p:sp>
      <p:sp>
        <p:nvSpPr>
          <p:cNvPr id="16" name="Text 14"/>
          <p:cNvSpPr txBox="1"/>
          <p:nvPr/>
        </p:nvSpPr>
        <p:spPr>
          <a:xfrm>
            <a:off x="5458968"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3단계</a:t>
            </a:r>
            <a:endParaRPr lang="en-US" sz="1300" dirty="0"/>
          </a:p>
        </p:txBody>
      </p:sp>
      <p:sp>
        <p:nvSpPr>
          <p:cNvPr id="17" name="day-30"/>
          <p:cNvSpPr/>
          <p:nvPr/>
        </p:nvSpPr>
        <p:spPr>
          <a:xfrm>
            <a:off x="7095744" y="2011680"/>
            <a:ext cx="1188720" cy="1188720"/>
          </a:xfrm>
          <a:prstGeom prst="ellipse">
            <a:avLst/>
          </a:prstGeom>
          <a:solidFill>
            <a:schemeClr val="accent1"/>
          </a:solidFill>
          <a:ln w="38100">
            <a:solidFill>
              <a:schemeClr val="bg1"/>
            </a:solidFill>
            <a:prstDash val="solid"/>
          </a:ln>
        </p:spPr>
      </p:sp>
      <p:sp>
        <p:nvSpPr>
          <p:cNvPr id="18" name="Text 16"/>
          <p:cNvSpPr txBox="1"/>
          <p:nvPr/>
        </p:nvSpPr>
        <p:spPr>
          <a:xfrm>
            <a:off x="7095744"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30</a:t>
            </a:r>
            <a:endParaRPr lang="en-US" sz="1400" dirty="0"/>
          </a:p>
          <a:p>
            <a:pPr algn="ctr" indent="0" marL="0">
              <a:buNone/>
            </a:pPr>
            <a:r>
              <a:rPr lang="en-US" sz="1200" dirty="0">
                <a:solidFill>
                  <a:schemeClr val="bg1"/>
                </a:solidFill>
              </a:rPr>
              <a:t>일 뒤</a:t>
            </a:r>
            <a:endParaRPr lang="en-US" sz="1400" dirty="0"/>
          </a:p>
        </p:txBody>
      </p:sp>
      <p:sp>
        <p:nvSpPr>
          <p:cNvPr id="19" name="Text 17"/>
          <p:cNvSpPr txBox="1"/>
          <p:nvPr/>
        </p:nvSpPr>
        <p:spPr>
          <a:xfrm>
            <a:off x="7095744"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4단계</a:t>
            </a:r>
            <a:endParaRPr lang="en-US" sz="1300" dirty="0"/>
          </a:p>
        </p:txBody>
      </p:sp>
      <p:sp>
        <p:nvSpPr>
          <p:cNvPr id="20" name="day-60"/>
          <p:cNvSpPr/>
          <p:nvPr/>
        </p:nvSpPr>
        <p:spPr>
          <a:xfrm>
            <a:off x="8732520" y="2011680"/>
            <a:ext cx="1188720" cy="1188720"/>
          </a:xfrm>
          <a:prstGeom prst="ellipse">
            <a:avLst/>
          </a:prstGeom>
          <a:solidFill>
            <a:schemeClr val="accent1"/>
          </a:solidFill>
          <a:ln w="38100">
            <a:solidFill>
              <a:schemeClr val="bg1"/>
            </a:solidFill>
            <a:prstDash val="solid"/>
          </a:ln>
        </p:spPr>
      </p:sp>
      <p:sp>
        <p:nvSpPr>
          <p:cNvPr id="21" name="Text 19"/>
          <p:cNvSpPr txBox="1"/>
          <p:nvPr/>
        </p:nvSpPr>
        <p:spPr>
          <a:xfrm>
            <a:off x="8732520" y="2011680"/>
            <a:ext cx="1188720" cy="1188720"/>
          </a:xfrm>
          <a:prstGeom prst="rect">
            <a:avLst/>
          </a:prstGeom>
          <a:noFill/>
          <a:ln/>
        </p:spPr>
        <p:txBody>
          <a:bodyPr wrap="square" lIns="0" tIns="0" rIns="0" bIns="0" rtlCol="0" anchor="ctr"/>
          <a:lstStyle/>
          <a:p>
            <a:pPr algn="ctr" indent="0" marL="0">
              <a:buNone/>
            </a:pPr>
            <a:r>
              <a:rPr lang="en-US" sz="3000" b="1" dirty="0">
                <a:solidFill>
                  <a:schemeClr val="bg1"/>
                </a:solidFill>
              </a:rPr>
              <a:t>60</a:t>
            </a:r>
            <a:endParaRPr lang="en-US" sz="1400" dirty="0"/>
          </a:p>
          <a:p>
            <a:pPr algn="ctr" indent="0" marL="0">
              <a:buNone/>
            </a:pPr>
            <a:r>
              <a:rPr lang="en-US" sz="1200" dirty="0">
                <a:solidFill>
                  <a:schemeClr val="bg1"/>
                </a:solidFill>
              </a:rPr>
              <a:t>일 뒤</a:t>
            </a:r>
            <a:endParaRPr lang="en-US" sz="1400" dirty="0"/>
          </a:p>
        </p:txBody>
      </p:sp>
      <p:sp>
        <p:nvSpPr>
          <p:cNvPr id="22" name="Text 20"/>
          <p:cNvSpPr txBox="1"/>
          <p:nvPr/>
        </p:nvSpPr>
        <p:spPr>
          <a:xfrm>
            <a:off x="8732520"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5단계</a:t>
            </a:r>
            <a:endParaRPr lang="en-US" sz="1300" dirty="0"/>
          </a:p>
        </p:txBody>
      </p:sp>
      <p:sp>
        <p:nvSpPr>
          <p:cNvPr id="23" name="graduate"/>
          <p:cNvSpPr/>
          <p:nvPr/>
        </p:nvSpPr>
        <p:spPr>
          <a:xfrm>
            <a:off x="10369296" y="2011680"/>
            <a:ext cx="1188720" cy="1188720"/>
          </a:xfrm>
          <a:prstGeom prst="ellipse">
            <a:avLst/>
          </a:prstGeom>
          <a:solidFill>
            <a:schemeClr val="accent5"/>
          </a:solidFill>
          <a:ln w="38100">
            <a:solidFill>
              <a:schemeClr val="bg1"/>
            </a:solidFill>
            <a:prstDash val="solid"/>
          </a:ln>
        </p:spPr>
      </p:sp>
      <p:sp>
        <p:nvSpPr>
          <p:cNvPr id="24" name="Text 22"/>
          <p:cNvSpPr txBox="1"/>
          <p:nvPr/>
        </p:nvSpPr>
        <p:spPr>
          <a:xfrm>
            <a:off x="10369296" y="2011680"/>
            <a:ext cx="1188720" cy="1188720"/>
          </a:xfrm>
          <a:prstGeom prst="rect">
            <a:avLst/>
          </a:prstGeom>
          <a:noFill/>
          <a:ln/>
        </p:spPr>
        <p:txBody>
          <a:bodyPr wrap="square" lIns="0" tIns="0" rIns="0" bIns="0" rtlCol="0" anchor="ctr"/>
          <a:lstStyle/>
          <a:p>
            <a:pPr algn="ctr" indent="0" marL="0">
              <a:buNone/>
            </a:pPr>
            <a:r>
              <a:rPr lang="en-US" sz="2200" b="1" dirty="0">
                <a:solidFill>
                  <a:schemeClr val="bg1"/>
                </a:solidFill>
              </a:rPr>
              <a:t>졸업</a:t>
            </a:r>
            <a:endParaRPr lang="en-US" sz="2200" dirty="0"/>
          </a:p>
        </p:txBody>
      </p:sp>
      <p:sp>
        <p:nvSpPr>
          <p:cNvPr id="25" name="Text 23"/>
          <p:cNvSpPr txBox="1"/>
          <p:nvPr/>
        </p:nvSpPr>
        <p:spPr>
          <a:xfrm>
            <a:off x="10369296" y="3291840"/>
            <a:ext cx="1188720" cy="320040"/>
          </a:xfrm>
          <a:prstGeom prst="rect">
            <a:avLst/>
          </a:prstGeom>
          <a:noFill/>
          <a:ln/>
        </p:spPr>
        <p:txBody>
          <a:bodyPr wrap="square" lIns="0" tIns="0" rIns="0" bIns="0" rtlCol="0" anchor="t"/>
          <a:lstStyle/>
          <a:p>
            <a:pPr algn="ctr" indent="0" marL="0">
              <a:buNone/>
            </a:pPr>
            <a:r>
              <a:rPr lang="en-US" sz="1300" dirty="0">
                <a:solidFill>
                  <a:srgbClr val="5A6B70"/>
                </a:solidFill>
              </a:rPr>
              <a:t>아는 개념</a:t>
            </a:r>
            <a:endParaRPr lang="en-US" sz="1300" dirty="0"/>
          </a:p>
        </p:txBody>
      </p:sp>
      <p:sp>
        <p:nvSpPr>
          <p:cNvPr id="26" name="card"/>
          <p:cNvSpPr/>
          <p:nvPr/>
        </p:nvSpPr>
        <p:spPr>
          <a:xfrm>
            <a:off x="548640" y="3840480"/>
            <a:ext cx="3502152" cy="2240280"/>
          </a:xfrm>
          <a:prstGeom prst="roundRect">
            <a:avLst>
              <a:gd name="adj" fmla="val 4082"/>
            </a:avLst>
          </a:prstGeom>
          <a:solidFill>
            <a:schemeClr val="bg2"/>
          </a:solidFill>
          <a:ln w="9525">
            <a:solidFill>
              <a:schemeClr val="bg2"/>
            </a:solidFill>
            <a:prstDash val="solid"/>
          </a:ln>
        </p:spPr>
      </p:sp>
      <p:sp>
        <p:nvSpPr>
          <p:cNvPr id="27" name="badge-LuBrain"/>
          <p:cNvSpPr/>
          <p:nvPr/>
        </p:nvSpPr>
        <p:spPr>
          <a:xfrm>
            <a:off x="822960" y="4041648"/>
            <a:ext cx="566928" cy="566928"/>
          </a:xfrm>
          <a:prstGeom prst="ellipse">
            <a:avLst/>
          </a:prstGeom>
          <a:solidFill>
            <a:schemeClr val="accent1"/>
          </a:solidFill>
          <a:ln w="12700">
            <a:solidFill>
              <a:schemeClr val="accent1"/>
            </a:solidFill>
            <a:prstDash val="solid"/>
          </a:ln>
        </p:spPr>
      </p:sp>
      <p:pic>
        <p:nvPicPr>
          <p:cNvPr id="28" name="icon-LuBrain" descr="LuBrain">    </p:cNvPr>
          <p:cNvPicPr>
            <a:picLocks noChangeAspect="1"/>
          </p:cNvPicPr>
          <p:nvPr/>
        </p:nvPicPr>
        <p:blipFill>
          <a:blip r:embed="rId1"/>
          <a:stretch>
            <a:fillRect/>
          </a:stretch>
        </p:blipFill>
        <p:spPr>
          <a:xfrm>
            <a:off x="959023" y="4177711"/>
            <a:ext cx="294803" cy="294803"/>
          </a:xfrm>
          <a:prstGeom prst="rect">
            <a:avLst/>
          </a:prstGeom>
        </p:spPr>
      </p:pic>
      <p:sp>
        <p:nvSpPr>
          <p:cNvPr id="29" name="Text 26"/>
          <p:cNvSpPr txBox="1"/>
          <p:nvPr/>
        </p:nvSpPr>
        <p:spPr>
          <a:xfrm>
            <a:off x="1536192" y="4041648"/>
            <a:ext cx="2377440" cy="566928"/>
          </a:xfrm>
          <a:prstGeom prst="rect">
            <a:avLst/>
          </a:prstGeom>
          <a:noFill/>
          <a:ln/>
        </p:spPr>
        <p:txBody>
          <a:bodyPr wrap="square" lIns="0" tIns="0" rIns="0" bIns="0" rtlCol="0" anchor="ctr"/>
          <a:lstStyle/>
          <a:p>
            <a:pPr indent="0" marL="0">
              <a:buNone/>
            </a:pPr>
            <a:r>
              <a:rPr lang="en-US" sz="1600" b="1" dirty="0">
                <a:solidFill>
                  <a:schemeClr val="tx2"/>
                </a:solidFill>
              </a:rPr>
              <a:t>떠올린 것만 셉니다</a:t>
            </a:r>
            <a:endParaRPr lang="en-US" sz="1600" dirty="0"/>
          </a:p>
        </p:txBody>
      </p:sp>
      <p:sp>
        <p:nvSpPr>
          <p:cNvPr id="30" name="Text 27"/>
          <p:cNvSpPr txBox="1"/>
          <p:nvPr/>
        </p:nvSpPr>
        <p:spPr>
          <a:xfrm>
            <a:off x="822960" y="4754880"/>
            <a:ext cx="3017520" cy="1234440"/>
          </a:xfrm>
          <a:prstGeom prst="rect">
            <a:avLst/>
          </a:prstGeom>
          <a:noFill/>
          <a:ln/>
        </p:spPr>
        <p:txBody>
          <a:bodyPr wrap="square" lIns="0" tIns="0" rIns="0" bIns="0" rtlCol="0" anchor="t"/>
          <a:lstStyle/>
          <a:p>
            <a:pPr indent="0" marL="0">
              <a:buNone/>
            </a:pPr>
            <a:r>
              <a:rPr lang="en-US" sz="1300" dirty="0">
                <a:solidFill>
                  <a:schemeClr val="tx1"/>
                </a:solidFill>
              </a:rPr>
              <a:t>답을 직접 적어 맞혀야 한 칸 오릅니다. 힌트 · 풀이 · 되묻기 · 정답을 보고 맞히면 단계는 그대로입니다. 노트에서 다시 만난 것도 날짜를 바꾸지 않습니다.</a:t>
            </a:r>
            <a:endParaRPr lang="en-US" sz="1300" dirty="0"/>
          </a:p>
        </p:txBody>
      </p:sp>
      <p:sp>
        <p:nvSpPr>
          <p:cNvPr id="31" name="card"/>
          <p:cNvSpPr/>
          <p:nvPr/>
        </p:nvSpPr>
        <p:spPr>
          <a:xfrm>
            <a:off x="4343400" y="3840480"/>
            <a:ext cx="3502152" cy="2240280"/>
          </a:xfrm>
          <a:prstGeom prst="roundRect">
            <a:avLst>
              <a:gd name="adj" fmla="val 4082"/>
            </a:avLst>
          </a:prstGeom>
          <a:solidFill>
            <a:schemeClr val="bg2"/>
          </a:solidFill>
          <a:ln w="9525">
            <a:solidFill>
              <a:schemeClr val="bg2"/>
            </a:solidFill>
            <a:prstDash val="solid"/>
          </a:ln>
        </p:spPr>
      </p:sp>
      <p:sp>
        <p:nvSpPr>
          <p:cNvPr id="32" name="badge-LuBell"/>
          <p:cNvSpPr/>
          <p:nvPr/>
        </p:nvSpPr>
        <p:spPr>
          <a:xfrm>
            <a:off x="4617720" y="4041648"/>
            <a:ext cx="566928" cy="566928"/>
          </a:xfrm>
          <a:prstGeom prst="ellipse">
            <a:avLst/>
          </a:prstGeom>
          <a:solidFill>
            <a:schemeClr val="accent2"/>
          </a:solidFill>
          <a:ln w="12700">
            <a:solidFill>
              <a:schemeClr val="accent2"/>
            </a:solidFill>
            <a:prstDash val="solid"/>
          </a:ln>
        </p:spPr>
      </p:sp>
      <p:pic>
        <p:nvPicPr>
          <p:cNvPr id="33" name="icon-LuBell" descr="LuBell">    </p:cNvPr>
          <p:cNvPicPr>
            <a:picLocks noChangeAspect="1"/>
          </p:cNvPicPr>
          <p:nvPr/>
        </p:nvPicPr>
        <p:blipFill>
          <a:blip r:embed="rId2"/>
          <a:stretch>
            <a:fillRect/>
          </a:stretch>
        </p:blipFill>
        <p:spPr>
          <a:xfrm>
            <a:off x="4753783" y="4177711"/>
            <a:ext cx="294803" cy="294803"/>
          </a:xfrm>
          <a:prstGeom prst="rect">
            <a:avLst/>
          </a:prstGeom>
        </p:spPr>
      </p:pic>
      <p:sp>
        <p:nvSpPr>
          <p:cNvPr id="34" name="Text 30"/>
          <p:cNvSpPr txBox="1"/>
          <p:nvPr/>
        </p:nvSpPr>
        <p:spPr>
          <a:xfrm>
            <a:off x="5330952" y="4041648"/>
            <a:ext cx="2377440" cy="566928"/>
          </a:xfrm>
          <a:prstGeom prst="rect">
            <a:avLst/>
          </a:prstGeom>
          <a:noFill/>
          <a:ln/>
        </p:spPr>
        <p:txBody>
          <a:bodyPr wrap="square" lIns="0" tIns="0" rIns="0" bIns="0" rtlCol="0" anchor="ctr"/>
          <a:lstStyle/>
          <a:p>
            <a:pPr indent="0" marL="0">
              <a:buNone/>
            </a:pPr>
            <a:r>
              <a:rPr lang="en-US" sz="1600" b="1" dirty="0">
                <a:solidFill>
                  <a:schemeClr val="tx2"/>
                </a:solidFill>
              </a:rPr>
              <a:t>오늘 복습은 10문제까지</a:t>
            </a:r>
            <a:endParaRPr lang="en-US" sz="1600" dirty="0"/>
          </a:p>
        </p:txBody>
      </p:sp>
      <p:sp>
        <p:nvSpPr>
          <p:cNvPr id="35" name="Text 31"/>
          <p:cNvSpPr txBox="1"/>
          <p:nvPr/>
        </p:nvSpPr>
        <p:spPr>
          <a:xfrm>
            <a:off x="4617720" y="4754880"/>
            <a:ext cx="3017520" cy="32004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오늘 복습 3개 · /learn 복습</a:t>
            </a:r>
            <a:endParaRPr lang="en-US" sz="1200" dirty="0"/>
          </a:p>
        </p:txBody>
      </p:sp>
      <p:sp>
        <p:nvSpPr>
          <p:cNvPr id="36" name="Text 32"/>
          <p:cNvSpPr txBox="1"/>
          <p:nvPr/>
        </p:nvSpPr>
        <p:spPr>
          <a:xfrm>
            <a:off x="4617720" y="5138928"/>
            <a:ext cx="3017520" cy="868680"/>
          </a:xfrm>
          <a:prstGeom prst="rect">
            <a:avLst/>
          </a:prstGeom>
          <a:noFill/>
          <a:ln/>
        </p:spPr>
        <p:txBody>
          <a:bodyPr wrap="square" lIns="0" tIns="0" rIns="0" bIns="0" rtlCol="0" anchor="t"/>
          <a:lstStyle/>
          <a:p>
            <a:pPr indent="0" marL="0">
              <a:buNone/>
            </a:pPr>
            <a:r>
              <a:rPr lang="en-US" sz="1300" dirty="0">
                <a:solidFill>
                  <a:schemeClr val="tx1"/>
                </a:solidFill>
              </a:rPr>
              <a:t>다시 도전과 틀린 개념부터 나옵니다. 10문제를 채점하면 상태줄이 내려갑니다.</a:t>
            </a:r>
            <a:endParaRPr lang="en-US" sz="1300" dirty="0"/>
          </a:p>
        </p:txBody>
      </p:sp>
      <p:sp>
        <p:nvSpPr>
          <p:cNvPr id="37" name="card"/>
          <p:cNvSpPr/>
          <p:nvPr/>
        </p:nvSpPr>
        <p:spPr>
          <a:xfrm>
            <a:off x="8138160" y="3840480"/>
            <a:ext cx="3502152" cy="2240280"/>
          </a:xfrm>
          <a:prstGeom prst="roundRect">
            <a:avLst>
              <a:gd name="adj" fmla="val 4082"/>
            </a:avLst>
          </a:prstGeom>
          <a:solidFill>
            <a:schemeClr val="bg2"/>
          </a:solidFill>
          <a:ln w="9525">
            <a:solidFill>
              <a:schemeClr val="bg2"/>
            </a:solidFill>
            <a:prstDash val="solid"/>
          </a:ln>
        </p:spPr>
      </p:sp>
      <p:sp>
        <p:nvSpPr>
          <p:cNvPr id="38" name="badge-LuGraduationCap"/>
          <p:cNvSpPr/>
          <p:nvPr/>
        </p:nvSpPr>
        <p:spPr>
          <a:xfrm>
            <a:off x="8412480" y="4041648"/>
            <a:ext cx="566928" cy="566928"/>
          </a:xfrm>
          <a:prstGeom prst="ellipse">
            <a:avLst/>
          </a:prstGeom>
          <a:solidFill>
            <a:schemeClr val="accent5"/>
          </a:solidFill>
          <a:ln w="12700">
            <a:solidFill>
              <a:schemeClr val="accent5"/>
            </a:solidFill>
            <a:prstDash val="solid"/>
          </a:ln>
        </p:spPr>
      </p:sp>
      <p:pic>
        <p:nvPicPr>
          <p:cNvPr id="39" name="icon-LuGraduationCap" descr="LuGraduationCap">    </p:cNvPr>
          <p:cNvPicPr>
            <a:picLocks noChangeAspect="1"/>
          </p:cNvPicPr>
          <p:nvPr/>
        </p:nvPicPr>
        <p:blipFill>
          <a:blip r:embed="rId3"/>
          <a:stretch>
            <a:fillRect/>
          </a:stretch>
        </p:blipFill>
        <p:spPr>
          <a:xfrm>
            <a:off x="8548543" y="4177711"/>
            <a:ext cx="294803" cy="294803"/>
          </a:xfrm>
          <a:prstGeom prst="rect">
            <a:avLst/>
          </a:prstGeom>
        </p:spPr>
      </p:pic>
      <p:sp>
        <p:nvSpPr>
          <p:cNvPr id="40" name="Text 35"/>
          <p:cNvSpPr txBox="1"/>
          <p:nvPr/>
        </p:nvSpPr>
        <p:spPr>
          <a:xfrm>
            <a:off x="9125712" y="4041648"/>
            <a:ext cx="2377440" cy="566928"/>
          </a:xfrm>
          <a:prstGeom prst="rect">
            <a:avLst/>
          </a:prstGeom>
          <a:noFill/>
          <a:ln/>
        </p:spPr>
        <p:txBody>
          <a:bodyPr wrap="square" lIns="0" tIns="0" rIns="0" bIns="0" rtlCol="0" anchor="ctr"/>
          <a:lstStyle/>
          <a:p>
            <a:pPr indent="0" marL="0">
              <a:buNone/>
            </a:pPr>
            <a:r>
              <a:rPr lang="en-US" sz="1600" b="1" dirty="0">
                <a:solidFill>
                  <a:schemeClr val="tx2"/>
                </a:solidFill>
              </a:rPr>
              <a:t>졸업한 개념은 쉬어요</a:t>
            </a:r>
            <a:endParaRPr lang="en-US" sz="1600" dirty="0"/>
          </a:p>
        </p:txBody>
      </p:sp>
      <p:sp>
        <p:nvSpPr>
          <p:cNvPr id="41" name="Text 36"/>
          <p:cNvSpPr txBox="1"/>
          <p:nvPr/>
        </p:nvSpPr>
        <p:spPr>
          <a:xfrm>
            <a:off x="8412480" y="4754880"/>
            <a:ext cx="3017520" cy="1234440"/>
          </a:xfrm>
          <a:prstGeom prst="rect">
            <a:avLst/>
          </a:prstGeom>
          <a:noFill/>
          <a:ln/>
        </p:spPr>
        <p:txBody>
          <a:bodyPr wrap="square" lIns="0" tIns="0" rIns="0" bIns="0" rtlCol="0" anchor="t"/>
          <a:lstStyle/>
          <a:p>
            <a:pPr indent="0" marL="0">
              <a:buNone/>
            </a:pPr>
            <a:r>
              <a:rPr lang="en-US" sz="1300" dirty="0">
                <a:solidFill>
                  <a:schemeClr val="tx1"/>
                </a:solidFill>
              </a:rPr>
              <a:t>60일 단계에서 또 맞히면 아는 개념이 되어 복습과 퀴즈에서 빠집니다. 이미 아는 것은 /learn 안다 이름.</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쌓이는 기록</a:t>
            </a:r>
            <a:endParaRPr lang="en-US" sz="3000" dirty="0"/>
          </a:p>
        </p:txBody>
      </p:sp>
      <p:pic>
        <p:nvPicPr>
          <p:cNvPr id="3" name="concepts-pane" descr="concepts-pane">    </p:cNvPr>
          <p:cNvPicPr>
            <a:picLocks noChangeAspect="1"/>
          </p:cNvPicPr>
          <p:nvPr/>
        </p:nvPicPr>
        <p:blipFill>
          <a:blip r:embed="rId1"/>
          <a:stretch>
            <a:fillRect/>
          </a:stretch>
        </p:blipFill>
        <p:spPr>
          <a:xfrm>
            <a:off x="548640" y="1325880"/>
            <a:ext cx="4617720" cy="4800600"/>
          </a:xfrm>
          <a:prstGeom prst="rect">
            <a:avLst/>
          </a:prstGeom>
          <a:effectLst>
            <a:outerShdw sx="100000" sy="100000" kx="0" ky="0" algn="bl" rotWithShape="0" blurRad="2.2358793885600375e+54" dist="6.70763816568011e+53" dir="1.1754624614400003e+64">
              <a:srgbClr val="0F3D3E">
                <a:alpha val="2.8e+64"/>
              </a:srgbClr>
            </a:outerShdw>
          </a:effectLst>
        </p:spPr>
      </p:pic>
      <p:sp>
        <p:nvSpPr>
          <p:cNvPr id="4" name="badge-LuLayers"/>
          <p:cNvSpPr/>
          <p:nvPr/>
        </p:nvSpPr>
        <p:spPr>
          <a:xfrm>
            <a:off x="6080760" y="1371600"/>
            <a:ext cx="685800" cy="685800"/>
          </a:xfrm>
          <a:prstGeom prst="ellipse">
            <a:avLst/>
          </a:prstGeom>
          <a:solidFill>
            <a:schemeClr val="accent1"/>
          </a:solidFill>
          <a:ln w="12700">
            <a:solidFill>
              <a:schemeClr val="accent1"/>
            </a:solidFill>
            <a:prstDash val="solid"/>
          </a:ln>
        </p:spPr>
      </p:sp>
      <p:pic>
        <p:nvPicPr>
          <p:cNvPr id="5" name="icon-LuLayers" descr="LuLayers">    </p:cNvPr>
          <p:cNvPicPr>
            <a:picLocks noChangeAspect="1"/>
          </p:cNvPicPr>
          <p:nvPr/>
        </p:nvPicPr>
        <p:blipFill>
          <a:blip r:embed="rId2"/>
          <a:stretch>
            <a:fillRect/>
          </a:stretch>
        </p:blipFill>
        <p:spPr>
          <a:xfrm>
            <a:off x="6245352" y="1536192"/>
            <a:ext cx="356616" cy="356616"/>
          </a:xfrm>
          <a:prstGeom prst="rect">
            <a:avLst/>
          </a:prstGeom>
        </p:spPr>
      </p:pic>
      <p:sp>
        <p:nvSpPr>
          <p:cNvPr id="6" name="Text 2"/>
          <p:cNvSpPr txBox="1"/>
          <p:nvPr/>
        </p:nvSpPr>
        <p:spPr>
          <a:xfrm>
            <a:off x="6949440" y="1353312"/>
            <a:ext cx="4663440" cy="384048"/>
          </a:xfrm>
          <a:prstGeom prst="rect">
            <a:avLst/>
          </a:prstGeom>
          <a:noFill/>
          <a:ln/>
        </p:spPr>
        <p:txBody>
          <a:bodyPr wrap="square" lIns="0" tIns="0" rIns="0" bIns="0" rtlCol="0" anchor="t"/>
          <a:lstStyle/>
          <a:p>
            <a:pPr indent="0" marL="0">
              <a:buNone/>
            </a:pPr>
            <a:r>
              <a:rPr lang="en-US" sz="1800" b="1" dirty="0">
                <a:solidFill>
                  <a:schemeClr val="tx2"/>
                </a:solidFill>
              </a:rPr>
              <a:t>개념 모음 (3)</a:t>
            </a:r>
            <a:endParaRPr lang="en-US" sz="1800" dirty="0"/>
          </a:p>
        </p:txBody>
      </p:sp>
      <p:sp>
        <p:nvSpPr>
          <p:cNvPr id="7" name="Text 3"/>
          <p:cNvSpPr txBox="1"/>
          <p:nvPr/>
        </p:nvSpPr>
        <p:spPr>
          <a:xfrm>
            <a:off x="6949440" y="1755648"/>
            <a:ext cx="4663440" cy="685800"/>
          </a:xfrm>
          <a:prstGeom prst="rect">
            <a:avLst/>
          </a:prstGeom>
          <a:noFill/>
          <a:ln/>
        </p:spPr>
        <p:txBody>
          <a:bodyPr wrap="square" lIns="0" tIns="0" rIns="0" bIns="0" rtlCol="0" anchor="t"/>
          <a:lstStyle/>
          <a:p>
            <a:pPr indent="0" marL="0">
              <a:buNone/>
            </a:pPr>
            <a:r>
              <a:rPr lang="en-US" sz="1350" dirty="0">
                <a:solidFill>
                  <a:schemeClr val="tx1"/>
                </a:solidFill>
              </a:rPr>
              <a:t>프로젝트를 넘어 모인 개념. 만난 횟수, 복습 상태, 헷갈린 점, 그 개념이 나온 노트</a:t>
            </a:r>
            <a:endParaRPr lang="en-US" sz="1350" dirty="0"/>
          </a:p>
        </p:txBody>
      </p:sp>
      <p:sp>
        <p:nvSpPr>
          <p:cNvPr id="8" name="badge-LuCalendarDays"/>
          <p:cNvSpPr/>
          <p:nvPr/>
        </p:nvSpPr>
        <p:spPr>
          <a:xfrm>
            <a:off x="6080760" y="2468880"/>
            <a:ext cx="685800" cy="685800"/>
          </a:xfrm>
          <a:prstGeom prst="ellipse">
            <a:avLst/>
          </a:prstGeom>
          <a:solidFill>
            <a:schemeClr val="accent3"/>
          </a:solidFill>
          <a:ln w="12700">
            <a:solidFill>
              <a:schemeClr val="accent3"/>
            </a:solidFill>
            <a:prstDash val="solid"/>
          </a:ln>
        </p:spPr>
      </p:sp>
      <p:pic>
        <p:nvPicPr>
          <p:cNvPr id="9" name="icon-LuCalendarDays" descr="LuCalendarDays">    </p:cNvPr>
          <p:cNvPicPr>
            <a:picLocks noChangeAspect="1"/>
          </p:cNvPicPr>
          <p:nvPr/>
        </p:nvPicPr>
        <p:blipFill>
          <a:blip r:embed="rId3"/>
          <a:stretch>
            <a:fillRect/>
          </a:stretch>
        </p:blipFill>
        <p:spPr>
          <a:xfrm>
            <a:off x="6245352" y="2633472"/>
            <a:ext cx="356616" cy="356616"/>
          </a:xfrm>
          <a:prstGeom prst="rect">
            <a:avLst/>
          </a:prstGeom>
        </p:spPr>
      </p:pic>
      <p:sp>
        <p:nvSpPr>
          <p:cNvPr id="10" name="Text 5"/>
          <p:cNvSpPr txBox="1"/>
          <p:nvPr/>
        </p:nvSpPr>
        <p:spPr>
          <a:xfrm>
            <a:off x="6949440" y="2450592"/>
            <a:ext cx="4663440" cy="384048"/>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/learn</a:t>
            </a:r>
            <a:r>
              <a:rPr lang="en-US" sz="1800" b="1" dirty="0">
                <a:solidFill>
                  <a:schemeClr val="tx2"/>
                </a:solidFill>
              </a:rPr>
              <a:t> 정리</a:t>
            </a:r>
            <a:endParaRPr lang="en-US" sz="1800" dirty="0"/>
          </a:p>
        </p:txBody>
      </p:sp>
      <p:sp>
        <p:nvSpPr>
          <p:cNvPr id="11" name="Text 6"/>
          <p:cNvSpPr txBox="1"/>
          <p:nvPr/>
        </p:nvSpPr>
        <p:spPr>
          <a:xfrm>
            <a:off x="6949440" y="2852928"/>
            <a:ext cx="4663440" cy="685800"/>
          </a:xfrm>
          <a:prstGeom prst="rect">
            <a:avLst/>
          </a:prstGeom>
          <a:noFill/>
          <a:ln/>
        </p:spPr>
        <p:txBody>
          <a:bodyPr wrap="square" lIns="0" tIns="0" rIns="0" bIns="0" rtlCol="0" anchor="t"/>
          <a:lstStyle/>
          <a:p>
            <a:pPr indent="0" marL="0">
              <a:buNone/>
            </a:pPr>
            <a:r>
              <a:rPr lang="en-US" sz="1350" dirty="0">
                <a:solidFill>
                  <a:schemeClr val="tx1"/>
                </a:solidFill>
              </a:rPr>
              <a:t>하루 · 한 주 정리. 헷갈리기 쉬운 것은 그 기간에 남은 헷갈린 점부터</a:t>
            </a:r>
            <a:endParaRPr lang="en-US" sz="1350" dirty="0"/>
          </a:p>
        </p:txBody>
      </p:sp>
      <p:sp>
        <p:nvSpPr>
          <p:cNvPr id="12" name="badge-LuChartColumn"/>
          <p:cNvSpPr/>
          <p:nvPr/>
        </p:nvSpPr>
        <p:spPr>
          <a:xfrm>
            <a:off x="6080760" y="3566160"/>
            <a:ext cx="685800" cy="685800"/>
          </a:xfrm>
          <a:prstGeom prst="ellipse">
            <a:avLst/>
          </a:prstGeom>
          <a:solidFill>
            <a:schemeClr val="accent5"/>
          </a:solidFill>
          <a:ln w="12700">
            <a:solidFill>
              <a:schemeClr val="accent5"/>
            </a:solidFill>
            <a:prstDash val="solid"/>
          </a:ln>
        </p:spPr>
      </p:sp>
      <p:pic>
        <p:nvPicPr>
          <p:cNvPr id="13" name="icon-LuChartColumn" descr="LuChartColumn">    </p:cNvPr>
          <p:cNvPicPr>
            <a:picLocks noChangeAspect="1"/>
          </p:cNvPicPr>
          <p:nvPr/>
        </p:nvPicPr>
        <p:blipFill>
          <a:blip r:embed="rId4"/>
          <a:stretch>
            <a:fillRect/>
          </a:stretch>
        </p:blipFill>
        <p:spPr>
          <a:xfrm>
            <a:off x="6245352" y="3730752"/>
            <a:ext cx="356616" cy="356616"/>
          </a:xfrm>
          <a:prstGeom prst="rect">
            <a:avLst/>
          </a:prstGeom>
        </p:spPr>
      </p:pic>
      <p:sp>
        <p:nvSpPr>
          <p:cNvPr id="14" name="Text 8"/>
          <p:cNvSpPr txBox="1"/>
          <p:nvPr/>
        </p:nvSpPr>
        <p:spPr>
          <a:xfrm>
            <a:off x="6949440" y="3547872"/>
            <a:ext cx="4663440" cy="384048"/>
          </a:xfrm>
          <a:prstGeom prst="rect">
            <a:avLst/>
          </a:prstGeom>
          <a:noFill/>
          <a:ln/>
        </p:spPr>
        <p:txBody>
          <a:bodyPr wrap="square" lIns="0" tIns="0" rIns="0" bIns="0" rtlCol="0" anchor="t"/>
          <a:lstStyle/>
          <a:p>
            <a:pPr indent="0" marL="0">
              <a:buNone/>
            </a:pPr>
            <a:r>
              <a:rPr lang="en-US" sz="1800" b="1" dirty="0">
                <a:solidFill>
                  <a:schemeClr val="tx2"/>
                </a:solidFill>
                <a:latin typeface="Courier New" pitchFamily="34" charset="0"/>
                <a:ea typeface="Courier New" pitchFamily="34" charset="-122"/>
                <a:cs typeface="Courier New" pitchFamily="34" charset="-120"/>
              </a:rPr>
              <a:t>/learn</a:t>
            </a:r>
            <a:r>
              <a:rPr lang="en-US" sz="1800" b="1" dirty="0">
                <a:solidFill>
                  <a:schemeClr val="tx2"/>
                </a:solidFill>
              </a:rPr>
              <a:t> 기록</a:t>
            </a:r>
            <a:endParaRPr lang="en-US" sz="1800" dirty="0"/>
          </a:p>
        </p:txBody>
      </p:sp>
      <p:sp>
        <p:nvSpPr>
          <p:cNvPr id="15" name="Text 9"/>
          <p:cNvSpPr txBox="1"/>
          <p:nvPr/>
        </p:nvSpPr>
        <p:spPr>
          <a:xfrm>
            <a:off x="6949440" y="3950208"/>
            <a:ext cx="4663440" cy="685800"/>
          </a:xfrm>
          <a:prstGeom prst="rect">
            <a:avLst/>
          </a:prstGeom>
          <a:noFill/>
          <a:ln/>
        </p:spPr>
        <p:txBody>
          <a:bodyPr wrap="square" lIns="0" tIns="0" rIns="0" bIns="0" rtlCol="0" anchor="t"/>
          <a:lstStyle/>
          <a:p>
            <a:pPr indent="0" marL="0">
              <a:buNone/>
            </a:pPr>
            <a:r>
              <a:rPr lang="en-US" sz="1350" dirty="0">
                <a:solidFill>
                  <a:schemeClr val="tx1"/>
                </a:solidFill>
              </a:rPr>
              <a:t>연속 학습일 · 정답률 · 복습할 개념 · 배운 개념 · 모델 호출 수, 같은 종류로 헷갈린 개념까지</a:t>
            </a:r>
            <a:endParaRPr lang="en-US" sz="1350" dirty="0"/>
          </a:p>
        </p:txBody>
      </p:sp>
      <p:sp>
        <p:nvSpPr>
          <p:cNvPr id="16" name="badge-LuMessagesSquare"/>
          <p:cNvSpPr/>
          <p:nvPr/>
        </p:nvSpPr>
        <p:spPr>
          <a:xfrm>
            <a:off x="6080760" y="4663440"/>
            <a:ext cx="685800" cy="685800"/>
          </a:xfrm>
          <a:prstGeom prst="ellipse">
            <a:avLst/>
          </a:prstGeom>
          <a:solidFill>
            <a:schemeClr val="accent2"/>
          </a:solidFill>
          <a:ln w="12700">
            <a:solidFill>
              <a:schemeClr val="accent2"/>
            </a:solidFill>
            <a:prstDash val="solid"/>
          </a:ln>
        </p:spPr>
      </p:sp>
      <p:pic>
        <p:nvPicPr>
          <p:cNvPr id="17" name="icon-LuMessagesSquare" descr="LuMessagesSquare">    </p:cNvPr>
          <p:cNvPicPr>
            <a:picLocks noChangeAspect="1"/>
          </p:cNvPicPr>
          <p:nvPr/>
        </p:nvPicPr>
        <p:blipFill>
          <a:blip r:embed="rId5"/>
          <a:stretch>
            <a:fillRect/>
          </a:stretch>
        </p:blipFill>
        <p:spPr>
          <a:xfrm>
            <a:off x="6245352" y="4828032"/>
            <a:ext cx="356616" cy="356616"/>
          </a:xfrm>
          <a:prstGeom prst="rect">
            <a:avLst/>
          </a:prstGeom>
        </p:spPr>
      </p:pic>
      <p:sp>
        <p:nvSpPr>
          <p:cNvPr id="18" name="Text 11"/>
          <p:cNvSpPr txBox="1"/>
          <p:nvPr/>
        </p:nvSpPr>
        <p:spPr>
          <a:xfrm>
            <a:off x="6949440" y="4645152"/>
            <a:ext cx="4663440" cy="384048"/>
          </a:xfrm>
          <a:prstGeom prst="rect">
            <a:avLst/>
          </a:prstGeom>
          <a:noFill/>
          <a:ln/>
        </p:spPr>
        <p:txBody>
          <a:bodyPr wrap="square" lIns="0" tIns="0" rIns="0" bIns="0" rtlCol="0" anchor="t"/>
          <a:lstStyle/>
          <a:p>
            <a:pPr indent="0" marL="0">
              <a:buNone/>
            </a:pPr>
            <a:r>
              <a:rPr lang="en-US" sz="1800" b="1" dirty="0">
                <a:solidFill>
                  <a:schemeClr val="tx2"/>
                </a:solidFill>
              </a:rPr>
              <a:t>대화로 묻기</a:t>
            </a:r>
            <a:endParaRPr lang="en-US" sz="1800" dirty="0"/>
          </a:p>
        </p:txBody>
      </p:sp>
      <p:sp>
        <p:nvSpPr>
          <p:cNvPr id="19" name="Text 12"/>
          <p:cNvSpPr txBox="1"/>
          <p:nvPr/>
        </p:nvSpPr>
        <p:spPr>
          <a:xfrm>
            <a:off x="6949440" y="5047488"/>
            <a:ext cx="4663440" cy="685800"/>
          </a:xfrm>
          <a:prstGeom prst="rect">
            <a:avLst/>
          </a:prstGeom>
          <a:noFill/>
          <a:ln/>
        </p:spPr>
        <p:txBody>
          <a:bodyPr wrap="square" lIns="0" tIns="0" rIns="0" bIns="0" rtlCol="0" anchor="t"/>
          <a:lstStyle/>
          <a:p>
            <a:pPr indent="0" marL="0">
              <a:buNone/>
            </a:pPr>
            <a:r>
              <a:rPr lang="en-US" sz="1350" dirty="0">
                <a:solidFill>
                  <a:schemeClr val="tx1"/>
                </a:solidFill>
              </a:rPr>
              <a:t>대화창에 "오늘 배운 거 알려 줘"처럼 물으면 Claude가 내 노트를 읽고 답합니다</a:t>
            </a:r>
            <a:endParaRPr lang="en-US" sz="1350" dirty="0"/>
          </a:p>
        </p:txBody>
      </p:sp>
      <p:sp>
        <p:nvSpPr>
          <p:cNvPr id="20" name="Text 13"/>
          <p:cNvSpPr txBox="1"/>
          <p:nvPr/>
        </p:nvSpPr>
        <p:spPr>
          <a:xfrm>
            <a:off x="6080760" y="5687568"/>
            <a:ext cx="5577840" cy="438912"/>
          </a:xfrm>
          <a:prstGeom prst="rect">
            <a:avLst/>
          </a:prstGeom>
          <a:noFill/>
          <a:ln/>
        </p:spPr>
        <p:txBody>
          <a:bodyPr wrap="square" lIns="0" tIns="0" rIns="0" bIns="0" rtlCol="0" anchor="t"/>
          <a:lstStyle/>
          <a:p>
            <a:pPr indent="0" marL="0">
              <a:buNone/>
            </a:pPr>
            <a:r>
              <a:rPr lang="en-US" sz="1200" dirty="0">
                <a:solidFill>
                  <a:srgbClr val="5A6B70"/>
                </a:solidFill>
              </a:rPr>
              <a:t>노트와 일지는 ~/.claude/learning-notes/ 에, 모두 내 컴퓨터에 쌓입니다. Anki 카드는 /learn 안키.</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명령 한눈에</a:t>
            </a:r>
            <a:endParaRPr lang="en-US" sz="3000" dirty="0"/>
          </a:p>
        </p:txBody>
      </p:sp>
      <p:graphicFrame>
        <p:nvGraphicFramePr>
          <p:cNvPr id="21" name="Table 0"/>
          <p:cNvGraphicFramePr>
            <a:graphicFrameLocks noGrp="1"/>
          </p:cNvGraphicFramePr>
          <p:nvPr>
            <p:extLst>
              <p:ext uri="{D42A27DB-BD31-4B8C-83A1-F6EECF244321}">
                <p14:modId xmlns:p14="http://schemas.microsoft.com/office/powerpoint/2010/main" val="1579011935"/>
              </p:ext>
            </p:extLst>
          </p:nvPr>
        </p:nvGraphicFramePr>
        <p:xfrm>
          <a:off x="548640" y="1325880"/>
          <a:ext cx="11091672" cy="914400"/>
        </p:xfrm>
        <a:graphic>
          <a:graphicData uri="http://schemas.openxmlformats.org/drawingml/2006/table">
            <a:tbl>
              <a:tblPr/>
              <a:tblGrid>
                <a:gridCol w="3566160"/>
                <a:gridCol w="7525512"/>
              </a:tblGrid>
              <a:tr h="338328">
                <a:tc>
                  <a:txBody>
                    <a:bodyPr/>
                    <a:lstStyle/>
                    <a:p>
                      <a:pPr indent="0" marL="0">
                        <a:buNone/>
                      </a:pPr>
                      <a:r>
                        <a:rPr lang="en-US" sz="1350" b="1" dirty="0">
                          <a:solidFill>
                            <a:schemeClr val="tx2"/>
                          </a:solidFill>
                        </a:rPr>
                        <a:t>명령</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solidFill>
                      <a:schemeClr val="bg2"/>
                    </a:solidFill>
                  </a:tcPr>
                </a:tc>
                <a:tc>
                  <a:txBody>
                    <a:bodyPr/>
                    <a:lstStyle/>
                    <a:p>
                      <a:pPr indent="0" marL="0">
                        <a:buNone/>
                      </a:pPr>
                      <a:r>
                        <a:rPr lang="en-US" sz="1350" b="1" dirty="0">
                          <a:solidFill>
                            <a:schemeClr val="tx2"/>
                          </a:solidFill>
                        </a:rPr>
                        <a:t>하는 일</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solidFill>
                      <a:schemeClr val="bg2"/>
                    </a:solidFill>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패널 열기 · 키는 터미널은 ctrl+x tab · 클릭, 데스크톱 앱은 클릭으로 패널에</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복습</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오늘 복습 바로 시작 · 답 칸에서 시작</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퀴즈</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대화창에서 풀기 · 1 내 답으로 채점 (새로 · 힌트 · 정답)</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정리</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오늘 배운 것 정리 (어제 · 이번주 · 최근 7일 · 날짜)</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질문 …</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고른 노트(없으면 마지막 노트)에 대해 묻기</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기록</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연속 학습일 · 정답률 · 복습할 개념 · 배운 개념 · 모델 호출 수</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보고서</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코드 없는 학습 보고서를 클립보드와 파일로 (최근 7일)</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보고서 모으기 파일</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리더: 팀원의 보고서를 모은 파일 하나로 사람별 줄 없는 팀 학습 지도 (1.8.0)</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공유</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고른 노트를 요청 · 경로 없이 복사 (c와 같음 · 옛 이름 마지막)</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퀴즈 팀</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이 저장소의 팀 용어만으로 퀴즈</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r h="338328">
                <a:tc>
                  <a:txBody>
                    <a:bodyPr/>
                    <a:lstStyle/>
                    <a:p>
                      <a:pPr indent="0" marL="0">
                        <a:buNone/>
                      </a:pPr>
                      <a:r>
                        <a:rPr lang="en-US" sz="1350" b="1" dirty="0">
                          <a:solidFill>
                            <a:schemeClr val="accent1"/>
                          </a:solidFill>
                          <a:latin typeface="Courier New" pitchFamily="34" charset="0"/>
                          <a:ea typeface="Courier New" pitchFamily="34" charset="-122"/>
                          <a:cs typeface="Courier New" pitchFamily="34" charset="-120"/>
                        </a:rPr>
                        <a:t>/learn</a:t>
                      </a:r>
                      <a:r>
                        <a:rPr lang="en-US" sz="1350" b="1" dirty="0">
                          <a:solidFill>
                            <a:schemeClr val="accent1"/>
                          </a:solidFill>
                        </a:rPr>
                        <a:t> 진단</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c>
                  <a:txBody>
                    <a:bodyPr/>
                    <a:lstStyle/>
                    <a:p>
                      <a:pPr indent="0" marL="0">
                        <a:buNone/>
                      </a:pPr>
                      <a:r>
                        <a:rPr lang="en-US" sz="1350" dirty="0">
                          <a:solidFill>
                            <a:schemeClr val="tx1"/>
                          </a:solidFill>
                        </a:rPr>
                        <a:t>막히면 담당자에게 · 모델 호출 없이 클립보드로</a:t>
                      </a:r>
                      <a:endParaRPr lang="en-US" sz="1350" dirty="0"/>
                    </a:p>
                  </a:txBody>
                  <a:tcPr marL="137160" marR="137160" marT="0" marB="0" anchor="ctr">
                    <a:lnL w="9525" cap="flat" cmpd="sng" algn="ctr">
                      <a:solidFill>
                        <a:srgbClr val="D9E3DF"/>
                      </a:solidFill>
                      <a:prstDash val="solid"/>
                      <a:round/>
                      <a:headEnd type="none" w="med" len="med"/>
                      <a:tailEnd type="none" w="med" len="med"/>
                    </a:lnL>
                    <a:lnR w="9525" cap="flat" cmpd="sng" algn="ctr">
                      <a:solidFill>
                        <a:srgbClr val="D9E3DF"/>
                      </a:solidFill>
                      <a:prstDash val="solid"/>
                      <a:round/>
                      <a:headEnd type="none" w="med" len="med"/>
                      <a:tailEnd type="none" w="med" len="med"/>
                    </a:lnR>
                    <a:lnT w="9525" cap="flat" cmpd="sng" algn="ctr">
                      <a:solidFill>
                        <a:srgbClr val="D9E3DF"/>
                      </a:solidFill>
                      <a:prstDash val="solid"/>
                      <a:round/>
                      <a:headEnd type="none" w="med" len="med"/>
                      <a:tailEnd type="none" w="med" len="med"/>
                    </a:lnT>
                    <a:lnB w="9525" cap="flat" cmpd="sng" algn="ctr">
                      <a:solidFill>
                        <a:srgbClr val="D9E3DF"/>
                      </a:solidFill>
                      <a:prstDash val="solid"/>
                      <a:round/>
                      <a:headEnd type="none" w="med" len="med"/>
                      <a:tailEnd type="none" w="med" len="med"/>
                    </a:lnB>
                  </a:tcPr>
                </a:tc>
              </a:tr>
            </a:tbl>
          </a:graphicData>
        </a:graphic>
      </p:graphicFrame>
      <p:sp>
        <p:nvSpPr>
          <p:cNvPr id="4" name="card"/>
          <p:cNvSpPr/>
          <p:nvPr/>
        </p:nvSpPr>
        <p:spPr>
          <a:xfrm>
            <a:off x="548640" y="5577840"/>
            <a:ext cx="11091672" cy="548640"/>
          </a:xfrm>
          <a:prstGeom prst="roundRect">
            <a:avLst>
              <a:gd name="adj" fmla="val 16667"/>
            </a:avLst>
          </a:prstGeom>
          <a:solidFill>
            <a:schemeClr val="bg2"/>
          </a:solidFill>
          <a:ln w="9525">
            <a:solidFill>
              <a:schemeClr val="bg2"/>
            </a:solidFill>
            <a:prstDash val="solid"/>
          </a:ln>
        </p:spPr>
      </p:sp>
      <p:sp>
        <p:nvSpPr>
          <p:cNvPr id="5" name="Text 2"/>
          <p:cNvSpPr txBox="1"/>
          <p:nvPr/>
        </p:nvSpPr>
        <p:spPr>
          <a:xfrm>
            <a:off x="777240" y="5577840"/>
            <a:ext cx="10698480" cy="548640"/>
          </a:xfrm>
          <a:prstGeom prst="rect">
            <a:avLst/>
          </a:prstGeom>
          <a:noFill/>
          <a:ln/>
        </p:spPr>
        <p:txBody>
          <a:bodyPr wrap="square" lIns="0" tIns="0" rIns="0" bIns="0" rtlCol="0" anchor="ctr"/>
          <a:lstStyle/>
          <a:p>
            <a:pPr indent="0" marL="0">
              <a:buNone/>
            </a:pPr>
            <a:r>
              <a:rPr lang="en-US" sz="1350" b="1" dirty="0">
                <a:solidFill>
                  <a:schemeClr val="tx2"/>
                </a:solidFill>
              </a:rPr>
              <a:t>가끔  </a:t>
            </a:r>
            <a:r>
              <a:rPr lang="en-US" sz="1350" dirty="0">
                <a:solidFill>
                  <a:schemeClr val="tx1"/>
                </a:solidFill>
              </a:rPr>
              <a:t>찾기 · 일지 · 합치기 · 안다 · 모른다 · 안키 · 비우기      영어(quiz · recap · stats …)도 됩니다 · 전체는 /learn 도움말</a:t>
            </a:r>
            <a:endParaRPr lang="en-US" sz="135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p:nvPr>
            <p:ph idx="100" type="body" hasCustomPrompt="1"/>
          </p:nvPr>
        </p:nvSpPr>
        <p:spPr>
          <a:xfrm>
            <a:off x="640080" y="1554480"/>
            <a:ext cx="3657600" cy="1005840"/>
          </a:xfrm>
          <a:prstGeom prst="rect">
            <a:avLst/>
          </a:prstGeom>
          <a:noFill/>
          <a:ln/>
        </p:spPr>
        <p:txBody>
          <a:bodyPr wrap="square" lIns="0" tIns="0" rIns="0" bIns="0" rtlCol="0" anchor="t"/>
          <a:lstStyle/>
          <a:p>
            <a:pPr algn="l" indent="0" marL="0">
              <a:buNone/>
            </a:pPr>
            <a:r>
              <a:rPr lang="en-US" sz="6000" b="1" dirty="0">
                <a:solidFill>
                  <a:schemeClr val="accent6"/>
                </a:solidFill>
              </a:rPr>
              <a:t>03</a:t>
            </a:r>
            <a:endParaRPr lang="en-US" sz="6000" dirty="0"/>
          </a:p>
        </p:txBody>
      </p:sp>
      <p:sp>
        <p:nvSpPr>
          <p:cNvPr id="3" name="Text 0"/>
          <p:cNvSpPr/>
          <p:nvPr>
            <p:ph idx="101" type="title" hasCustomPrompt="1"/>
          </p:nvPr>
        </p:nvSpPr>
        <p:spPr>
          <a:xfrm>
            <a:off x="640080" y="2743200"/>
            <a:ext cx="10515600" cy="1005840"/>
          </a:xfrm>
          <a:prstGeom prst="rect">
            <a:avLst/>
          </a:prstGeom>
          <a:noFill/>
          <a:ln/>
        </p:spPr>
        <p:txBody>
          <a:bodyPr wrap="square" lIns="0" tIns="0" rIns="0" bIns="0" rtlCol="0" anchor="t"/>
          <a:lstStyle/>
          <a:p>
            <a:pPr algn="l" indent="0" marL="0">
              <a:buNone/>
            </a:pPr>
            <a:r>
              <a:rPr lang="en-US" sz="4000" b="1" dirty="0">
                <a:solidFill>
                  <a:schemeClr val="bg1"/>
                </a:solidFill>
              </a:rPr>
              <a:t>시작하기</a:t>
            </a:r>
            <a:endParaRPr lang="en-US" sz="4000" dirty="0"/>
          </a:p>
        </p:txBody>
      </p:sp>
      <p:sp>
        <p:nvSpPr>
          <p:cNvPr id="4" name="Text 0"/>
          <p:cNvSpPr/>
          <p:nvPr>
            <p:ph idx="102" type="body" hasCustomPrompt="1"/>
          </p:nvPr>
        </p:nvSpPr>
        <p:spPr>
          <a:xfrm>
            <a:off x="640080" y="3886200"/>
            <a:ext cx="10058400" cy="822960"/>
          </a:xfrm>
          <a:prstGeom prst="rect">
            <a:avLst/>
          </a:prstGeom>
          <a:noFill/>
          <a:ln/>
        </p:spPr>
        <p:txBody>
          <a:bodyPr wrap="square" lIns="0" tIns="0" rIns="0" bIns="0" rtlCol="0" anchor="t"/>
          <a:lstStyle/>
          <a:p>
            <a:pPr algn="l" indent="0" marL="0">
              <a:buNone/>
            </a:pPr>
            <a:r>
              <a:rPr lang="en-US" sz="1800" dirty="0">
                <a:solidFill>
                  <a:schemeClr val="accent6"/>
                </a:solidFill>
              </a:rPr>
              <a:t>설치는 두 줄, 첫 노트까지 5분 · 팀으로 쓰는 법, 팀 학습 지도, 담당자 안내까지</a:t>
            </a:r>
            <a:endParaRPr lang="en-US" sz="1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설치하고 첫 노트 보기</a:t>
            </a:r>
            <a:endParaRPr lang="en-US" sz="3000" dirty="0"/>
          </a:p>
        </p:txBody>
      </p:sp>
      <p:sp>
        <p:nvSpPr>
          <p:cNvPr id="3" name="Text 1"/>
          <p:cNvSpPr txBox="1"/>
          <p:nvPr/>
        </p:nvSpPr>
        <p:spPr>
          <a:xfrm>
            <a:off x="548640" y="1371600"/>
            <a:ext cx="6400800" cy="411480"/>
          </a:xfrm>
          <a:prstGeom prst="rect">
            <a:avLst/>
          </a:prstGeom>
          <a:noFill/>
          <a:ln/>
        </p:spPr>
        <p:txBody>
          <a:bodyPr wrap="square" lIns="0" tIns="0" rIns="0" bIns="0" rtlCol="0" anchor="t"/>
          <a:lstStyle/>
          <a:p>
            <a:pPr indent="0" marL="0">
              <a:buNone/>
            </a:pPr>
            <a:r>
              <a:rPr lang="en-US" sz="1700" b="1" dirty="0">
                <a:solidFill>
                  <a:schemeClr val="tx2"/>
                </a:solidFill>
              </a:rPr>
              <a:t>① Claude Code 안에서 두 줄로 설치</a:t>
            </a:r>
            <a:endParaRPr lang="en-US" sz="1700" dirty="0"/>
          </a:p>
        </p:txBody>
      </p:sp>
      <p:sp>
        <p:nvSpPr>
          <p:cNvPr id="4" name="code"/>
          <p:cNvSpPr/>
          <p:nvPr/>
        </p:nvSpPr>
        <p:spPr>
          <a:xfrm>
            <a:off x="548640" y="1874520"/>
            <a:ext cx="6583680" cy="1051560"/>
          </a:xfrm>
          <a:prstGeom prst="roundRect">
            <a:avLst>
              <a:gd name="adj" fmla="val 6957"/>
            </a:avLst>
          </a:prstGeom>
          <a:solidFill>
            <a:srgbClr val="0D1110"/>
          </a:solidFill>
          <a:ln w="12700">
            <a:solidFill>
              <a:srgbClr val="0D1110"/>
            </a:solidFill>
            <a:prstDash val="solid"/>
          </a:ln>
        </p:spPr>
      </p:sp>
      <p:sp>
        <p:nvSpPr>
          <p:cNvPr id="5" name="Text 3"/>
          <p:cNvSpPr txBox="1"/>
          <p:nvPr/>
        </p:nvSpPr>
        <p:spPr>
          <a:xfrm>
            <a:off x="822960" y="1874520"/>
            <a:ext cx="6126480" cy="1051560"/>
          </a:xfrm>
          <a:prstGeom prst="rect">
            <a:avLst/>
          </a:prstGeom>
          <a:noFill/>
          <a:ln/>
        </p:spPr>
        <p:txBody>
          <a:bodyPr wrap="square" lIns="0" tIns="0" rIns="0" bIns="0" rtlCol="0" anchor="ctr"/>
          <a:lstStyle/>
          <a:p>
            <a:pPr indent="0" marL="0">
              <a:buNone/>
            </a:pPr>
            <a:r>
              <a:rPr lang="en-US" sz="1500" dirty="0">
                <a:solidFill>
                  <a:srgbClr val="D6DDD6"/>
                </a:solidFill>
                <a:latin typeface="Courier New" pitchFamily="34" charset="0"/>
                <a:ea typeface="Courier New" pitchFamily="34" charset="-122"/>
                <a:cs typeface="Courier New" pitchFamily="34" charset="-120"/>
              </a:rPr>
              <a:t>/plugin marketplace add Owen-YC/learn-notes</a:t>
            </a:r>
            <a:endParaRPr lang="en-US" sz="1500" dirty="0"/>
          </a:p>
          <a:p>
            <a:pPr indent="0" marL="0">
              <a:buNone/>
            </a:pPr>
            <a:r>
              <a:rPr lang="en-US" sz="1500" dirty="0">
                <a:solidFill>
                  <a:srgbClr val="D6DDD6"/>
                </a:solidFill>
                <a:latin typeface="Courier New" pitchFamily="34" charset="0"/>
                <a:ea typeface="Courier New" pitchFamily="34" charset="-122"/>
                <a:cs typeface="Courier New" pitchFamily="34" charset="-120"/>
              </a:rPr>
              <a:t>/plugin install learn-notes@learn-notes</a:t>
            </a:r>
            <a:endParaRPr lang="en-US" sz="1500" dirty="0"/>
          </a:p>
        </p:txBody>
      </p:sp>
      <p:sp>
        <p:nvSpPr>
          <p:cNvPr id="6" name="Text 4"/>
          <p:cNvSpPr txBox="1"/>
          <p:nvPr/>
        </p:nvSpPr>
        <p:spPr>
          <a:xfrm>
            <a:off x="548640" y="3200400"/>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②</a:t>
            </a:r>
            <a:endParaRPr lang="en-US" sz="2000" dirty="0"/>
          </a:p>
        </p:txBody>
      </p:sp>
      <p:sp>
        <p:nvSpPr>
          <p:cNvPr id="7" name="Text 5"/>
          <p:cNvSpPr txBox="1"/>
          <p:nvPr/>
        </p:nvSpPr>
        <p:spPr>
          <a:xfrm>
            <a:off x="1097280" y="3227832"/>
            <a:ext cx="6035040" cy="457200"/>
          </a:xfrm>
          <a:prstGeom prst="rect">
            <a:avLst/>
          </a:prstGeom>
          <a:noFill/>
          <a:ln/>
        </p:spPr>
        <p:txBody>
          <a:bodyPr wrap="square" lIns="0" tIns="0" rIns="0" bIns="0" rtlCol="0" anchor="t"/>
          <a:lstStyle/>
          <a:p>
            <a:pPr indent="0" marL="0">
              <a:buNone/>
            </a:pPr>
            <a:r>
              <a:rPr lang="en-US" sz="1600" dirty="0">
                <a:solidFill>
                  <a:schemeClr val="tx1"/>
                </a:solidFill>
              </a:rPr>
              <a:t>다시 시작 · 터미널은 </a:t>
            </a:r>
            <a:r>
              <a:rPr lang="en-US" sz="1600" b="1" dirty="0">
                <a:solidFill>
                  <a:schemeClr val="accent1"/>
                </a:solidFill>
                <a:latin typeface="Courier New" pitchFamily="34" charset="0"/>
                <a:ea typeface="Courier New" pitchFamily="34" charset="-122"/>
                <a:cs typeface="Courier New" pitchFamily="34" charset="-120"/>
              </a:rPr>
              <a:t>/tui fullscreen</a:t>
            </a:r>
            <a:r>
              <a:rPr lang="en-US" sz="1300" dirty="0">
                <a:solidFill>
                  <a:srgbClr val="5A6B70"/>
                </a:solidFill>
              </a:rPr>
              <a:t> (데스크톱 앱은 그대로)</a:t>
            </a:r>
            <a:endParaRPr lang="en-US" sz="1600" dirty="0"/>
          </a:p>
        </p:txBody>
      </p:sp>
      <p:sp>
        <p:nvSpPr>
          <p:cNvPr id="8" name="Text 6"/>
          <p:cNvSpPr txBox="1"/>
          <p:nvPr/>
        </p:nvSpPr>
        <p:spPr>
          <a:xfrm>
            <a:off x="548640" y="3913632"/>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③</a:t>
            </a:r>
            <a:endParaRPr lang="en-US" sz="2000" dirty="0"/>
          </a:p>
        </p:txBody>
      </p:sp>
      <p:sp>
        <p:nvSpPr>
          <p:cNvPr id="9" name="Text 7"/>
          <p:cNvSpPr txBox="1"/>
          <p:nvPr/>
        </p:nvSpPr>
        <p:spPr>
          <a:xfrm>
            <a:off x="1097280" y="3941064"/>
            <a:ext cx="6035040" cy="457200"/>
          </a:xfrm>
          <a:prstGeom prst="rect">
            <a:avLst/>
          </a:prstGeom>
          <a:noFill/>
          <a:ln/>
        </p:spPr>
        <p:txBody>
          <a:bodyPr wrap="square" lIns="0" tIns="0" rIns="0" bIns="0" rtlCol="0" anchor="t"/>
          <a:lstStyle/>
          <a:p>
            <a:pPr indent="0" marL="0">
              <a:buNone/>
            </a:pPr>
            <a:r>
              <a:rPr lang="en-US" sz="1600" b="1" dirty="0">
                <a:solidFill>
                  <a:schemeClr val="accent1"/>
                </a:solidFill>
                <a:latin typeface="Courier New" pitchFamily="34" charset="0"/>
                <a:ea typeface="Courier New" pitchFamily="34" charset="-122"/>
                <a:cs typeface="Courier New" pitchFamily="34" charset="-120"/>
              </a:rPr>
              <a:t>/learn</a:t>
            </a:r>
            <a:r>
              <a:rPr lang="en-US" sz="1600" dirty="0">
                <a:solidFill>
                  <a:schemeClr val="tx1"/>
                </a:solidFill>
              </a:rPr>
              <a:t> 으로 패널 열기 · 오늘 복습은 </a:t>
            </a:r>
            <a:r>
              <a:rPr lang="en-US" sz="1600" b="1" dirty="0">
                <a:solidFill>
                  <a:schemeClr val="accent1"/>
                </a:solidFill>
                <a:latin typeface="Courier New" pitchFamily="34" charset="0"/>
                <a:ea typeface="Courier New" pitchFamily="34" charset="-122"/>
                <a:cs typeface="Courier New" pitchFamily="34" charset="-120"/>
              </a:rPr>
              <a:t>/learn</a:t>
            </a:r>
            <a:r>
              <a:rPr lang="en-US" sz="1600" b="1" dirty="0">
                <a:solidFill>
                  <a:schemeClr val="accent1"/>
                </a:solidFill>
              </a:rPr>
              <a:t> 복습</a:t>
            </a:r>
            <a:endParaRPr lang="en-US" sz="1600" dirty="0"/>
          </a:p>
        </p:txBody>
      </p:sp>
      <p:sp>
        <p:nvSpPr>
          <p:cNvPr id="10" name="Text 8"/>
          <p:cNvSpPr txBox="1"/>
          <p:nvPr/>
        </p:nvSpPr>
        <p:spPr>
          <a:xfrm>
            <a:off x="548640" y="4626864"/>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④</a:t>
            </a:r>
            <a:endParaRPr lang="en-US" sz="2000" dirty="0"/>
          </a:p>
        </p:txBody>
      </p:sp>
      <p:sp>
        <p:nvSpPr>
          <p:cNvPr id="11" name="Text 9"/>
          <p:cNvSpPr txBox="1"/>
          <p:nvPr/>
        </p:nvSpPr>
        <p:spPr>
          <a:xfrm>
            <a:off x="1097280" y="4654296"/>
            <a:ext cx="6035040" cy="457200"/>
          </a:xfrm>
          <a:prstGeom prst="rect">
            <a:avLst/>
          </a:prstGeom>
          <a:noFill/>
          <a:ln/>
        </p:spPr>
        <p:txBody>
          <a:bodyPr wrap="square" lIns="0" tIns="0" rIns="0" bIns="0" rtlCol="0" anchor="t"/>
          <a:lstStyle/>
          <a:p>
            <a:pPr indent="0" marL="0">
              <a:buNone/>
            </a:pPr>
            <a:r>
              <a:rPr lang="en-US" sz="1600" dirty="0">
                <a:solidFill>
                  <a:schemeClr val="tx1"/>
                </a:solidFill>
              </a:rPr>
              <a:t>평소처럼 코딩 요청 → 몇 초 뒤 노트가 뜹니다</a:t>
            </a:r>
            <a:endParaRPr lang="en-US" sz="1600" dirty="0"/>
          </a:p>
        </p:txBody>
      </p:sp>
      <p:sp>
        <p:nvSpPr>
          <p:cNvPr id="12" name="Text 10"/>
          <p:cNvSpPr txBox="1"/>
          <p:nvPr/>
        </p:nvSpPr>
        <p:spPr>
          <a:xfrm>
            <a:off x="548640" y="5340096"/>
            <a:ext cx="548640" cy="457200"/>
          </a:xfrm>
          <a:prstGeom prst="rect">
            <a:avLst/>
          </a:prstGeom>
          <a:noFill/>
          <a:ln/>
        </p:spPr>
        <p:txBody>
          <a:bodyPr wrap="square" lIns="0" tIns="0" rIns="0" bIns="0" rtlCol="0" anchor="t"/>
          <a:lstStyle/>
          <a:p>
            <a:pPr indent="0" marL="0">
              <a:buNone/>
            </a:pPr>
            <a:r>
              <a:rPr lang="en-US" sz="2000" b="1" dirty="0">
                <a:solidFill>
                  <a:schemeClr val="accent1"/>
                </a:solidFill>
              </a:rPr>
              <a:t>⑤</a:t>
            </a:r>
            <a:endParaRPr lang="en-US" sz="2000" dirty="0"/>
          </a:p>
        </p:txBody>
      </p:sp>
      <p:sp>
        <p:nvSpPr>
          <p:cNvPr id="13" name="Text 11"/>
          <p:cNvSpPr txBox="1"/>
          <p:nvPr/>
        </p:nvSpPr>
        <p:spPr>
          <a:xfrm>
            <a:off x="1097280" y="5367528"/>
            <a:ext cx="6035040" cy="457200"/>
          </a:xfrm>
          <a:prstGeom prst="rect">
            <a:avLst/>
          </a:prstGeom>
          <a:noFill/>
          <a:ln/>
        </p:spPr>
        <p:txBody>
          <a:bodyPr wrap="square" lIns="0" tIns="0" rIns="0" bIns="0" rtlCol="0" anchor="t"/>
          <a:lstStyle/>
          <a:p>
            <a:pPr indent="0" marL="0">
              <a:buNone/>
            </a:pPr>
            <a:r>
              <a:rPr lang="en-US" sz="1600" dirty="0">
                <a:solidFill>
                  <a:schemeClr val="tx1"/>
                </a:solidFill>
              </a:rPr>
              <a:t>숫자 </a:t>
            </a:r>
            <a:r>
              <a:rPr lang="en-US" sz="1600" b="1" dirty="0">
                <a:solidFill>
                  <a:schemeClr val="accent1"/>
                </a:solidFill>
                <a:latin typeface="Courier New" pitchFamily="34" charset="0"/>
                <a:ea typeface="Courier New" pitchFamily="34" charset="-122"/>
                <a:cs typeface="Courier New" pitchFamily="34" charset="-120"/>
              </a:rPr>
              <a:t>1~4</a:t>
            </a:r>
            <a:r>
              <a:rPr lang="en-US" sz="1600" dirty="0">
                <a:solidFill>
                  <a:schemeClr val="tx1"/>
                </a:solidFill>
              </a:rPr>
              <a:t>는 한/영 상관없이, 글자 키는 영문으로</a:t>
            </a:r>
            <a:endParaRPr lang="en-US" sz="1600" dirty="0"/>
          </a:p>
        </p:txBody>
      </p:sp>
      <p:sp>
        <p:nvSpPr>
          <p:cNvPr id="14" name="card"/>
          <p:cNvSpPr/>
          <p:nvPr/>
        </p:nvSpPr>
        <p:spPr>
          <a:xfrm>
            <a:off x="7498080" y="1371600"/>
            <a:ext cx="4142232" cy="2103120"/>
          </a:xfrm>
          <a:prstGeom prst="roundRect">
            <a:avLst>
              <a:gd name="adj" fmla="val 4348"/>
            </a:avLst>
          </a:prstGeom>
          <a:solidFill>
            <a:schemeClr val="bg2"/>
          </a:solidFill>
          <a:ln w="9525">
            <a:solidFill>
              <a:schemeClr val="bg2"/>
            </a:solidFill>
            <a:prstDash val="solid"/>
          </a:ln>
        </p:spPr>
      </p:sp>
      <p:sp>
        <p:nvSpPr>
          <p:cNvPr id="15" name="badge-LuLaptop"/>
          <p:cNvSpPr/>
          <p:nvPr/>
        </p:nvSpPr>
        <p:spPr>
          <a:xfrm>
            <a:off x="7726680" y="1536192"/>
            <a:ext cx="548640" cy="548640"/>
          </a:xfrm>
          <a:prstGeom prst="ellipse">
            <a:avLst/>
          </a:prstGeom>
          <a:solidFill>
            <a:schemeClr val="accent3"/>
          </a:solidFill>
          <a:ln w="12700">
            <a:solidFill>
              <a:schemeClr val="accent3"/>
            </a:solidFill>
            <a:prstDash val="solid"/>
          </a:ln>
        </p:spPr>
      </p:sp>
      <p:pic>
        <p:nvPicPr>
          <p:cNvPr id="16" name="icon-LuLaptop" descr="LuLaptop">    </p:cNvPr>
          <p:cNvPicPr>
            <a:picLocks noChangeAspect="1"/>
          </p:cNvPicPr>
          <p:nvPr/>
        </p:nvPicPr>
        <p:blipFill>
          <a:blip r:embed="rId1"/>
          <a:stretch>
            <a:fillRect/>
          </a:stretch>
        </p:blipFill>
        <p:spPr>
          <a:xfrm>
            <a:off x="7858354" y="1667866"/>
            <a:ext cx="285293" cy="285293"/>
          </a:xfrm>
          <a:prstGeom prst="rect">
            <a:avLst/>
          </a:prstGeom>
        </p:spPr>
      </p:pic>
      <p:sp>
        <p:nvSpPr>
          <p:cNvPr id="17" name="Text 14"/>
          <p:cNvSpPr txBox="1"/>
          <p:nvPr/>
        </p:nvSpPr>
        <p:spPr>
          <a:xfrm>
            <a:off x="8412480" y="1536192"/>
            <a:ext cx="3017520" cy="548640"/>
          </a:xfrm>
          <a:prstGeom prst="rect">
            <a:avLst/>
          </a:prstGeom>
          <a:noFill/>
          <a:ln/>
        </p:spPr>
        <p:txBody>
          <a:bodyPr wrap="square" lIns="0" tIns="0" rIns="0" bIns="0" rtlCol="0" anchor="ctr"/>
          <a:lstStyle/>
          <a:p>
            <a:pPr indent="0" marL="0">
              <a:buNone/>
            </a:pPr>
            <a:r>
              <a:rPr lang="en-US" sz="1700" b="1" dirty="0">
                <a:solidFill>
                  <a:schemeClr val="tx2"/>
                </a:solidFill>
              </a:rPr>
              <a:t>Windows</a:t>
            </a:r>
            <a:endParaRPr lang="en-US" sz="1700" dirty="0"/>
          </a:p>
        </p:txBody>
      </p:sp>
      <p:sp>
        <p:nvSpPr>
          <p:cNvPr id="18" name="Text 15"/>
          <p:cNvSpPr txBox="1"/>
          <p:nvPr/>
        </p:nvSpPr>
        <p:spPr>
          <a:xfrm>
            <a:off x="7726680" y="2176272"/>
            <a:ext cx="3749040" cy="1234440"/>
          </a:xfrm>
          <a:prstGeom prst="rect">
            <a:avLst/>
          </a:prstGeom>
          <a:noFill/>
          <a:ln/>
        </p:spPr>
        <p:txBody>
          <a:bodyPr wrap="square" lIns="0" tIns="0" rIns="0" bIns="0" rtlCol="0" anchor="t"/>
          <a:lstStyle/>
          <a:p>
            <a:pPr indent="0" marL="0">
              <a:spcAft>
                <a:spcPts val="400"/>
              </a:spcAft>
              <a:buNone/>
            </a:pPr>
            <a:r>
              <a:rPr lang="en-US" sz="1300" b="1" dirty="0">
                <a:solidFill>
                  <a:schemeClr val="tx1"/>
                </a:solidFill>
              </a:rPr>
              <a:t>PowerShell에서 Claude Code 설치</a:t>
            </a:r>
            <a:endParaRPr lang="en-US" sz="1300" dirty="0"/>
          </a:p>
          <a:p>
            <a:pPr indent="0" marL="0">
              <a:spcAft>
                <a:spcPts val="400"/>
              </a:spcAft>
              <a:buNone/>
            </a:pPr>
            <a:r>
              <a:rPr lang="en-US" sz="1150" dirty="0">
                <a:solidFill>
                  <a:schemeClr val="accent1"/>
                </a:solidFill>
                <a:latin typeface="Courier New" pitchFamily="34" charset="0"/>
                <a:ea typeface="Courier New" pitchFamily="34" charset="-122"/>
                <a:cs typeface="Courier New" pitchFamily="34" charset="-120"/>
              </a:rPr>
              <a:t>irm https://claude.ai/install.ps1 | iex</a:t>
            </a:r>
            <a:endParaRPr lang="en-US" sz="1300" dirty="0"/>
          </a:p>
          <a:p>
            <a:pPr indent="0" marL="0">
              <a:spcAft>
                <a:spcPts val="400"/>
              </a:spcAft>
              <a:buNone/>
            </a:pPr>
            <a:r>
              <a:rPr lang="en-US" sz="1300" dirty="0">
                <a:solidFill>
                  <a:schemeClr val="tx1"/>
                </a:solidFill>
              </a:rPr>
              <a:t>작업할 폴더에서 켜세요 (cd ~\practice 뒤 claude). System32에서 켜면 패널이 안내를 띄웁니다.</a:t>
            </a:r>
            <a:endParaRPr lang="en-US" sz="1300" dirty="0"/>
          </a:p>
        </p:txBody>
      </p:sp>
      <p:sp>
        <p:nvSpPr>
          <p:cNvPr id="19" name="card"/>
          <p:cNvSpPr/>
          <p:nvPr/>
        </p:nvSpPr>
        <p:spPr>
          <a:xfrm>
            <a:off x="7498080" y="3657600"/>
            <a:ext cx="4142232" cy="2468880"/>
          </a:xfrm>
          <a:prstGeom prst="roundRect">
            <a:avLst>
              <a:gd name="adj" fmla="val 3704"/>
            </a:avLst>
          </a:prstGeom>
          <a:solidFill>
            <a:srgbClr val="FDF3E2"/>
          </a:solidFill>
          <a:ln w="9525">
            <a:solidFill>
              <a:srgbClr val="FDF3E2"/>
            </a:solidFill>
            <a:prstDash val="solid"/>
          </a:ln>
        </p:spPr>
      </p:sp>
      <p:sp>
        <p:nvSpPr>
          <p:cNvPr id="20" name="badge-LuRotateCcw"/>
          <p:cNvSpPr/>
          <p:nvPr/>
        </p:nvSpPr>
        <p:spPr>
          <a:xfrm>
            <a:off x="7726680" y="3794760"/>
            <a:ext cx="548640" cy="548640"/>
          </a:xfrm>
          <a:prstGeom prst="ellipse">
            <a:avLst/>
          </a:prstGeom>
          <a:solidFill>
            <a:schemeClr val="accent2"/>
          </a:solidFill>
          <a:ln w="12700">
            <a:solidFill>
              <a:schemeClr val="accent2"/>
            </a:solidFill>
            <a:prstDash val="solid"/>
          </a:ln>
        </p:spPr>
      </p:sp>
      <p:pic>
        <p:nvPicPr>
          <p:cNvPr id="21" name="icon-LuRotateCcw" descr="LuRotateCcw">    </p:cNvPr>
          <p:cNvPicPr>
            <a:picLocks noChangeAspect="1"/>
          </p:cNvPicPr>
          <p:nvPr/>
        </p:nvPicPr>
        <p:blipFill>
          <a:blip r:embed="rId2"/>
          <a:stretch>
            <a:fillRect/>
          </a:stretch>
        </p:blipFill>
        <p:spPr>
          <a:xfrm>
            <a:off x="7858354" y="3926434"/>
            <a:ext cx="285293" cy="285293"/>
          </a:xfrm>
          <a:prstGeom prst="rect">
            <a:avLst/>
          </a:prstGeom>
        </p:spPr>
      </p:pic>
      <p:sp>
        <p:nvSpPr>
          <p:cNvPr id="22" name="Text 18"/>
          <p:cNvSpPr txBox="1"/>
          <p:nvPr/>
        </p:nvSpPr>
        <p:spPr>
          <a:xfrm>
            <a:off x="8412480" y="3794760"/>
            <a:ext cx="3017520" cy="548640"/>
          </a:xfrm>
          <a:prstGeom prst="rect">
            <a:avLst/>
          </a:prstGeom>
          <a:noFill/>
          <a:ln/>
        </p:spPr>
        <p:txBody>
          <a:bodyPr wrap="square" lIns="0" tIns="0" rIns="0" bIns="0" rtlCol="0" anchor="ctr"/>
          <a:lstStyle/>
          <a:p>
            <a:pPr indent="0" marL="0">
              <a:buNone/>
            </a:pPr>
            <a:r>
              <a:rPr lang="en-US" sz="1700" b="1" dirty="0">
                <a:solidFill>
                  <a:schemeClr val="tx2"/>
                </a:solidFill>
              </a:rPr>
              <a:t>업데이트</a:t>
            </a:r>
            <a:endParaRPr lang="en-US" sz="1700" dirty="0"/>
          </a:p>
        </p:txBody>
      </p:sp>
      <p:sp>
        <p:nvSpPr>
          <p:cNvPr id="23" name="Text 19"/>
          <p:cNvSpPr txBox="1"/>
          <p:nvPr/>
        </p:nvSpPr>
        <p:spPr>
          <a:xfrm>
            <a:off x="7726680" y="4343400"/>
            <a:ext cx="3749040" cy="1737360"/>
          </a:xfrm>
          <a:prstGeom prst="rect">
            <a:avLst/>
          </a:prstGeom>
          <a:noFill/>
          <a:ln/>
        </p:spPr>
        <p:txBody>
          <a:bodyPr wrap="square" lIns="0" tIns="0" rIns="0" bIns="0" rtlCol="0" anchor="t"/>
          <a:lstStyle/>
          <a:p>
            <a:pPr indent="0" marL="0">
              <a:spcAft>
                <a:spcPts val="200"/>
              </a:spcAft>
              <a:buNone/>
            </a:pPr>
            <a:r>
              <a:rPr lang="en-US" sz="1200" dirty="0">
                <a:solidFill>
                  <a:schemeClr val="tx1"/>
                </a:solidFill>
              </a:rPr>
              <a:t>먼저 목록 새로 받기: /plugin → Marketplaces → learn-notes → Update marketplace</a:t>
            </a:r>
            <a:endParaRPr lang="en-US" sz="1200" dirty="0"/>
          </a:p>
          <a:p>
            <a:pPr indent="0" marL="0">
              <a:spcAft>
                <a:spcPts val="200"/>
              </a:spcAft>
              <a:buNone/>
            </a:pPr>
            <a:r>
              <a:rPr lang="en-US" sz="1200" dirty="0">
                <a:solidFill>
                  <a:schemeClr val="tx1"/>
                </a:solidFill>
              </a:rPr>
              <a:t>그다음 Installed → learn-notes → Update now, /reload-plugins</a:t>
            </a:r>
            <a:endParaRPr lang="en-US" sz="1200" dirty="0"/>
          </a:p>
          <a:p>
            <a:pPr indent="0" marL="0">
              <a:spcAft>
                <a:spcPts val="200"/>
              </a:spcAft>
              <a:buNone/>
            </a:pPr>
            <a:r>
              <a:rPr lang="en-US" sz="1200" dirty="0">
                <a:solidFill>
                  <a:schemeClr val="tx1"/>
                </a:solidFill>
              </a:rPr>
              <a:t>터미널(PowerShell)은 이 두 줄 뒤 /reload-plugins</a:t>
            </a:r>
            <a:endParaRPr lang="en-US" sz="1200" dirty="0"/>
          </a:p>
          <a:p>
            <a:pPr indent="0" marL="0">
              <a:spcAft>
                <a:spcPts val="200"/>
              </a:spcAft>
              <a:buNone/>
            </a:pPr>
            <a:r>
              <a:rPr lang="en-US" sz="1050" dirty="0">
                <a:solidFill>
                  <a:schemeClr val="accent1"/>
                </a:solidFill>
                <a:latin typeface="Courier New" pitchFamily="34" charset="0"/>
                <a:ea typeface="Courier New" pitchFamily="34" charset="-122"/>
                <a:cs typeface="Courier New" pitchFamily="34" charset="-120"/>
              </a:rPr>
              <a:t>claude plugin marketplace update learn-notes</a:t>
            </a:r>
            <a:endParaRPr lang="en-US" sz="1200" dirty="0"/>
          </a:p>
          <a:p>
            <a:pPr indent="0" marL="0">
              <a:spcAft>
                <a:spcPts val="200"/>
              </a:spcAft>
              <a:buNone/>
            </a:pPr>
            <a:r>
              <a:rPr lang="en-US" sz="1050" dirty="0">
                <a:solidFill>
                  <a:schemeClr val="accent1"/>
                </a:solidFill>
                <a:latin typeface="Courier New" pitchFamily="34" charset="0"/>
                <a:ea typeface="Courier New" pitchFamily="34" charset="-122"/>
                <a:cs typeface="Courier New" pitchFamily="34" charset="-120"/>
              </a:rPr>
              <a:t>claude plugin update learn-notes@learn-notes</a:t>
            </a:r>
            <a:endParaRPr lang="en-US" sz="1200" dirty="0"/>
          </a:p>
          <a:p>
            <a:pPr indent="0" marL="0">
              <a:spcAft>
                <a:spcPts val="200"/>
              </a:spcAft>
              <a:buNone/>
            </a:pPr>
            <a:r>
              <a:rPr lang="en-US" sz="1150" dirty="0">
                <a:solidFill>
                  <a:srgbClr val="5A6B70"/>
                </a:solidFill>
              </a:rPr>
              <a:t>/learn 도움말 첫 줄 "learn-notes 1.8.0 명령"으로 확인</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팀에서 이렇게 써 보세요</a:t>
            </a:r>
            <a:endParaRPr lang="en-US" sz="3000" dirty="0"/>
          </a:p>
        </p:txBody>
      </p:sp>
      <p:sp>
        <p:nvSpPr>
          <p:cNvPr id="3" name="outline"/>
          <p:cNvSpPr/>
          <p:nvPr/>
        </p:nvSpPr>
        <p:spPr>
          <a:xfrm>
            <a:off x="548640" y="1417320"/>
            <a:ext cx="5394960" cy="2148840"/>
          </a:xfrm>
          <a:prstGeom prst="roundRect">
            <a:avLst>
              <a:gd name="adj" fmla="val 4255"/>
            </a:avLst>
          </a:prstGeom>
          <a:solidFill>
            <a:schemeClr val="bg1"/>
          </a:solidFill>
          <a:ln w="12700">
            <a:solidFill>
              <a:srgbClr val="D9E3DF"/>
            </a:solidFill>
            <a:prstDash val="solid"/>
          </a:ln>
        </p:spPr>
      </p:sp>
      <p:sp>
        <p:nvSpPr>
          <p:cNvPr id="4" name="badge-LuSun"/>
          <p:cNvSpPr/>
          <p:nvPr/>
        </p:nvSpPr>
        <p:spPr>
          <a:xfrm>
            <a:off x="822960" y="1691640"/>
            <a:ext cx="731520" cy="731520"/>
          </a:xfrm>
          <a:prstGeom prst="ellipse">
            <a:avLst/>
          </a:prstGeom>
          <a:solidFill>
            <a:schemeClr val="accent2"/>
          </a:solidFill>
          <a:ln w="12700">
            <a:solidFill>
              <a:schemeClr val="accent2"/>
            </a:solidFill>
            <a:prstDash val="solid"/>
          </a:ln>
        </p:spPr>
      </p:sp>
      <p:pic>
        <p:nvPicPr>
          <p:cNvPr id="5" name="icon-LuSun" descr="LuSun">    </p:cNvPr>
          <p:cNvPicPr>
            <a:picLocks noChangeAspect="1"/>
          </p:cNvPicPr>
          <p:nvPr/>
        </p:nvPicPr>
        <p:blipFill>
          <a:blip r:embed="rId1"/>
          <a:stretch>
            <a:fillRect/>
          </a:stretch>
        </p:blipFill>
        <p:spPr>
          <a:xfrm>
            <a:off x="998525" y="1867205"/>
            <a:ext cx="380390" cy="380390"/>
          </a:xfrm>
          <a:prstGeom prst="rect">
            <a:avLst/>
          </a:prstGeom>
        </p:spPr>
      </p:pic>
      <p:sp>
        <p:nvSpPr>
          <p:cNvPr id="6" name="Text 3"/>
          <p:cNvSpPr txBox="1"/>
          <p:nvPr/>
        </p:nvSpPr>
        <p:spPr>
          <a:xfrm>
            <a:off x="1737360" y="1691640"/>
            <a:ext cx="4023360" cy="731520"/>
          </a:xfrm>
          <a:prstGeom prst="rect">
            <a:avLst/>
          </a:prstGeom>
          <a:noFill/>
          <a:ln/>
        </p:spPr>
        <p:txBody>
          <a:bodyPr wrap="square" lIns="0" tIns="0" rIns="0" bIns="0" rtlCol="0" anchor="ctr"/>
          <a:lstStyle/>
          <a:p>
            <a:pPr indent="0" marL="0">
              <a:buNone/>
            </a:pPr>
            <a:r>
              <a:rPr lang="en-US" sz="1900" b="1" dirty="0">
                <a:solidFill>
                  <a:schemeClr val="tx2"/>
                </a:solidFill>
              </a:rPr>
              <a:t>아침 · 오늘 복습</a:t>
            </a:r>
            <a:endParaRPr lang="en-US" sz="1900" dirty="0"/>
          </a:p>
        </p:txBody>
      </p:sp>
      <p:sp>
        <p:nvSpPr>
          <p:cNvPr id="7" name="Text 4"/>
          <p:cNvSpPr txBox="1"/>
          <p:nvPr/>
        </p:nvSpPr>
        <p:spPr>
          <a:xfrm>
            <a:off x="822960" y="2560320"/>
            <a:ext cx="4892040" cy="868680"/>
          </a:xfrm>
          <a:prstGeom prst="rect">
            <a:avLst/>
          </a:prstGeom>
          <a:noFill/>
          <a:ln/>
        </p:spPr>
        <p:txBody>
          <a:bodyPr wrap="square" lIns="0" tIns="0" rIns="0" bIns="0" rtlCol="0" anchor="t"/>
          <a:lstStyle/>
          <a:p>
            <a:pPr indent="0" marL="0">
              <a:buNone/>
            </a:pPr>
            <a:r>
              <a:rPr lang="en-US" sz="1400" dirty="0">
                <a:solidFill>
                  <a:schemeClr val="tx1"/>
                </a:solidFill>
              </a:rPr>
              <a:t>상태줄에 "오늘 복습 n개"가 보이면 /learn 복습. 지난번 헷갈린 개념이 다시 도전으로 먼저 나옵니다.</a:t>
            </a:r>
            <a:endParaRPr lang="en-US" sz="1400" dirty="0"/>
          </a:p>
        </p:txBody>
      </p:sp>
      <p:sp>
        <p:nvSpPr>
          <p:cNvPr id="8" name="outline"/>
          <p:cNvSpPr/>
          <p:nvPr/>
        </p:nvSpPr>
        <p:spPr>
          <a:xfrm>
            <a:off x="6245352" y="1417320"/>
            <a:ext cx="5394960" cy="2148840"/>
          </a:xfrm>
          <a:prstGeom prst="roundRect">
            <a:avLst>
              <a:gd name="adj" fmla="val 4255"/>
            </a:avLst>
          </a:prstGeom>
          <a:solidFill>
            <a:schemeClr val="bg1"/>
          </a:solidFill>
          <a:ln w="12700">
            <a:solidFill>
              <a:srgbClr val="D9E3DF"/>
            </a:solidFill>
            <a:prstDash val="solid"/>
          </a:ln>
        </p:spPr>
      </p:sp>
      <p:sp>
        <p:nvSpPr>
          <p:cNvPr id="9" name="badge-LuPencilLine"/>
          <p:cNvSpPr/>
          <p:nvPr/>
        </p:nvSpPr>
        <p:spPr>
          <a:xfrm>
            <a:off x="6519672" y="1691640"/>
            <a:ext cx="731520" cy="731520"/>
          </a:xfrm>
          <a:prstGeom prst="ellipse">
            <a:avLst/>
          </a:prstGeom>
          <a:solidFill>
            <a:schemeClr val="accent3"/>
          </a:solidFill>
          <a:ln w="12700">
            <a:solidFill>
              <a:schemeClr val="accent3"/>
            </a:solidFill>
            <a:prstDash val="solid"/>
          </a:ln>
        </p:spPr>
      </p:sp>
      <p:pic>
        <p:nvPicPr>
          <p:cNvPr id="10" name="icon-LuPencilLine" descr="LuPencilLine">    </p:cNvPr>
          <p:cNvPicPr>
            <a:picLocks noChangeAspect="1"/>
          </p:cNvPicPr>
          <p:nvPr/>
        </p:nvPicPr>
        <p:blipFill>
          <a:blip r:embed="rId2"/>
          <a:stretch>
            <a:fillRect/>
          </a:stretch>
        </p:blipFill>
        <p:spPr>
          <a:xfrm>
            <a:off x="6695237" y="1867205"/>
            <a:ext cx="380390" cy="380390"/>
          </a:xfrm>
          <a:prstGeom prst="rect">
            <a:avLst/>
          </a:prstGeom>
        </p:spPr>
      </p:pic>
      <p:sp>
        <p:nvSpPr>
          <p:cNvPr id="11" name="Text 7"/>
          <p:cNvSpPr txBox="1"/>
          <p:nvPr/>
        </p:nvSpPr>
        <p:spPr>
          <a:xfrm>
            <a:off x="7434072" y="1691640"/>
            <a:ext cx="4023360" cy="731520"/>
          </a:xfrm>
          <a:prstGeom prst="rect">
            <a:avLst/>
          </a:prstGeom>
          <a:noFill/>
          <a:ln/>
        </p:spPr>
        <p:txBody>
          <a:bodyPr wrap="square" lIns="0" tIns="0" rIns="0" bIns="0" rtlCol="0" anchor="ctr"/>
          <a:lstStyle/>
          <a:p>
            <a:pPr indent="0" marL="0">
              <a:buNone/>
            </a:pPr>
            <a:r>
              <a:rPr lang="en-US" sz="1900" b="1" dirty="0">
                <a:solidFill>
                  <a:schemeClr val="tx2"/>
                </a:solidFill>
              </a:rPr>
              <a:t>작업 중 · 직접 해 보고 묻기</a:t>
            </a:r>
            <a:endParaRPr lang="en-US" sz="1900" dirty="0"/>
          </a:p>
        </p:txBody>
      </p:sp>
      <p:sp>
        <p:nvSpPr>
          <p:cNvPr id="12" name="Text 8"/>
          <p:cNvSpPr txBox="1"/>
          <p:nvPr/>
        </p:nvSpPr>
        <p:spPr>
          <a:xfrm>
            <a:off x="6519672" y="2560320"/>
            <a:ext cx="4892040" cy="868680"/>
          </a:xfrm>
          <a:prstGeom prst="rect">
            <a:avLst/>
          </a:prstGeom>
          <a:noFill/>
          <a:ln/>
        </p:spPr>
        <p:txBody>
          <a:bodyPr wrap="square" lIns="0" tIns="0" rIns="0" bIns="0" rtlCol="0" anchor="t"/>
          <a:lstStyle/>
          <a:p>
            <a:pPr indent="0" marL="0">
              <a:buNone/>
            </a:pPr>
            <a:r>
              <a:rPr lang="en-US" sz="1400" dirty="0">
                <a:solidFill>
                  <a:schemeClr val="tx1"/>
                </a:solidFill>
              </a:rPr>
              <a:t>노트의 t로 한 줄을 고쳐 보고, 낯선 개념은 i, 흐름은 r. 막히면 c로 복사해 멘토에게 묻습니다.</a:t>
            </a:r>
            <a:endParaRPr lang="en-US" sz="1400" dirty="0"/>
          </a:p>
        </p:txBody>
      </p:sp>
      <p:sp>
        <p:nvSpPr>
          <p:cNvPr id="13" name="outline"/>
          <p:cNvSpPr/>
          <p:nvPr/>
        </p:nvSpPr>
        <p:spPr>
          <a:xfrm>
            <a:off x="548640" y="3794760"/>
            <a:ext cx="5394960" cy="2148840"/>
          </a:xfrm>
          <a:prstGeom prst="roundRect">
            <a:avLst>
              <a:gd name="adj" fmla="val 4255"/>
            </a:avLst>
          </a:prstGeom>
          <a:solidFill>
            <a:schemeClr val="bg1"/>
          </a:solidFill>
          <a:ln w="12700">
            <a:solidFill>
              <a:srgbClr val="D9E3DF"/>
            </a:solidFill>
            <a:prstDash val="solid"/>
          </a:ln>
        </p:spPr>
      </p:sp>
      <p:sp>
        <p:nvSpPr>
          <p:cNvPr id="14" name="badge-LuMoon"/>
          <p:cNvSpPr/>
          <p:nvPr/>
        </p:nvSpPr>
        <p:spPr>
          <a:xfrm>
            <a:off x="822960" y="4069080"/>
            <a:ext cx="731520" cy="731520"/>
          </a:xfrm>
          <a:prstGeom prst="ellipse">
            <a:avLst/>
          </a:prstGeom>
          <a:solidFill>
            <a:schemeClr val="accent5"/>
          </a:solidFill>
          <a:ln w="12700">
            <a:solidFill>
              <a:schemeClr val="accent5"/>
            </a:solidFill>
            <a:prstDash val="solid"/>
          </a:ln>
        </p:spPr>
      </p:sp>
      <p:pic>
        <p:nvPicPr>
          <p:cNvPr id="15" name="icon-LuMoon" descr="LuMoon">    </p:cNvPr>
          <p:cNvPicPr>
            <a:picLocks noChangeAspect="1"/>
          </p:cNvPicPr>
          <p:nvPr/>
        </p:nvPicPr>
        <p:blipFill>
          <a:blip r:embed="rId3"/>
          <a:stretch>
            <a:fillRect/>
          </a:stretch>
        </p:blipFill>
        <p:spPr>
          <a:xfrm>
            <a:off x="998525" y="4244645"/>
            <a:ext cx="380390" cy="380390"/>
          </a:xfrm>
          <a:prstGeom prst="rect">
            <a:avLst/>
          </a:prstGeom>
        </p:spPr>
      </p:pic>
      <p:sp>
        <p:nvSpPr>
          <p:cNvPr id="16" name="Text 11"/>
          <p:cNvSpPr txBox="1"/>
          <p:nvPr/>
        </p:nvSpPr>
        <p:spPr>
          <a:xfrm>
            <a:off x="1737360" y="4069080"/>
            <a:ext cx="4023360" cy="731520"/>
          </a:xfrm>
          <a:prstGeom prst="rect">
            <a:avLst/>
          </a:prstGeom>
          <a:noFill/>
          <a:ln/>
        </p:spPr>
        <p:txBody>
          <a:bodyPr wrap="square" lIns="0" tIns="0" rIns="0" bIns="0" rtlCol="0" anchor="ctr"/>
          <a:lstStyle/>
          <a:p>
            <a:pPr indent="0" marL="0">
              <a:buNone/>
            </a:pPr>
            <a:r>
              <a:rPr lang="en-US" sz="1900" b="1" dirty="0">
                <a:solidFill>
                  <a:schemeClr val="tx2"/>
                </a:solidFill>
              </a:rPr>
              <a:t>하루 끝 · 오늘 정리</a:t>
            </a:r>
            <a:endParaRPr lang="en-US" sz="1900" dirty="0"/>
          </a:p>
        </p:txBody>
      </p:sp>
      <p:sp>
        <p:nvSpPr>
          <p:cNvPr id="17" name="Text 12"/>
          <p:cNvSpPr txBox="1"/>
          <p:nvPr/>
        </p:nvSpPr>
        <p:spPr>
          <a:xfrm>
            <a:off x="822960" y="4937760"/>
            <a:ext cx="4892040" cy="868680"/>
          </a:xfrm>
          <a:prstGeom prst="rect">
            <a:avLst/>
          </a:prstGeom>
          <a:noFill/>
          <a:ln/>
        </p:spPr>
        <p:txBody>
          <a:bodyPr wrap="square" lIns="0" tIns="0" rIns="0" bIns="0" rtlCol="0" anchor="t"/>
          <a:lstStyle/>
          <a:p>
            <a:pPr indent="0" marL="0">
              <a:buNone/>
            </a:pPr>
            <a:r>
              <a:rPr lang="en-US" sz="1400" dirty="0">
                <a:solidFill>
                  <a:schemeClr val="tx1"/>
                </a:solidFill>
              </a:rPr>
              <a:t>/learn 정리로 정리하고, "핵심 개념" 한 줄을 팀 채널에 공유해 보세요.</a:t>
            </a:r>
            <a:endParaRPr lang="en-US" sz="1400" dirty="0"/>
          </a:p>
        </p:txBody>
      </p:sp>
      <p:sp>
        <p:nvSpPr>
          <p:cNvPr id="18" name="outline"/>
          <p:cNvSpPr/>
          <p:nvPr/>
        </p:nvSpPr>
        <p:spPr>
          <a:xfrm>
            <a:off x="6245352" y="3794760"/>
            <a:ext cx="5394960" cy="2148840"/>
          </a:xfrm>
          <a:prstGeom prst="roundRect">
            <a:avLst>
              <a:gd name="adj" fmla="val 4255"/>
            </a:avLst>
          </a:prstGeom>
          <a:solidFill>
            <a:schemeClr val="bg1"/>
          </a:solidFill>
          <a:ln w="12700">
            <a:solidFill>
              <a:srgbClr val="D9E3DF"/>
            </a:solidFill>
            <a:prstDash val="solid"/>
          </a:ln>
        </p:spPr>
      </p:sp>
      <p:sp>
        <p:nvSpPr>
          <p:cNvPr id="19" name="badge-LuUsers"/>
          <p:cNvSpPr/>
          <p:nvPr/>
        </p:nvSpPr>
        <p:spPr>
          <a:xfrm>
            <a:off x="6519672" y="4069080"/>
            <a:ext cx="731520" cy="731520"/>
          </a:xfrm>
          <a:prstGeom prst="ellipse">
            <a:avLst/>
          </a:prstGeom>
          <a:solidFill>
            <a:schemeClr val="accent1"/>
          </a:solidFill>
          <a:ln w="12700">
            <a:solidFill>
              <a:schemeClr val="accent1"/>
            </a:solidFill>
            <a:prstDash val="solid"/>
          </a:ln>
        </p:spPr>
      </p:sp>
      <p:pic>
        <p:nvPicPr>
          <p:cNvPr id="20" name="icon-LuUsers" descr="LuUsers">    </p:cNvPr>
          <p:cNvPicPr>
            <a:picLocks noChangeAspect="1"/>
          </p:cNvPicPr>
          <p:nvPr/>
        </p:nvPicPr>
        <p:blipFill>
          <a:blip r:embed="rId4"/>
          <a:stretch>
            <a:fillRect/>
          </a:stretch>
        </p:blipFill>
        <p:spPr>
          <a:xfrm>
            <a:off x="6695237" y="4244645"/>
            <a:ext cx="380390" cy="380390"/>
          </a:xfrm>
          <a:prstGeom prst="rect">
            <a:avLst/>
          </a:prstGeom>
        </p:spPr>
      </p:pic>
      <p:sp>
        <p:nvSpPr>
          <p:cNvPr id="21" name="Text 15"/>
          <p:cNvSpPr txBox="1"/>
          <p:nvPr/>
        </p:nvSpPr>
        <p:spPr>
          <a:xfrm>
            <a:off x="7434072" y="4069080"/>
            <a:ext cx="4023360" cy="731520"/>
          </a:xfrm>
          <a:prstGeom prst="rect">
            <a:avLst/>
          </a:prstGeom>
          <a:noFill/>
          <a:ln/>
        </p:spPr>
        <p:txBody>
          <a:bodyPr wrap="square" lIns="0" tIns="0" rIns="0" bIns="0" rtlCol="0" anchor="ctr"/>
          <a:lstStyle/>
          <a:p>
            <a:pPr indent="0" marL="0">
              <a:buNone/>
            </a:pPr>
            <a:r>
              <a:rPr lang="en-US" sz="1900" b="1" dirty="0">
                <a:solidFill>
                  <a:schemeClr val="tx2"/>
                </a:solidFill>
              </a:rPr>
              <a:t>주 1회 · 함께 회고</a:t>
            </a:r>
            <a:endParaRPr lang="en-US" sz="1900" dirty="0"/>
          </a:p>
        </p:txBody>
      </p:sp>
      <p:sp>
        <p:nvSpPr>
          <p:cNvPr id="22" name="Text 16"/>
          <p:cNvSpPr txBox="1"/>
          <p:nvPr/>
        </p:nvSpPr>
        <p:spPr>
          <a:xfrm>
            <a:off x="6519672" y="4937760"/>
            <a:ext cx="4892040" cy="868680"/>
          </a:xfrm>
          <a:prstGeom prst="rect">
            <a:avLst/>
          </a:prstGeom>
          <a:noFill/>
          <a:ln/>
        </p:spPr>
        <p:txBody>
          <a:bodyPr wrap="square" lIns="0" tIns="0" rIns="0" bIns="0" rtlCol="0" anchor="t"/>
          <a:lstStyle/>
          <a:p>
            <a:pPr indent="0" marL="0">
              <a:buNone/>
            </a:pPr>
            <a:r>
              <a:rPr lang="en-US" sz="1400" dirty="0">
                <a:solidFill>
                  <a:schemeClr val="tx1"/>
                </a:solidFill>
              </a:rPr>
              <a:t>각자 /learn 보고서를 리더에게만 보내고, 리더는 /learn 보고서 모으기로 만든 팀 학습 지도를 채널에 올립니다.</a:t>
            </a:r>
            <a:endParaRPr lang="en-US" sz="14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팀으로 쓰기</a:t>
            </a:r>
            <a:endParaRPr lang="en-US" sz="3000" dirty="0"/>
          </a:p>
        </p:txBody>
      </p:sp>
      <p:sp>
        <p:nvSpPr>
          <p:cNvPr id="3" name="Text 1"/>
          <p:cNvSpPr txBox="1"/>
          <p:nvPr/>
        </p:nvSpPr>
        <p:spPr>
          <a:xfrm>
            <a:off x="548640" y="1371600"/>
            <a:ext cx="5577840" cy="411480"/>
          </a:xfrm>
          <a:prstGeom prst="rect">
            <a:avLst/>
          </a:prstGeom>
          <a:noFill/>
          <a:ln/>
        </p:spPr>
        <p:txBody>
          <a:bodyPr wrap="square" lIns="0" tIns="0" rIns="0" bIns="0" rtlCol="0" anchor="ctr"/>
          <a:lstStyle/>
          <a:p>
            <a:pPr indent="0" marL="0">
              <a:buNone/>
            </a:pPr>
            <a:r>
              <a:rPr lang="en-US" sz="1800" b="1" dirty="0">
                <a:solidFill>
                  <a:schemeClr val="tx2"/>
                </a:solidFill>
              </a:rPr>
              <a:t>팀 규칙 파일</a:t>
            </a:r>
            <a:r>
              <a:rPr lang="en-US" sz="1400" b="1" dirty="0">
                <a:solidFill>
                  <a:schemeClr val="accent1"/>
                </a:solidFill>
                <a:latin typeface="Courier New" pitchFamily="34" charset="0"/>
                <a:ea typeface="Courier New" pitchFamily="34" charset="-122"/>
                <a:cs typeface="Courier New" pitchFamily="34" charset="-120"/>
              </a:rPr>
              <a:t>   .claude/learn-notes.md</a:t>
            </a:r>
            <a:endParaRPr lang="en-US" sz="1400" dirty="0"/>
          </a:p>
        </p:txBody>
      </p:sp>
      <p:sp>
        <p:nvSpPr>
          <p:cNvPr id="4" name="code"/>
          <p:cNvSpPr/>
          <p:nvPr/>
        </p:nvSpPr>
        <p:spPr>
          <a:xfrm>
            <a:off x="548640" y="1920240"/>
            <a:ext cx="5577840" cy="2057400"/>
          </a:xfrm>
          <a:prstGeom prst="roundRect">
            <a:avLst>
              <a:gd name="adj" fmla="val 3556"/>
            </a:avLst>
          </a:prstGeom>
          <a:solidFill>
            <a:srgbClr val="0D1110"/>
          </a:solidFill>
          <a:ln w="12700">
            <a:solidFill>
              <a:srgbClr val="0D1110"/>
            </a:solidFill>
            <a:prstDash val="solid"/>
          </a:ln>
        </p:spPr>
      </p:sp>
      <p:sp>
        <p:nvSpPr>
          <p:cNvPr id="5" name="Text 3"/>
          <p:cNvSpPr txBox="1"/>
          <p:nvPr/>
        </p:nvSpPr>
        <p:spPr>
          <a:xfrm>
            <a:off x="822960" y="1920240"/>
            <a:ext cx="5120640" cy="2057400"/>
          </a:xfrm>
          <a:prstGeom prst="rect">
            <a:avLst/>
          </a:prstGeom>
          <a:noFill/>
          <a:ln/>
        </p:spPr>
        <p:txBody>
          <a:bodyPr wrap="square" lIns="0" tIns="0" rIns="0" bIns="0" rtlCol="0" anchor="ctr"/>
          <a:lstStyle/>
          <a:p>
            <a:pPr indent="0" marL="0">
              <a:buNone/>
            </a:pPr>
            <a:r>
              <a:rPr lang="en-US" sz="1300" dirty="0">
                <a:solidFill>
                  <a:srgbClr val="D6DDD6"/>
                </a:solidFill>
              </a:rPr>
              <a:t>## 규칙</a:t>
            </a:r>
            <a:endParaRPr lang="en-US" sz="1300" dirty="0"/>
          </a:p>
          <a:p>
            <a:pPr indent="0" marL="0">
              <a:buNone/>
            </a:pPr>
            <a:r>
              <a:rPr lang="en-US" sz="1300" dirty="0">
                <a:solidFill>
                  <a:srgbClr val="D6DDD6"/>
                </a:solidFill>
              </a:rPr>
              <a:t>- 다시 담을 값은 let, 아니면 const를 씁니다</a:t>
            </a:r>
            <a:endParaRPr lang="en-US" sz="1300" dirty="0"/>
          </a:p>
          <a:p>
            <a:pPr indent="0" marL="0">
              <a:buNone/>
            </a:pPr>
            <a:r>
              <a:rPr lang="en-US" sz="1300" dirty="0">
                <a:solidFill>
                  <a:srgbClr val="D6DDD6"/>
                </a:solidFill>
              </a:rPr>
              <a:t>## 용어</a:t>
            </a:r>
            <a:endParaRPr lang="en-US" sz="1300" dirty="0"/>
          </a:p>
          <a:p>
            <a:pPr indent="0" marL="0">
              <a:buNone/>
            </a:pPr>
            <a:r>
              <a:rPr lang="en-US" sz="1300" dirty="0">
                <a:solidFill>
                  <a:srgbClr val="D6DDD6"/>
                </a:solidFill>
              </a:rPr>
              <a:t>- **불변 업데이트**: 새 값을 만들어 갈아 끼웁니다 `src/store/cartStore.js:4-10`</a:t>
            </a:r>
            <a:endParaRPr lang="en-US" sz="1300" dirty="0"/>
          </a:p>
          <a:p>
            <a:pPr indent="0" marL="0">
              <a:buNone/>
            </a:pPr>
            <a:r>
              <a:rPr lang="en-US" sz="1300" dirty="0">
                <a:solidFill>
                  <a:srgbClr val="D6DDD6"/>
                </a:solidFill>
              </a:rPr>
              <a:t>## 빼기</a:t>
            </a:r>
            <a:endParaRPr lang="en-US" sz="1300" dirty="0"/>
          </a:p>
          <a:p>
            <a:pPr indent="0" marL="0">
              <a:buNone/>
            </a:pPr>
            <a:r>
              <a:rPr lang="en-US" sz="1300" dirty="0">
                <a:solidFill>
                  <a:srgbClr val="D6DDD6"/>
                </a:solidFill>
              </a:rPr>
              <a:t>- legacy/**</a:t>
            </a:r>
            <a:endParaRPr lang="en-US" sz="1300" dirty="0"/>
          </a:p>
        </p:txBody>
      </p:sp>
      <p:sp>
        <p:nvSpPr>
          <p:cNvPr id="6" name="Text 4"/>
          <p:cNvSpPr txBox="1"/>
          <p:nvPr/>
        </p:nvSpPr>
        <p:spPr>
          <a:xfrm>
            <a:off x="548640" y="4114800"/>
            <a:ext cx="5577840" cy="1417320"/>
          </a:xfrm>
          <a:prstGeom prst="rect">
            <a:avLst/>
          </a:prstGeom>
          <a:noFill/>
          <a:ln/>
        </p:spPr>
        <p:txBody>
          <a:bodyPr wrap="square" lIns="0" tIns="0" rIns="0" bIns="0" rtlCol="0" anchor="t"/>
          <a:lstStyle/>
          <a:p>
            <a:pPr marL="342900" indent="-342900">
              <a:spcAft>
                <a:spcPts val="600"/>
              </a:spcAft>
              <a:buSzPct val="100000"/>
              <a:buChar char="•"/>
            </a:pPr>
            <a:r>
              <a:rPr lang="en-US" sz="1350" dirty="0">
                <a:solidFill>
                  <a:schemeClr val="tx1"/>
                </a:solidFill>
              </a:rPr>
              <a:t>저장소에 커밋하면 팀원 모두의 노트가 따릅니다</a:t>
            </a:r>
            <a:endParaRPr lang="en-US" sz="1350" dirty="0"/>
          </a:p>
          <a:p>
            <a:pPr marL="342900" indent="-342900">
              <a:spcAft>
                <a:spcPts val="600"/>
              </a:spcAft>
              <a:buSzPct val="100000"/>
              <a:buChar char="•"/>
            </a:pPr>
            <a:r>
              <a:rPr lang="en-US" sz="1350" dirty="0">
                <a:solidFill>
                  <a:schemeClr val="tx1"/>
                </a:solidFill>
              </a:rPr>
              <a:t>바뀐 코드와 닿는 규칙만 노트의 "왜"에 "팀 규칙: …" 한 줄</a:t>
            </a:r>
            <a:endParaRPr lang="en-US" sz="1350" dirty="0"/>
          </a:p>
          <a:p>
            <a:pPr marL="342900" indent="-342900">
              <a:spcAft>
                <a:spcPts val="600"/>
              </a:spcAft>
              <a:buSzPct val="100000"/>
              <a:buChar char="•"/>
            </a:pPr>
            <a:r>
              <a:rPr lang="en-US" sz="1350" dirty="0">
                <a:solidFill>
                  <a:schemeClr val="tx1"/>
                </a:solidFill>
              </a:rPr>
              <a:t>용어는 그 이름 그대로 쌓이고, 팀 용어 연습이 됩니다 (다음 장)</a:t>
            </a:r>
            <a:endParaRPr lang="en-US" sz="1350" dirty="0"/>
          </a:p>
          <a:p>
            <a:pPr marL="342900" indent="-342900">
              <a:spcAft>
                <a:spcPts val="600"/>
              </a:spcAft>
              <a:buSzPct val="100000"/>
              <a:buChar char="•"/>
            </a:pPr>
            <a:r>
              <a:rPr lang="en-US" sz="1350" dirty="0">
                <a:solidFill>
                  <a:schemeClr val="tx1"/>
                </a:solidFill>
              </a:rPr>
              <a:t>## 빼기는 노트에 내용을 싣지 않을 경로입니다</a:t>
            </a:r>
            <a:endParaRPr lang="en-US" sz="1350" dirty="0"/>
          </a:p>
        </p:txBody>
      </p:sp>
      <p:sp>
        <p:nvSpPr>
          <p:cNvPr id="7" name="Text 5"/>
          <p:cNvSpPr txBox="1"/>
          <p:nvPr/>
        </p:nvSpPr>
        <p:spPr>
          <a:xfrm>
            <a:off x="548640" y="5623560"/>
            <a:ext cx="5577840" cy="457200"/>
          </a:xfrm>
          <a:prstGeom prst="rect">
            <a:avLst/>
          </a:prstGeom>
          <a:noFill/>
          <a:ln/>
        </p:spPr>
        <p:txBody>
          <a:bodyPr wrap="square" lIns="0" tIns="0" rIns="0" bIns="0" rtlCol="0" anchor="t"/>
          <a:lstStyle/>
          <a:p>
            <a:pPr indent="0" marL="0">
              <a:buNone/>
            </a:pPr>
            <a:r>
              <a:rPr lang="en-US" sz="1200" dirty="0">
                <a:solidFill>
                  <a:srgbClr val="5A6B70"/>
                </a:solidFill>
              </a:rPr>
              <a:t>규칙과 용어는 합쳐 앞 3,000자까지 노트 모델에 보냅니다. 규칙 판정은 참고 의견이고, 코드 리뷰를 대신하지 않습니다.</a:t>
            </a:r>
            <a:endParaRPr lang="en-US" sz="1200" dirty="0"/>
          </a:p>
        </p:txBody>
      </p:sp>
      <p:sp>
        <p:nvSpPr>
          <p:cNvPr id="8" name="outline"/>
          <p:cNvSpPr/>
          <p:nvPr/>
        </p:nvSpPr>
        <p:spPr>
          <a:xfrm>
            <a:off x="6446520" y="1371600"/>
            <a:ext cx="5193792" cy="1417320"/>
          </a:xfrm>
          <a:prstGeom prst="roundRect">
            <a:avLst>
              <a:gd name="adj" fmla="val 6452"/>
            </a:avLst>
          </a:prstGeom>
          <a:solidFill>
            <a:schemeClr val="bg1"/>
          </a:solidFill>
          <a:ln w="12700">
            <a:solidFill>
              <a:srgbClr val="D9E3DF"/>
            </a:solidFill>
            <a:prstDash val="solid"/>
          </a:ln>
        </p:spPr>
      </p:sp>
      <p:sp>
        <p:nvSpPr>
          <p:cNvPr id="9" name="badge-LuLock"/>
          <p:cNvSpPr/>
          <p:nvPr/>
        </p:nvSpPr>
        <p:spPr>
          <a:xfrm>
            <a:off x="6675120" y="1600200"/>
            <a:ext cx="640080" cy="640080"/>
          </a:xfrm>
          <a:prstGeom prst="ellipse">
            <a:avLst/>
          </a:prstGeom>
          <a:solidFill>
            <a:schemeClr val="accent5"/>
          </a:solidFill>
          <a:ln w="12700">
            <a:solidFill>
              <a:schemeClr val="accent5"/>
            </a:solidFill>
            <a:prstDash val="solid"/>
          </a:ln>
        </p:spPr>
      </p:sp>
      <p:pic>
        <p:nvPicPr>
          <p:cNvPr id="10" name="icon-LuLock" descr="LuLock">    </p:cNvPr>
          <p:cNvPicPr>
            <a:picLocks noChangeAspect="1"/>
          </p:cNvPicPr>
          <p:nvPr/>
        </p:nvPicPr>
        <p:blipFill>
          <a:blip r:embed="rId1"/>
          <a:stretch>
            <a:fillRect/>
          </a:stretch>
        </p:blipFill>
        <p:spPr>
          <a:xfrm>
            <a:off x="6828739" y="1753819"/>
            <a:ext cx="332842" cy="332842"/>
          </a:xfrm>
          <a:prstGeom prst="rect">
            <a:avLst/>
          </a:prstGeom>
        </p:spPr>
      </p:pic>
      <p:sp>
        <p:nvSpPr>
          <p:cNvPr id="11" name="Text 8"/>
          <p:cNvSpPr txBox="1"/>
          <p:nvPr/>
        </p:nvSpPr>
        <p:spPr>
          <a:xfrm>
            <a:off x="7498080" y="1536192"/>
            <a:ext cx="3977640" cy="384048"/>
          </a:xfrm>
          <a:prstGeom prst="rect">
            <a:avLst/>
          </a:prstGeom>
          <a:noFill/>
          <a:ln/>
        </p:spPr>
        <p:txBody>
          <a:bodyPr wrap="square" lIns="0" tIns="0" rIns="0" bIns="0" rtlCol="0" anchor="t"/>
          <a:lstStyle/>
          <a:p>
            <a:pPr indent="0" marL="0">
              <a:buNone/>
            </a:pPr>
            <a:r>
              <a:rPr lang="en-US" sz="1700" b="1" dirty="0">
                <a:solidFill>
                  <a:schemeClr val="tx2"/>
                </a:solidFill>
              </a:rPr>
              <a:t>저장소·조직에 한 번에 켜기</a:t>
            </a:r>
            <a:endParaRPr lang="en-US" sz="1700" dirty="0"/>
          </a:p>
        </p:txBody>
      </p:sp>
      <p:sp>
        <p:nvSpPr>
          <p:cNvPr id="12" name="Text 9"/>
          <p:cNvSpPr txBox="1"/>
          <p:nvPr/>
        </p:nvSpPr>
        <p:spPr>
          <a:xfrm>
            <a:off x="7498080" y="1938528"/>
            <a:ext cx="3977640" cy="777240"/>
          </a:xfrm>
          <a:prstGeom prst="rect">
            <a:avLst/>
          </a:prstGeom>
          <a:noFill/>
          <a:ln/>
        </p:spPr>
        <p:txBody>
          <a:bodyPr wrap="square" lIns="0" tIns="0" rIns="0" bIns="0" rtlCol="0" anchor="t"/>
          <a:lstStyle/>
          <a:p>
            <a:pPr indent="0" marL="0">
              <a:buNone/>
            </a:pPr>
            <a:r>
              <a:rPr lang="en-US" sz="1300" dirty="0">
                <a:solidFill>
                  <a:schemeClr val="tx1"/>
                </a:solidFill>
              </a:rPr>
              <a:t>저장소 .claude/settings.json의 enabledPlugins로 팀원에게 자동으로 켜고, 관리 설정의 pluginConfigs로 값을 잠급니다.</a:t>
            </a:r>
            <a:endParaRPr lang="en-US" sz="1300" dirty="0"/>
          </a:p>
        </p:txBody>
      </p:sp>
      <p:sp>
        <p:nvSpPr>
          <p:cNvPr id="13" name="outline"/>
          <p:cNvSpPr/>
          <p:nvPr/>
        </p:nvSpPr>
        <p:spPr>
          <a:xfrm>
            <a:off x="6446520" y="2971800"/>
            <a:ext cx="5193792" cy="1417320"/>
          </a:xfrm>
          <a:prstGeom prst="roundRect">
            <a:avLst>
              <a:gd name="adj" fmla="val 6452"/>
            </a:avLst>
          </a:prstGeom>
          <a:solidFill>
            <a:schemeClr val="bg1"/>
          </a:solidFill>
          <a:ln w="12700">
            <a:solidFill>
              <a:srgbClr val="D9E3DF"/>
            </a:solidFill>
            <a:prstDash val="solid"/>
          </a:ln>
        </p:spPr>
      </p:sp>
      <p:sp>
        <p:nvSpPr>
          <p:cNvPr id="14" name="badge-LuShieldCheck"/>
          <p:cNvSpPr/>
          <p:nvPr/>
        </p:nvSpPr>
        <p:spPr>
          <a:xfrm>
            <a:off x="6675120" y="3200400"/>
            <a:ext cx="640080" cy="640080"/>
          </a:xfrm>
          <a:prstGeom prst="ellipse">
            <a:avLst/>
          </a:prstGeom>
          <a:solidFill>
            <a:schemeClr val="accent1"/>
          </a:solidFill>
          <a:ln w="12700">
            <a:solidFill>
              <a:schemeClr val="accent1"/>
            </a:solidFill>
            <a:prstDash val="solid"/>
          </a:ln>
        </p:spPr>
      </p:sp>
      <p:pic>
        <p:nvPicPr>
          <p:cNvPr id="15" name="icon-LuShieldCheck" descr="LuShieldCheck">    </p:cNvPr>
          <p:cNvPicPr>
            <a:picLocks noChangeAspect="1"/>
          </p:cNvPicPr>
          <p:nvPr/>
        </p:nvPicPr>
        <p:blipFill>
          <a:blip r:embed="rId2"/>
          <a:stretch>
            <a:fillRect/>
          </a:stretch>
        </p:blipFill>
        <p:spPr>
          <a:xfrm>
            <a:off x="6828739" y="3354019"/>
            <a:ext cx="332842" cy="332842"/>
          </a:xfrm>
          <a:prstGeom prst="rect">
            <a:avLst/>
          </a:prstGeom>
        </p:spPr>
      </p:pic>
      <p:sp>
        <p:nvSpPr>
          <p:cNvPr id="16" name="Text 12"/>
          <p:cNvSpPr txBox="1"/>
          <p:nvPr/>
        </p:nvSpPr>
        <p:spPr>
          <a:xfrm>
            <a:off x="7498080" y="3136392"/>
            <a:ext cx="3977640" cy="384048"/>
          </a:xfrm>
          <a:prstGeom prst="rect">
            <a:avLst/>
          </a:prstGeom>
          <a:noFill/>
          <a:ln/>
        </p:spPr>
        <p:txBody>
          <a:bodyPr wrap="square" lIns="0" tIns="0" rIns="0" bIns="0" rtlCol="0" anchor="t"/>
          <a:lstStyle/>
          <a:p>
            <a:pPr indent="0" marL="0">
              <a:buNone/>
            </a:pPr>
            <a:r>
              <a:rPr lang="en-US" sz="1700" b="1" dirty="0">
                <a:solidFill>
                  <a:schemeClr val="tx2"/>
                </a:solidFill>
              </a:rPr>
              <a:t>비밀값은 싣지 않습니다</a:t>
            </a:r>
            <a:endParaRPr lang="en-US" sz="1700" dirty="0"/>
          </a:p>
        </p:txBody>
      </p:sp>
      <p:sp>
        <p:nvSpPr>
          <p:cNvPr id="17" name="Text 13"/>
          <p:cNvSpPr txBox="1"/>
          <p:nvPr/>
        </p:nvSpPr>
        <p:spPr>
          <a:xfrm>
            <a:off x="7498080" y="3538728"/>
            <a:ext cx="3977640" cy="777240"/>
          </a:xfrm>
          <a:prstGeom prst="rect">
            <a:avLst/>
          </a:prstGeom>
          <a:noFill/>
          <a:ln/>
        </p:spPr>
        <p:txBody>
          <a:bodyPr wrap="square" lIns="0" tIns="0" rIns="0" bIns="0" rtlCol="0" anchor="t"/>
          <a:lstStyle/>
          <a:p>
            <a:pPr indent="0" marL="0">
              <a:buNone/>
            </a:pPr>
            <a:r>
              <a:rPr lang="en-US" sz="1300" dirty="0">
                <a:solidFill>
                  <a:schemeClr val="tx1"/>
                </a:solidFill>
              </a:rPr>
              <a:t>.env · 키 · 잠금 파일은 내용 없이 이름만. 코드 속 흔한 키 형식은 «가림»으로 바꿔 보냅니다.</a:t>
            </a:r>
            <a:endParaRPr lang="en-US" sz="1300" dirty="0"/>
          </a:p>
        </p:txBody>
      </p:sp>
      <p:sp>
        <p:nvSpPr>
          <p:cNvPr id="18" name="outline"/>
          <p:cNvSpPr/>
          <p:nvPr/>
        </p:nvSpPr>
        <p:spPr>
          <a:xfrm>
            <a:off x="6446520" y="4572000"/>
            <a:ext cx="5193792" cy="1417320"/>
          </a:xfrm>
          <a:prstGeom prst="roundRect">
            <a:avLst>
              <a:gd name="adj" fmla="val 6452"/>
            </a:avLst>
          </a:prstGeom>
          <a:solidFill>
            <a:schemeClr val="bg1"/>
          </a:solidFill>
          <a:ln w="12700">
            <a:solidFill>
              <a:srgbClr val="D9E3DF"/>
            </a:solidFill>
            <a:prstDash val="solid"/>
          </a:ln>
        </p:spPr>
      </p:sp>
      <p:sp>
        <p:nvSpPr>
          <p:cNvPr id="19" name="badge-LuClipboardCopy"/>
          <p:cNvSpPr/>
          <p:nvPr/>
        </p:nvSpPr>
        <p:spPr>
          <a:xfrm>
            <a:off x="6675120" y="4800600"/>
            <a:ext cx="640080" cy="640080"/>
          </a:xfrm>
          <a:prstGeom prst="ellipse">
            <a:avLst/>
          </a:prstGeom>
          <a:solidFill>
            <a:schemeClr val="accent2"/>
          </a:solidFill>
          <a:ln w="12700">
            <a:solidFill>
              <a:schemeClr val="accent2"/>
            </a:solidFill>
            <a:prstDash val="solid"/>
          </a:ln>
        </p:spPr>
      </p:sp>
      <p:pic>
        <p:nvPicPr>
          <p:cNvPr id="20" name="icon-LuClipboardCopy" descr="LuClipboardCopy">    </p:cNvPr>
          <p:cNvPicPr>
            <a:picLocks noChangeAspect="1"/>
          </p:cNvPicPr>
          <p:nvPr/>
        </p:nvPicPr>
        <p:blipFill>
          <a:blip r:embed="rId3"/>
          <a:stretch>
            <a:fillRect/>
          </a:stretch>
        </p:blipFill>
        <p:spPr>
          <a:xfrm>
            <a:off x="6828739" y="4954219"/>
            <a:ext cx="332842" cy="332842"/>
          </a:xfrm>
          <a:prstGeom prst="rect">
            <a:avLst/>
          </a:prstGeom>
        </p:spPr>
      </p:pic>
      <p:sp>
        <p:nvSpPr>
          <p:cNvPr id="21" name="Text 16"/>
          <p:cNvSpPr txBox="1"/>
          <p:nvPr/>
        </p:nvSpPr>
        <p:spPr>
          <a:xfrm>
            <a:off x="7498080" y="4736592"/>
            <a:ext cx="3977640" cy="384048"/>
          </a:xfrm>
          <a:prstGeom prst="rect">
            <a:avLst/>
          </a:prstGeom>
          <a:noFill/>
          <a:ln/>
        </p:spPr>
        <p:txBody>
          <a:bodyPr wrap="square" lIns="0" tIns="0" rIns="0" bIns="0" rtlCol="0" anchor="t"/>
          <a:lstStyle/>
          <a:p>
            <a:pPr indent="0" marL="0">
              <a:buNone/>
            </a:pPr>
            <a:r>
              <a:rPr lang="en-US" sz="1700" b="1" dirty="0">
                <a:solidFill>
                  <a:schemeClr val="tx2"/>
                </a:solidFill>
              </a:rPr>
              <a:t>멘토에게는 c와 /learn 보고서</a:t>
            </a:r>
            <a:endParaRPr lang="en-US" sz="1700" dirty="0"/>
          </a:p>
        </p:txBody>
      </p:sp>
      <p:sp>
        <p:nvSpPr>
          <p:cNvPr id="22" name="Text 17"/>
          <p:cNvSpPr txBox="1"/>
          <p:nvPr/>
        </p:nvSpPr>
        <p:spPr>
          <a:xfrm>
            <a:off x="7498080" y="5138928"/>
            <a:ext cx="3977640" cy="777240"/>
          </a:xfrm>
          <a:prstGeom prst="rect">
            <a:avLst/>
          </a:prstGeom>
          <a:noFill/>
          <a:ln/>
        </p:spPr>
        <p:txBody>
          <a:bodyPr wrap="square" lIns="0" tIns="0" rIns="0" bIns="0" rtlCol="0" anchor="t"/>
          <a:lstStyle/>
          <a:p>
            <a:pPr indent="0" marL="0">
              <a:buNone/>
            </a:pPr>
            <a:r>
              <a:rPr lang="en-US" sz="1300" dirty="0">
                <a:solidFill>
                  <a:schemeClr val="tx1"/>
                </a:solidFill>
              </a:rPr>
              <a:t>c는 요청을 빼고 경로를 줄인 노트 한 편을, /learn 보고서는 코드 없는 학습 요약을 클립보드로 복사합니다.</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팀 용어로 온보딩 연습</a:t>
            </a:r>
            <a:endParaRPr lang="en-US" sz="3000" dirty="0"/>
          </a:p>
        </p:txBody>
      </p:sp>
      <p:sp>
        <p:nvSpPr>
          <p:cNvPr id="3" name="Text 1"/>
          <p:cNvSpPr txBox="1"/>
          <p:nvPr/>
        </p:nvSpPr>
        <p:spPr>
          <a:xfrm>
            <a:off x="548640" y="1325880"/>
            <a:ext cx="5760720" cy="566928"/>
          </a:xfrm>
          <a:prstGeom prst="rect">
            <a:avLst/>
          </a:prstGeom>
          <a:noFill/>
          <a:ln/>
        </p:spPr>
        <p:txBody>
          <a:bodyPr wrap="square" lIns="0" tIns="0" rIns="0" bIns="0" rtlCol="0" anchor="t"/>
          <a:lstStyle/>
          <a:p>
            <a:pPr indent="0" marL="0">
              <a:buNone/>
            </a:pPr>
            <a:r>
              <a:rPr lang="en-US" sz="1450" dirty="0">
                <a:solidFill>
                  <a:schemeClr val="tx1"/>
                </a:solidFill>
              </a:rPr>
              <a:t>리더가 팀 파일의 ## 용어에 적은 것이 그대로 연습 문제가 됩니다. 적은 순서가 연습 순서입니다.</a:t>
            </a:r>
            <a:endParaRPr lang="en-US" sz="1450" dirty="0"/>
          </a:p>
        </p:txBody>
      </p:sp>
      <p:sp>
        <p:nvSpPr>
          <p:cNvPr id="4" name="code"/>
          <p:cNvSpPr/>
          <p:nvPr/>
        </p:nvSpPr>
        <p:spPr>
          <a:xfrm>
            <a:off x="548640" y="1965960"/>
            <a:ext cx="5760720" cy="1188720"/>
          </a:xfrm>
          <a:prstGeom prst="roundRect">
            <a:avLst>
              <a:gd name="adj" fmla="val 6154"/>
            </a:avLst>
          </a:prstGeom>
          <a:solidFill>
            <a:srgbClr val="0D1110"/>
          </a:solidFill>
          <a:ln w="12700">
            <a:solidFill>
              <a:srgbClr val="0D1110"/>
            </a:solidFill>
            <a:prstDash val="solid"/>
          </a:ln>
        </p:spPr>
      </p:sp>
      <p:sp>
        <p:nvSpPr>
          <p:cNvPr id="5" name="Text 3"/>
          <p:cNvSpPr txBox="1"/>
          <p:nvPr/>
        </p:nvSpPr>
        <p:spPr>
          <a:xfrm>
            <a:off x="822960" y="1965960"/>
            <a:ext cx="5303520" cy="1188720"/>
          </a:xfrm>
          <a:prstGeom prst="rect">
            <a:avLst/>
          </a:prstGeom>
          <a:noFill/>
          <a:ln/>
        </p:spPr>
        <p:txBody>
          <a:bodyPr wrap="square" lIns="0" tIns="0" rIns="0" bIns="0" rtlCol="0" anchor="ctr"/>
          <a:lstStyle/>
          <a:p>
            <a:pPr indent="0" marL="0">
              <a:buNone/>
            </a:pPr>
            <a:r>
              <a:rPr lang="en-US" sz="1200" dirty="0">
                <a:solidFill>
                  <a:srgbClr val="D6DDD6"/>
                </a:solidFill>
              </a:rPr>
              <a:t>## 용어</a:t>
            </a:r>
            <a:endParaRPr lang="en-US" sz="1200" dirty="0"/>
          </a:p>
          <a:p>
            <a:pPr indent="0" marL="0">
              <a:buNone/>
            </a:pPr>
            <a:r>
              <a:rPr lang="en-US" sz="1200" dirty="0">
                <a:solidFill>
                  <a:srgbClr val="D6DDD6"/>
                </a:solidFill>
              </a:rPr>
              <a:t>- **가드 절**: 맨 앞에서 바로 return `src/api/fetchOrders.js:2-9`</a:t>
            </a:r>
            <a:endParaRPr lang="en-US" sz="1200" dirty="0"/>
          </a:p>
          <a:p>
            <a:pPr indent="0" marL="0">
              <a:buNone/>
            </a:pPr>
            <a:r>
              <a:rPr lang="en-US" sz="1200" dirty="0">
                <a:solidFill>
                  <a:srgbClr val="D6DDD6"/>
                </a:solidFill>
              </a:rPr>
              <a:t>- **불변 업데이트**: 새 값으로 갈아 끼우기 `src/store/cartStore.js:4-10`</a:t>
            </a:r>
            <a:endParaRPr lang="en-US" sz="1200" dirty="0"/>
          </a:p>
          <a:p>
            <a:pPr indent="0" marL="0">
              <a:buNone/>
            </a:pPr>
            <a:r>
              <a:rPr lang="en-US" sz="1200" dirty="0">
                <a:solidFill>
                  <a:srgbClr val="D6DDD6"/>
                </a:solidFill>
              </a:rPr>
              <a:t>- **주문 취소 규칙**: 배송 뒤엔 취소 불가 · 팀 노트 `docs/orders.md`</a:t>
            </a:r>
            <a:endParaRPr lang="en-US" sz="1200" dirty="0"/>
          </a:p>
        </p:txBody>
      </p:sp>
      <p:sp>
        <p:nvSpPr>
          <p:cNvPr id="6" name="Text 4"/>
          <p:cNvSpPr txBox="1"/>
          <p:nvPr/>
        </p:nvSpPr>
        <p:spPr>
          <a:xfrm>
            <a:off x="548640" y="3310128"/>
            <a:ext cx="5760720" cy="914400"/>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백틱 안 저장소 경로와 줄 범위(:2-9)의 코드로 묻습니다</a:t>
            </a:r>
            <a:endParaRPr lang="en-US" sz="1300" dirty="0"/>
          </a:p>
          <a:p>
            <a:pPr marL="342900" indent="-342900">
              <a:spcAft>
                <a:spcPts val="400"/>
              </a:spcAft>
              <a:buSzPct val="100000"/>
              <a:buChar char="•"/>
            </a:pPr>
            <a:r>
              <a:rPr lang="en-US" sz="1300" dirty="0">
                <a:solidFill>
                  <a:schemeClr val="tx1"/>
                </a:solidFill>
              </a:rPr>
              <a:t>범위가 없으면 이름이 나오는 줄 둘레, 경로가 없으면 설명만으로</a:t>
            </a:r>
            <a:endParaRPr lang="en-US" sz="1300" dirty="0"/>
          </a:p>
          <a:p>
            <a:pPr marL="342900" indent="-342900">
              <a:spcAft>
                <a:spcPts val="400"/>
              </a:spcAft>
              <a:buSzPct val="100000"/>
              <a:buChar char="•"/>
            </a:pPr>
            <a:r>
              <a:rPr lang="en-US" sz="1300" dirty="0">
                <a:solidFill>
                  <a:schemeClr val="tx1"/>
                </a:solidFill>
              </a:rPr>
              <a:t>.env · wp-config.php · appsettings.json 같은 파일은 읽지 않습니다</a:t>
            </a:r>
            <a:endParaRPr lang="en-US" sz="1300" dirty="0"/>
          </a:p>
        </p:txBody>
      </p:sp>
      <p:sp>
        <p:nvSpPr>
          <p:cNvPr id="7" name="Text 5"/>
          <p:cNvSpPr txBox="1"/>
          <p:nvPr/>
        </p:nvSpPr>
        <p:spPr>
          <a:xfrm>
            <a:off x="548640" y="4261104"/>
            <a:ext cx="5760720" cy="347472"/>
          </a:xfrm>
          <a:prstGeom prst="rect">
            <a:avLst/>
          </a:prstGeom>
          <a:noFill/>
          <a:ln/>
        </p:spPr>
        <p:txBody>
          <a:bodyPr wrap="square" lIns="0" tIns="0" rIns="0" bIns="0" rtlCol="0" anchor="t"/>
          <a:lstStyle/>
          <a:p>
            <a:pPr indent="0" marL="0">
              <a:buNone/>
            </a:pPr>
            <a:r>
              <a:rPr lang="en-US" sz="1450" b="1" dirty="0">
                <a:solidFill>
                  <a:schemeClr val="tx2"/>
                </a:solidFill>
              </a:rPr>
              <a:t>팀원에게는 이렇게 보입니다</a:t>
            </a:r>
            <a:endParaRPr lang="en-US" sz="1450" dirty="0"/>
          </a:p>
        </p:txBody>
      </p:sp>
      <p:sp>
        <p:nvSpPr>
          <p:cNvPr id="8" name="Text 6"/>
          <p:cNvSpPr txBox="1"/>
          <p:nvPr/>
        </p:nvSpPr>
        <p:spPr>
          <a:xfrm>
            <a:off x="548640" y="4636008"/>
            <a:ext cx="5760720" cy="987552"/>
          </a:xfrm>
          <a:prstGeom prst="rect">
            <a:avLst/>
          </a:prstGeom>
          <a:noFill/>
          <a:ln/>
        </p:spPr>
        <p:txBody>
          <a:bodyPr wrap="square" lIns="0" tIns="0" rIns="0" bIns="0" rtlCol="0" anchor="t"/>
          <a:lstStyle/>
          <a:p>
            <a:pPr marL="342900" indent="-342900">
              <a:spcAft>
                <a:spcPts val="400"/>
              </a:spcAft>
              <a:buSzPct val="100000"/>
              <a:buChar char="•"/>
            </a:pPr>
            <a:r>
              <a:rPr lang="en-US" sz="1300" dirty="0">
                <a:solidFill>
                  <a:schemeClr val="tx1"/>
                </a:solidFill>
              </a:rPr>
              <a:t>퀴즈의 빈자리를 아직 안 만난 팀 용어가 채웁니다</a:t>
            </a:r>
            <a:endParaRPr lang="en-US" sz="1300" dirty="0"/>
          </a:p>
          <a:p>
            <a:pPr marL="342900" indent="-342900">
              <a:spcAft>
                <a:spcPts val="400"/>
              </a:spcAft>
              <a:buSzPct val="100000"/>
              <a:buChar char="•"/>
            </a:pPr>
            <a:r>
              <a:rPr lang="en-US" sz="1300" b="1" dirty="0">
                <a:solidFill>
                  <a:schemeClr val="accent1"/>
                </a:solidFill>
                <a:latin typeface="Courier New" pitchFamily="34" charset="0"/>
                <a:ea typeface="Courier New" pitchFamily="34" charset="-122"/>
                <a:cs typeface="Courier New" pitchFamily="34" charset="-120"/>
              </a:rPr>
              <a:t>/learn</a:t>
            </a:r>
            <a:r>
              <a:rPr lang="en-US" sz="1300" b="1" dirty="0">
                <a:solidFill>
                  <a:schemeClr val="accent1"/>
                </a:solidFill>
              </a:rPr>
              <a:t> 퀴즈 팀</a:t>
            </a:r>
            <a:r>
              <a:rPr lang="en-US" sz="1300" dirty="0">
                <a:solidFill>
                  <a:schemeClr val="tx1"/>
                </a:solidFill>
              </a:rPr>
              <a:t>: 팀 용어만으로 3문제</a:t>
            </a:r>
            <a:endParaRPr lang="en-US" sz="1300" dirty="0"/>
          </a:p>
          <a:p>
            <a:pPr marL="342900" indent="-342900">
              <a:spcAft>
                <a:spcPts val="400"/>
              </a:spcAft>
              <a:buSzPct val="100000"/>
              <a:buChar char="•"/>
            </a:pPr>
            <a:r>
              <a:rPr lang="en-US" sz="1300" dirty="0">
                <a:solidFill>
                  <a:schemeClr val="tx1"/>
                </a:solidFill>
              </a:rPr>
              <a:t>개념 모음(3)에 "팀 용어 4개 중 2개 만남"</a:t>
            </a:r>
            <a:endParaRPr lang="en-US" sz="1300" dirty="0"/>
          </a:p>
        </p:txBody>
      </p:sp>
      <p:sp>
        <p:nvSpPr>
          <p:cNvPr id="9" name="Text 7"/>
          <p:cNvSpPr txBox="1"/>
          <p:nvPr/>
        </p:nvSpPr>
        <p:spPr>
          <a:xfrm>
            <a:off x="548640" y="5669280"/>
            <a:ext cx="5760720" cy="457200"/>
          </a:xfrm>
          <a:prstGeom prst="rect">
            <a:avLst/>
          </a:prstGeom>
          <a:noFill/>
          <a:ln/>
        </p:spPr>
        <p:txBody>
          <a:bodyPr wrap="square" lIns="0" tIns="0" rIns="0" bIns="0" rtlCol="0" anchor="t"/>
          <a:lstStyle/>
          <a:p>
            <a:pPr indent="0" marL="0">
              <a:buNone/>
            </a:pPr>
            <a:r>
              <a:rPr lang="en-US" sz="1200" dirty="0">
                <a:solidFill>
                  <a:srgbClr val="5A6B70"/>
                </a:solidFill>
              </a:rPr>
              <a:t>모델 호출은 늘지 않습니다. 저장소 안 200KB 이하 파일만 읽고, 용어당 700자를 가린 뒤 퀴즈에 싣습니다.</a:t>
            </a:r>
            <a:endParaRPr lang="en-US" sz="1200" dirty="0"/>
          </a:p>
        </p:txBody>
      </p:sp>
      <p:pic>
        <p:nvPicPr>
          <p:cNvPr id="10" name="team-pane" descr="team-pane">    </p:cNvPr>
          <p:cNvPicPr>
            <a:picLocks noChangeAspect="1"/>
          </p:cNvPicPr>
          <p:nvPr/>
        </p:nvPicPr>
        <p:blipFill>
          <a:blip r:embed="rId1"/>
          <a:stretch>
            <a:fillRect/>
          </a:stretch>
        </p:blipFill>
        <p:spPr>
          <a:xfrm>
            <a:off x="6629400" y="1325880"/>
            <a:ext cx="5010912" cy="2996625"/>
          </a:xfrm>
          <a:prstGeom prst="rect">
            <a:avLst/>
          </a:prstGeom>
          <a:effectLst>
            <a:outerShdw sx="100000" sy="100000" kx="0" ky="0" algn="bl" rotWithShape="0" blurRad="2.839566823471248e+58" dist="8.518700470413739e+57" dir="7.052774768640002e+68">
              <a:srgbClr val="0F3D3E">
                <a:alpha val="2.8000000000000002e+69"/>
              </a:srgbClr>
            </a:outerShdw>
          </a:effectLst>
        </p:spPr>
      </p:pic>
      <p:sp>
        <p:nvSpPr>
          <p:cNvPr id="11" name="Text 8"/>
          <p:cNvSpPr txBox="1"/>
          <p:nvPr/>
        </p:nvSpPr>
        <p:spPr>
          <a:xfrm>
            <a:off x="6629400" y="4551105"/>
            <a:ext cx="5010912" cy="228600"/>
          </a:xfrm>
          <a:prstGeom prst="rect">
            <a:avLst/>
          </a:prstGeom>
          <a:noFill/>
          <a:ln/>
        </p:spPr>
        <p:txBody>
          <a:bodyPr wrap="square" lIns="0" tIns="0" rIns="0" bIns="0" rtlCol="0" anchor="t"/>
          <a:lstStyle/>
          <a:p>
            <a:pPr indent="0" marL="0">
              <a:buNone/>
            </a:pPr>
            <a:r>
              <a:rPr lang="en-US" sz="1100" b="1" dirty="0">
                <a:solidFill>
                  <a:srgbClr val="5A6B70"/>
                </a:solidFill>
              </a:rPr>
              <a:t>개념 모음(3)</a:t>
            </a:r>
            <a:r>
              <a:rPr lang="en-US" sz="1100" dirty="0">
                <a:solidFill>
                  <a:srgbClr val="5A6B70"/>
                </a:solidFill>
              </a:rPr>
              <a:t>  ·  맨 위에 만난 팀 용어 수와 아직 안 만난 용어</a:t>
            </a:r>
            <a:endParaRPr lang="en-US" sz="1100" dirty="0"/>
          </a:p>
        </p:txBody>
      </p:sp>
      <p:pic>
        <p:nvPicPr>
          <p:cNvPr id="12" name="team-concepts-band" descr="team-concepts-band">    </p:cNvPr>
          <p:cNvPicPr>
            <a:picLocks noChangeAspect="1"/>
          </p:cNvPicPr>
          <p:nvPr/>
        </p:nvPicPr>
        <p:blipFill>
          <a:blip r:embed="rId2"/>
          <a:stretch>
            <a:fillRect/>
          </a:stretch>
        </p:blipFill>
        <p:spPr>
          <a:xfrm>
            <a:off x="6629400" y="4825425"/>
            <a:ext cx="3206984" cy="450982"/>
          </a:xfrm>
          <a:prstGeom prst="rect">
            <a:avLst/>
          </a:prstGeom>
          <a:effectLst>
            <a:outerShdw sx="100000" sy="100000" kx="0" ky="0" algn="bl" rotWithShape="0" blurRad="3.606249865808485e+62" dist="1.081874959742545e+62" dir="4.2316648611840007e+73">
              <a:srgbClr val="0F3D3E">
                <a:alpha val="2.8e+74"/>
              </a:srgbClr>
            </a:outerShdw>
          </a:effectLst>
        </p:spPr>
      </p:pic>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리더는 팀 학습 지도로 — 보고서 모으기</a:t>
            </a:r>
            <a:endParaRPr lang="en-US" sz="3000" dirty="0"/>
          </a:p>
        </p:txBody>
      </p:sp>
      <p:sp>
        <p:nvSpPr>
          <p:cNvPr id="3" name="Text 1"/>
          <p:cNvSpPr txBox="1"/>
          <p:nvPr/>
        </p:nvSpPr>
        <p:spPr>
          <a:xfrm>
            <a:off x="548640" y="1325880"/>
            <a:ext cx="57607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/learn</a:t>
            </a:r>
            <a:r>
              <a:rPr lang="en-US" sz="1800" b="1" dirty="0">
                <a:solidFill>
                  <a:schemeClr val="accent1"/>
                </a:solidFill>
              </a:rPr>
              <a:t> 보고서 모으기 파일</a:t>
            </a:r>
            <a:r>
              <a:rPr lang="en-US" sz="1500" b="1" dirty="0">
                <a:solidFill>
                  <a:schemeClr val="tx2"/>
                </a:solidFill>
              </a:rPr>
              <a:t>   리더가 쓰는 새 명령</a:t>
            </a:r>
            <a:endParaRPr lang="en-US" sz="1800" dirty="0"/>
          </a:p>
        </p:txBody>
      </p:sp>
      <p:sp>
        <p:nvSpPr>
          <p:cNvPr id="4" name="Text 2"/>
          <p:cNvSpPr txBox="1"/>
          <p:nvPr/>
        </p:nvSpPr>
        <p:spPr>
          <a:xfrm>
            <a:off x="548640" y="1801368"/>
            <a:ext cx="5760720" cy="658368"/>
          </a:xfrm>
          <a:prstGeom prst="rect">
            <a:avLst/>
          </a:prstGeom>
          <a:noFill/>
          <a:ln/>
        </p:spPr>
        <p:txBody>
          <a:bodyPr wrap="square" lIns="0" tIns="0" rIns="0" bIns="0" rtlCol="0" anchor="t"/>
          <a:lstStyle/>
          <a:p>
            <a:pPr indent="0" marL="0">
              <a:buNone/>
            </a:pPr>
            <a:r>
              <a:rPr lang="en-US" sz="1300" dirty="0">
                <a:solidFill>
                  <a:schemeClr val="tx1"/>
                </a:solidFill>
              </a:rPr>
              <a:t>팀원이 보낸 /learn 보고서를 .md나 .txt 파일 하나에 모아 저장하고, 명령 뒤에 그 파일 경로를 적습니다(예: ~/Downloads/팀보고서.txt). 사람별 줄이 없는 팀 학습 지도를 클립보드에 복사합니다.</a:t>
            </a:r>
            <a:endParaRPr lang="en-US" sz="1300" dirty="0"/>
          </a:p>
        </p:txBody>
      </p:sp>
      <p:sp>
        <p:nvSpPr>
          <p:cNvPr id="5" name="flow-0"/>
          <p:cNvSpPr/>
          <p:nvPr/>
        </p:nvSpPr>
        <p:spPr>
          <a:xfrm>
            <a:off x="548640" y="2606040"/>
            <a:ext cx="1298448" cy="502920"/>
          </a:xfrm>
          <a:prstGeom prst="roundRect">
            <a:avLst>
              <a:gd name="adj" fmla="val 18182"/>
            </a:avLst>
          </a:prstGeom>
          <a:solidFill>
            <a:schemeClr val="bg2"/>
          </a:solidFill>
          <a:ln w="12700">
            <a:solidFill>
              <a:schemeClr val="bg2"/>
            </a:solidFill>
            <a:prstDash val="solid"/>
          </a:ln>
        </p:spPr>
      </p:sp>
      <p:sp>
        <p:nvSpPr>
          <p:cNvPr id="6" name="Text 4"/>
          <p:cNvSpPr txBox="1"/>
          <p:nvPr/>
        </p:nvSpPr>
        <p:spPr>
          <a:xfrm>
            <a:off x="548640" y="2606040"/>
            <a:ext cx="1298448" cy="502920"/>
          </a:xfrm>
          <a:prstGeom prst="rect">
            <a:avLst/>
          </a:prstGeom>
          <a:noFill/>
          <a:ln/>
        </p:spPr>
        <p:txBody>
          <a:bodyPr wrap="square" lIns="0" tIns="0" rIns="0" bIns="0" rtlCol="0" anchor="ctr"/>
          <a:lstStyle/>
          <a:p>
            <a:pPr algn="ctr" indent="0" marL="0">
              <a:buNone/>
            </a:pPr>
            <a:r>
              <a:rPr lang="en-US" sz="1150" b="1" dirty="0">
                <a:solidFill>
                  <a:schemeClr val="tx2"/>
                </a:solidFill>
              </a:rPr>
              <a:t>팀원: /learn 보고서</a:t>
            </a:r>
            <a:endParaRPr lang="en-US" sz="1150" dirty="0"/>
          </a:p>
        </p:txBody>
      </p:sp>
      <p:sp>
        <p:nvSpPr>
          <p:cNvPr id="7" name="arrow"/>
          <p:cNvSpPr/>
          <p:nvPr/>
        </p:nvSpPr>
        <p:spPr>
          <a:xfrm rot="5400000">
            <a:off x="1874520" y="2775204"/>
            <a:ext cx="128016" cy="164592"/>
          </a:xfrm>
          <a:prstGeom prst="triangle">
            <a:avLst/>
          </a:prstGeom>
          <a:solidFill>
            <a:srgbClr val="B9C7C2"/>
          </a:solidFill>
          <a:ln w="12700">
            <a:solidFill>
              <a:srgbClr val="B9C7C2"/>
            </a:solidFill>
            <a:prstDash val="solid"/>
          </a:ln>
        </p:spPr>
      </p:sp>
      <p:sp>
        <p:nvSpPr>
          <p:cNvPr id="8" name="flow-1"/>
          <p:cNvSpPr/>
          <p:nvPr/>
        </p:nvSpPr>
        <p:spPr>
          <a:xfrm>
            <a:off x="2029968" y="2606040"/>
            <a:ext cx="1298448" cy="502920"/>
          </a:xfrm>
          <a:prstGeom prst="roundRect">
            <a:avLst>
              <a:gd name="adj" fmla="val 18182"/>
            </a:avLst>
          </a:prstGeom>
          <a:solidFill>
            <a:schemeClr val="bg2"/>
          </a:solidFill>
          <a:ln w="12700">
            <a:solidFill>
              <a:schemeClr val="bg2"/>
            </a:solidFill>
            <a:prstDash val="solid"/>
          </a:ln>
        </p:spPr>
      </p:sp>
      <p:sp>
        <p:nvSpPr>
          <p:cNvPr id="9" name="Text 7"/>
          <p:cNvSpPr txBox="1"/>
          <p:nvPr/>
        </p:nvSpPr>
        <p:spPr>
          <a:xfrm>
            <a:off x="2029968" y="2606040"/>
            <a:ext cx="1298448" cy="502920"/>
          </a:xfrm>
          <a:prstGeom prst="rect">
            <a:avLst/>
          </a:prstGeom>
          <a:noFill/>
          <a:ln/>
        </p:spPr>
        <p:txBody>
          <a:bodyPr wrap="square" lIns="0" tIns="0" rIns="0" bIns="0" rtlCol="0" anchor="ctr"/>
          <a:lstStyle/>
          <a:p>
            <a:pPr algn="ctr" indent="0" marL="0">
              <a:buNone/>
            </a:pPr>
            <a:r>
              <a:rPr lang="en-US" sz="1150" b="1" dirty="0">
                <a:solidFill>
                  <a:schemeClr val="tx2"/>
                </a:solidFill>
              </a:rPr>
              <a:t>리더에게만 보냄</a:t>
            </a:r>
            <a:endParaRPr lang="en-US" sz="1150" dirty="0"/>
          </a:p>
        </p:txBody>
      </p:sp>
      <p:sp>
        <p:nvSpPr>
          <p:cNvPr id="10" name="arrow"/>
          <p:cNvSpPr/>
          <p:nvPr/>
        </p:nvSpPr>
        <p:spPr>
          <a:xfrm rot="5400000">
            <a:off x="3355848" y="2775204"/>
            <a:ext cx="128016" cy="164592"/>
          </a:xfrm>
          <a:prstGeom prst="triangle">
            <a:avLst/>
          </a:prstGeom>
          <a:solidFill>
            <a:srgbClr val="B9C7C2"/>
          </a:solidFill>
          <a:ln w="12700">
            <a:solidFill>
              <a:srgbClr val="B9C7C2"/>
            </a:solidFill>
            <a:prstDash val="solid"/>
          </a:ln>
        </p:spPr>
      </p:sp>
      <p:sp>
        <p:nvSpPr>
          <p:cNvPr id="11" name="flow-2"/>
          <p:cNvSpPr/>
          <p:nvPr/>
        </p:nvSpPr>
        <p:spPr>
          <a:xfrm>
            <a:off x="3511296" y="2606040"/>
            <a:ext cx="1298448" cy="502920"/>
          </a:xfrm>
          <a:prstGeom prst="roundRect">
            <a:avLst>
              <a:gd name="adj" fmla="val 18182"/>
            </a:avLst>
          </a:prstGeom>
          <a:solidFill>
            <a:schemeClr val="bg2"/>
          </a:solidFill>
          <a:ln w="12700">
            <a:solidFill>
              <a:schemeClr val="bg2"/>
            </a:solidFill>
            <a:prstDash val="solid"/>
          </a:ln>
        </p:spPr>
      </p:sp>
      <p:sp>
        <p:nvSpPr>
          <p:cNvPr id="12" name="Text 10"/>
          <p:cNvSpPr txBox="1"/>
          <p:nvPr/>
        </p:nvSpPr>
        <p:spPr>
          <a:xfrm>
            <a:off x="3511296" y="2606040"/>
            <a:ext cx="1298448" cy="502920"/>
          </a:xfrm>
          <a:prstGeom prst="rect">
            <a:avLst/>
          </a:prstGeom>
          <a:noFill/>
          <a:ln/>
        </p:spPr>
        <p:txBody>
          <a:bodyPr wrap="square" lIns="0" tIns="0" rIns="0" bIns="0" rtlCol="0" anchor="ctr"/>
          <a:lstStyle/>
          <a:p>
            <a:pPr algn="ctr" indent="0" marL="0">
              <a:buNone/>
            </a:pPr>
            <a:r>
              <a:rPr lang="en-US" sz="1150" b="1" dirty="0">
                <a:solidFill>
                  <a:schemeClr val="tx2"/>
                </a:solidFill>
              </a:rPr>
              <a:t>파일 하나에 모음</a:t>
            </a:r>
            <a:endParaRPr lang="en-US" sz="1150" dirty="0"/>
          </a:p>
        </p:txBody>
      </p:sp>
      <p:sp>
        <p:nvSpPr>
          <p:cNvPr id="13" name="arrow"/>
          <p:cNvSpPr/>
          <p:nvPr/>
        </p:nvSpPr>
        <p:spPr>
          <a:xfrm rot="5400000">
            <a:off x="4837176" y="2775204"/>
            <a:ext cx="128016" cy="164592"/>
          </a:xfrm>
          <a:prstGeom prst="triangle">
            <a:avLst/>
          </a:prstGeom>
          <a:solidFill>
            <a:srgbClr val="B9C7C2"/>
          </a:solidFill>
          <a:ln w="12700">
            <a:solidFill>
              <a:srgbClr val="B9C7C2"/>
            </a:solidFill>
            <a:prstDash val="solid"/>
          </a:ln>
        </p:spPr>
      </p:sp>
      <p:sp>
        <p:nvSpPr>
          <p:cNvPr id="14" name="flow-3"/>
          <p:cNvSpPr/>
          <p:nvPr/>
        </p:nvSpPr>
        <p:spPr>
          <a:xfrm>
            <a:off x="4992624" y="2606040"/>
            <a:ext cx="1298448" cy="502920"/>
          </a:xfrm>
          <a:prstGeom prst="roundRect">
            <a:avLst>
              <a:gd name="adj" fmla="val 18182"/>
            </a:avLst>
          </a:prstGeom>
          <a:solidFill>
            <a:schemeClr val="accent1"/>
          </a:solidFill>
          <a:ln w="12700">
            <a:solidFill>
              <a:schemeClr val="accent1"/>
            </a:solidFill>
            <a:prstDash val="solid"/>
          </a:ln>
        </p:spPr>
      </p:sp>
      <p:sp>
        <p:nvSpPr>
          <p:cNvPr id="15" name="Text 13"/>
          <p:cNvSpPr txBox="1"/>
          <p:nvPr/>
        </p:nvSpPr>
        <p:spPr>
          <a:xfrm>
            <a:off x="4992624" y="2606040"/>
            <a:ext cx="1298448" cy="502920"/>
          </a:xfrm>
          <a:prstGeom prst="rect">
            <a:avLst/>
          </a:prstGeom>
          <a:noFill/>
          <a:ln/>
        </p:spPr>
        <p:txBody>
          <a:bodyPr wrap="square" lIns="0" tIns="0" rIns="0" bIns="0" rtlCol="0" anchor="ctr"/>
          <a:lstStyle/>
          <a:p>
            <a:pPr algn="ctr" indent="0" marL="0">
              <a:buNone/>
            </a:pPr>
            <a:r>
              <a:rPr lang="en-US" sz="1150" b="1" dirty="0">
                <a:solidFill>
                  <a:schemeClr val="bg1"/>
                </a:solidFill>
              </a:rPr>
              <a:t>모으기 → 지도</a:t>
            </a:r>
            <a:endParaRPr lang="en-US" sz="1150" dirty="0"/>
          </a:p>
        </p:txBody>
      </p:sp>
      <p:sp>
        <p:nvSpPr>
          <p:cNvPr id="16" name="Text 14"/>
          <p:cNvSpPr txBox="1"/>
          <p:nvPr/>
        </p:nvSpPr>
        <p:spPr>
          <a:xfrm>
            <a:off x="548640" y="3310128"/>
            <a:ext cx="5760720" cy="2176272"/>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사람별 줄은 없습니다. 이름 · 코드 · 요청 · 각자 쓴 한 줄은 넣지 않습니다</a:t>
            </a:r>
            <a:endParaRPr lang="en-US" sz="1300" dirty="0"/>
          </a:p>
          <a:p>
            <a:pPr marL="342900" indent="-342900">
              <a:spcAft>
                <a:spcPts val="600"/>
              </a:spcAft>
              <a:buSzPct val="100000"/>
              <a:buChar char="•"/>
            </a:pPr>
            <a:r>
              <a:rPr lang="en-US" sz="1300" dirty="0">
                <a:solidFill>
                  <a:schemeClr val="tx1"/>
                </a:solidFill>
              </a:rPr>
              <a:t>개념 이름은 줄마다 보고서 3개 이상에 나온 것만 적습니다 · 같은 보고서는 한 번, 기간이 겹치는 보고서만 셉니다</a:t>
            </a:r>
            <a:endParaRPr lang="en-US" sz="1300" dirty="0"/>
          </a:p>
          <a:p>
            <a:pPr marL="342900" indent="-342900">
              <a:spcAft>
                <a:spcPts val="600"/>
              </a:spcAft>
              <a:buSzPct val="100000"/>
              <a:buChar char="•"/>
            </a:pPr>
            <a:r>
              <a:rPr lang="en-US" sz="1300" dirty="0">
                <a:solidFill>
                  <a:schemeClr val="tx1"/>
                </a:solidFill>
              </a:rPr>
              <a:t>보고서가 3개 이상이어야 지도를 만듭니다</a:t>
            </a:r>
            <a:endParaRPr lang="en-US" sz="1300" dirty="0"/>
          </a:p>
          <a:p>
            <a:pPr marL="342900" indent="-342900">
              <a:spcAft>
                <a:spcPts val="600"/>
              </a:spcAft>
              <a:buSzPct val="100000"/>
              <a:buChar char="•"/>
            </a:pPr>
            <a:r>
              <a:rPr lang="en-US" sz="1300" dirty="0">
                <a:solidFill>
                  <a:schemeClr val="tx1"/>
                </a:solidFill>
              </a:rPr>
              <a:t>적은 파일 하나만 2MB까지 읽고, 모델 호출 · 저장소 쓰기 · 파일 쓰기가 없습니다</a:t>
            </a:r>
            <a:endParaRPr lang="en-US" sz="1300" dirty="0"/>
          </a:p>
          <a:p>
            <a:pPr marL="342900" indent="-342900">
              <a:spcAft>
                <a:spcPts val="600"/>
              </a:spcAft>
              <a:buSzPct val="100000"/>
              <a:buChar char="•"/>
            </a:pPr>
            <a:r>
              <a:rPr lang="en-US" sz="1300" dirty="0">
                <a:solidFill>
                  <a:schemeClr val="tx1"/>
                </a:solidFill>
              </a:rPr>
              <a:t>못 찾으면: 파일을 Shift+오른쪽 클릭 → 경로로 복사해 붙여 넣기 (macOS는 오른쪽 클릭 뒤 Option → 경로 이름으로 복사)</a:t>
            </a:r>
            <a:endParaRPr lang="en-US" sz="1300" dirty="0"/>
          </a:p>
        </p:txBody>
      </p:sp>
      <p:sp>
        <p:nvSpPr>
          <p:cNvPr id="17" name="Text 15"/>
          <p:cNvSpPr txBox="1"/>
          <p:nvPr/>
        </p:nvSpPr>
        <p:spPr>
          <a:xfrm>
            <a:off x="548640" y="5614416"/>
            <a:ext cx="5760720" cy="512064"/>
          </a:xfrm>
          <a:prstGeom prst="rect">
            <a:avLst/>
          </a:prstGeom>
          <a:noFill/>
          <a:ln/>
        </p:spPr>
        <p:txBody>
          <a:bodyPr wrap="square" lIns="0" tIns="0" rIns="0" bIns="0" rtlCol="0" anchor="t"/>
          <a:lstStyle/>
          <a:p>
            <a:pPr indent="0" marL="0">
              <a:buNone/>
            </a:pPr>
            <a:r>
              <a:rPr lang="en-US" sz="1200" dirty="0">
                <a:solidFill>
                  <a:srgbClr val="5A6B70"/>
                </a:solidFill>
              </a:rPr>
              <a:t>폴더 · 네트워크 위치 · 권한 규칙이 막은 파일은 읽지 않습니다. 클라우드 세션은 내 컴퓨터 파일을 읽을 수 없어 쓸 수 없습니다.</a:t>
            </a:r>
            <a:endParaRPr lang="en-US" sz="1200" dirty="0"/>
          </a:p>
        </p:txBody>
      </p:sp>
      <p:sp>
        <p:nvSpPr>
          <p:cNvPr id="18" name="Text 16"/>
          <p:cNvSpPr txBox="1"/>
          <p:nvPr/>
        </p:nvSpPr>
        <p:spPr>
          <a:xfrm>
            <a:off x="6537960" y="1325880"/>
            <a:ext cx="5102352" cy="548640"/>
          </a:xfrm>
          <a:prstGeom prst="rect">
            <a:avLst/>
          </a:prstGeom>
          <a:noFill/>
          <a:ln/>
        </p:spPr>
        <p:txBody>
          <a:bodyPr wrap="square" lIns="0" tIns="0" rIns="0" bIns="0" rtlCol="0" anchor="t"/>
          <a:lstStyle/>
          <a:p>
            <a:pPr indent="0" marL="0">
              <a:buNone/>
            </a:pPr>
            <a:r>
              <a:rPr lang="en-US" sz="1200" b="1" dirty="0">
                <a:solidFill>
                  <a:schemeClr val="tx2"/>
                </a:solidFill>
              </a:rPr>
              <a:t>대화창의 답  </a:t>
            </a:r>
            <a:r>
              <a:rPr lang="en-US" sz="1200" dirty="0">
                <a:solidFill>
                  <a:schemeClr val="tx1"/>
                </a:solidFill>
              </a:rPr>
              <a:t>팀 학습 지도를 클립보드에 복사했습니다 · 보고서 5개 · 팀 채널에 붙이기 전에 한 번 읽어 보세요</a:t>
            </a:r>
            <a:endParaRPr lang="en-US" sz="1200" dirty="0"/>
          </a:p>
        </p:txBody>
      </p:sp>
      <p:sp>
        <p:nvSpPr>
          <p:cNvPr id="19" name="code"/>
          <p:cNvSpPr/>
          <p:nvPr/>
        </p:nvSpPr>
        <p:spPr>
          <a:xfrm>
            <a:off x="6537960" y="1938528"/>
            <a:ext cx="5102352" cy="3547872"/>
          </a:xfrm>
          <a:prstGeom prst="roundRect">
            <a:avLst>
              <a:gd name="adj" fmla="val 2062"/>
            </a:avLst>
          </a:prstGeom>
          <a:solidFill>
            <a:srgbClr val="0D1110"/>
          </a:solidFill>
          <a:ln w="12700">
            <a:solidFill>
              <a:srgbClr val="0D1110"/>
            </a:solidFill>
            <a:prstDash val="solid"/>
          </a:ln>
        </p:spPr>
      </p:sp>
      <p:sp>
        <p:nvSpPr>
          <p:cNvPr id="20" name="Text 18"/>
          <p:cNvSpPr txBox="1"/>
          <p:nvPr/>
        </p:nvSpPr>
        <p:spPr>
          <a:xfrm>
            <a:off x="6812280" y="1938528"/>
            <a:ext cx="4645152" cy="3547872"/>
          </a:xfrm>
          <a:prstGeom prst="rect">
            <a:avLst/>
          </a:prstGeom>
          <a:noFill/>
          <a:ln/>
        </p:spPr>
        <p:txBody>
          <a:bodyPr wrap="square" lIns="0" tIns="0" rIns="0" bIns="0" rtlCol="0" anchor="ctr"/>
          <a:lstStyle/>
          <a:p>
            <a:pPr indent="0" marL="0">
              <a:buNone/>
            </a:pPr>
            <a:r>
              <a:rPr lang="en-US" sz="1150" dirty="0">
                <a:solidFill>
                  <a:srgbClr val="D6DDD6"/>
                </a:solidFill>
              </a:rPr>
              <a:t># 팀 학습 지도 · 2026-09-29 ~ 2026-10-05 · 보고서 5개</a:t>
            </a:r>
            <a:endParaRPr lang="en-US" sz="1150" dirty="0"/>
          </a:p>
          <a:p>
            <a:pPr indent="0" marL="0">
              <a:buNone/>
            </a:pPr>
            <a:r>
              <a:rPr lang="en-US" sz="1150" dirty="0">
                <a:solidFill>
                  <a:srgbClr val="D6DDD6"/>
                </a:solidFill>
              </a:rPr>
              <a:t>사람별 줄은 만들지 않습니다. …</a:t>
            </a:r>
            <a:endParaRPr lang="en-US" sz="1150" dirty="0"/>
          </a:p>
          <a:p>
            <a:pPr indent="0" marL="0">
              <a:buNone/>
            </a:pPr>
            <a:r>
              <a:rPr lang="en-US" sz="1150" dirty="0">
                <a:solidFill>
                  <a:srgbClr val="D6DDD6"/>
                </a:solidFill>
              </a:rPr>
              <a:t>- 학습 노트 25개 · 보고서마다 평균 3.4일 학습</a:t>
            </a:r>
            <a:endParaRPr lang="en-US" sz="1150" dirty="0"/>
          </a:p>
          <a:p>
            <a:pPr indent="0" marL="0">
              <a:buNone/>
            </a:pPr>
            <a:r>
              <a:rPr lang="en-US" sz="1150" dirty="0">
                <a:solidFill>
                  <a:srgbClr val="D6DDD6"/>
                </a:solidFill>
              </a:rPr>
              <a:t>- 퀴즈 32문제 중 22개 맞힘 (69%)</a:t>
            </a:r>
            <a:endParaRPr lang="en-US" sz="1150" dirty="0"/>
          </a:p>
          <a:p>
            <a:pPr indent="0" marL="0">
              <a:buNone/>
            </a:pPr>
            <a:r>
              <a:rPr lang="en-US" sz="1150" dirty="0">
                <a:solidFill>
                  <a:srgbClr val="D6DDD6"/>
                </a:solidFill>
              </a:rPr>
              <a:t>- 여럿이 새로 배운 개념: 가드 절 (3) · async/await (3)</a:t>
            </a:r>
            <a:endParaRPr lang="en-US" sz="1150" dirty="0"/>
          </a:p>
          <a:p>
            <a:pPr indent="0" marL="0">
              <a:buNone/>
            </a:pPr>
            <a:r>
              <a:rPr lang="en-US" sz="1150" dirty="0">
                <a:solidFill>
                  <a:srgbClr val="D6DDD6"/>
                </a:solidFill>
              </a:rPr>
              <a:t>- 여럿이 다시 볼 개념(퀴즈에서 틀림): async/await (3)</a:t>
            </a:r>
            <a:endParaRPr lang="en-US" sz="1150" dirty="0"/>
          </a:p>
          <a:p>
            <a:pPr indent="0" marL="0">
              <a:buNone/>
            </a:pPr>
            <a:r>
              <a:rPr lang="en-US" sz="1150" dirty="0">
                <a:solidFill>
                  <a:srgbClr val="D6DDD6"/>
                </a:solidFill>
              </a:rPr>
              <a:t>- 보고서 3개 미만에 나온 개념 7개는 이름을 적지 않았습니다</a:t>
            </a:r>
            <a:endParaRPr lang="en-US" sz="1150" dirty="0"/>
          </a:p>
          <a:p>
            <a:pPr indent="0" marL="0">
              <a:buNone/>
            </a:pPr>
            <a:r>
              <a:rPr lang="en-US" sz="1150" dirty="0">
                <a:solidFill>
                  <a:srgbClr val="D6DDD6"/>
                </a:solidFill>
              </a:rPr>
              <a:t>- 팀 용어 4개 · 이 저장소 팀 용어 줄이 있는 보고서 5개</a:t>
            </a:r>
            <a:endParaRPr lang="en-US" sz="1150" dirty="0"/>
          </a:p>
          <a:p>
            <a:pPr indent="0" marL="0">
              <a:buNone/>
            </a:pPr>
            <a:r>
              <a:rPr lang="en-US" sz="1150" dirty="0">
                <a:solidFill>
                  <a:srgbClr val="D6DDD6"/>
                </a:solidFill>
              </a:rPr>
              <a:t>  - 여럿이 만남: 기본 매개변수 (4) · 가드 절 (3) · 불변 업데이트 (3)</a:t>
            </a:r>
            <a:endParaRPr lang="en-US" sz="1150" dirty="0"/>
          </a:p>
          <a:p>
            <a:pPr indent="0" marL="0">
              <a:buNone/>
            </a:pPr>
            <a:r>
              <a:rPr lang="en-US" sz="1150" dirty="0">
                <a:solidFill>
                  <a:srgbClr val="D6DDD6"/>
                </a:solidFill>
              </a:rPr>
              <a:t>  - 덜 만남(보고서 3개 미만): 주문 취소 규칙</a:t>
            </a:r>
            <a:endParaRPr lang="en-US" sz="1150" dirty="0"/>
          </a:p>
          <a:p>
            <a:pPr indent="0" marL="0">
              <a:buNone/>
            </a:pPr>
            <a:r>
              <a:rPr lang="en-US" sz="1150" dirty="0">
                <a:solidFill>
                  <a:srgbClr val="D6DDD6"/>
                </a:solidFill>
              </a:rPr>
              <a:t>- 모델 호출 82번 (자동 노트 25) · … · 보고서마다 평균 16번</a:t>
            </a:r>
            <a:endParaRPr lang="en-US" sz="1150" dirty="0"/>
          </a:p>
          <a:p>
            <a:pPr indent="0" marL="0">
              <a:buNone/>
            </a:pPr>
            <a:r>
              <a:rPr lang="en-US" sz="1150" dirty="0">
                <a:solidFill>
                  <a:srgbClr val="D6DDD6"/>
                </a:solidFill>
              </a:rPr>
              <a:t>## 팀 파일 후보</a:t>
            </a:r>
            <a:endParaRPr lang="en-US" sz="1150" dirty="0"/>
          </a:p>
          <a:p>
            <a:pPr indent="0" marL="0">
              <a:buNone/>
            </a:pPr>
            <a:r>
              <a:rPr lang="en-US" sz="1150" dirty="0">
                <a:solidFill>
                  <a:srgbClr val="D6DDD6"/>
                </a:solidFill>
              </a:rPr>
              <a:t>- **async/await**:</a:t>
            </a:r>
            <a:endParaRPr lang="en-US" sz="1150" dirty="0"/>
          </a:p>
        </p:txBody>
      </p:sp>
      <p:sp>
        <p:nvSpPr>
          <p:cNvPr id="21" name="Text 19"/>
          <p:cNvSpPr txBox="1"/>
          <p:nvPr/>
        </p:nvSpPr>
        <p:spPr>
          <a:xfrm>
            <a:off x="6537960" y="5614416"/>
            <a:ext cx="5102352" cy="512064"/>
          </a:xfrm>
          <a:prstGeom prst="rect">
            <a:avLst/>
          </a:prstGeom>
          <a:noFill/>
          <a:ln/>
        </p:spPr>
        <p:txBody>
          <a:bodyPr wrap="square" lIns="0" tIns="0" rIns="0" bIns="0" rtlCol="0" anchor="t"/>
          <a:lstStyle/>
          <a:p>
            <a:pPr indent="0" marL="0">
              <a:buNone/>
            </a:pPr>
            <a:r>
              <a:rPr lang="en-US" sz="1200" dirty="0">
                <a:solidFill>
                  <a:srgbClr val="5A6B70"/>
                </a:solidFill>
              </a:rPr>
              <a:t>예시 화면에서 보고서 5개로 만든 지도입니다(설명 문장은 줄임). 팀 파일 후보는 여럿이 퀴즈에서 틀렸지만 팀 용어에 없는 개념입니다.</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회사에 깔 때: 진단 · 버전 알림 · 끊기지 않는 노트</a:t>
            </a:r>
            <a:endParaRPr lang="en-US" sz="3000" dirty="0"/>
          </a:p>
        </p:txBody>
      </p:sp>
      <p:sp>
        <p:nvSpPr>
          <p:cNvPr id="3" name="Text 1"/>
          <p:cNvSpPr txBox="1"/>
          <p:nvPr/>
        </p:nvSpPr>
        <p:spPr>
          <a:xfrm>
            <a:off x="548640" y="1325880"/>
            <a:ext cx="5760720" cy="411480"/>
          </a:xfrm>
          <a:prstGeom prst="rect">
            <a:avLst/>
          </a:prstGeom>
          <a:noFill/>
          <a:ln/>
        </p:spPr>
        <p:txBody>
          <a:bodyPr wrap="square" lIns="0" tIns="0" rIns="0" bIns="0" rtlCol="0" anchor="ctr"/>
          <a:lstStyle/>
          <a:p>
            <a:pPr indent="0" marL="0">
              <a:buNone/>
            </a:pPr>
            <a:r>
              <a:rPr lang="en-US" sz="1800" b="1" dirty="0">
                <a:solidFill>
                  <a:schemeClr val="accent1"/>
                </a:solidFill>
                <a:latin typeface="Courier New" pitchFamily="34" charset="0"/>
                <a:ea typeface="Courier New" pitchFamily="34" charset="-122"/>
                <a:cs typeface="Courier New" pitchFamily="34" charset="-120"/>
              </a:rPr>
              <a:t>/learn</a:t>
            </a:r>
            <a:r>
              <a:rPr lang="en-US" sz="1800" b="1" dirty="0">
                <a:solidFill>
                  <a:schemeClr val="accent1"/>
                </a:solidFill>
              </a:rPr>
              <a:t> 진단</a:t>
            </a:r>
            <a:r>
              <a:rPr lang="en-US" sz="1500" b="1" dirty="0">
                <a:solidFill>
                  <a:schemeClr val="tx2"/>
                </a:solidFill>
              </a:rPr>
              <a:t>   막히면 이 글을 담당자에게</a:t>
            </a:r>
            <a:endParaRPr lang="en-US" sz="1800" dirty="0"/>
          </a:p>
        </p:txBody>
      </p:sp>
      <p:sp>
        <p:nvSpPr>
          <p:cNvPr id="4" name="Text 2"/>
          <p:cNvSpPr txBox="1"/>
          <p:nvPr/>
        </p:nvSpPr>
        <p:spPr>
          <a:xfrm>
            <a:off x="548640" y="1801368"/>
            <a:ext cx="5760720" cy="603504"/>
          </a:xfrm>
          <a:prstGeom prst="rect">
            <a:avLst/>
          </a:prstGeom>
          <a:noFill/>
          <a:ln/>
        </p:spPr>
        <p:txBody>
          <a:bodyPr wrap="square" lIns="0" tIns="0" rIns="0" bIns="0" rtlCol="0" anchor="t"/>
          <a:lstStyle/>
          <a:p>
            <a:pPr indent="0" marL="0">
              <a:buNone/>
            </a:pPr>
            <a:r>
              <a:rPr lang="en-US" sz="1250" dirty="0">
                <a:solidFill>
                  <a:schemeClr val="tx1"/>
                </a:solidFill>
              </a:rPr>
              <a:t>모델을 부르지 않고 만들어 클립보드에 복사하고 대화창에도 적습니다. 코드 · 요청 · 파일 이름 · 경로 · 개념 이름 · 헷갈린 점 문장은 들어 있지 않습니다(오답 노트는 개수만).</a:t>
            </a:r>
            <a:endParaRPr lang="en-US" sz="1250" dirty="0"/>
          </a:p>
        </p:txBody>
      </p:sp>
      <p:sp>
        <p:nvSpPr>
          <p:cNvPr id="5" name="code"/>
          <p:cNvSpPr/>
          <p:nvPr/>
        </p:nvSpPr>
        <p:spPr>
          <a:xfrm>
            <a:off x="548640" y="2468880"/>
            <a:ext cx="5760720" cy="3017520"/>
          </a:xfrm>
          <a:prstGeom prst="roundRect">
            <a:avLst>
              <a:gd name="adj" fmla="val 2424"/>
            </a:avLst>
          </a:prstGeom>
          <a:solidFill>
            <a:srgbClr val="0D1110"/>
          </a:solidFill>
          <a:ln w="12700">
            <a:solidFill>
              <a:srgbClr val="0D1110"/>
            </a:solidFill>
            <a:prstDash val="solid"/>
          </a:ln>
        </p:spPr>
      </p:sp>
      <p:sp>
        <p:nvSpPr>
          <p:cNvPr id="6" name="Text 4"/>
          <p:cNvSpPr txBox="1"/>
          <p:nvPr/>
        </p:nvSpPr>
        <p:spPr>
          <a:xfrm>
            <a:off x="822960" y="2468880"/>
            <a:ext cx="5303520" cy="3017520"/>
          </a:xfrm>
          <a:prstGeom prst="rect">
            <a:avLst/>
          </a:prstGeom>
          <a:noFill/>
          <a:ln/>
        </p:spPr>
        <p:txBody>
          <a:bodyPr wrap="square" lIns="0" tIns="0" rIns="0" bIns="0" rtlCol="0" anchor="ctr"/>
          <a:lstStyle/>
          <a:p>
            <a:pPr indent="0" marL="0">
              <a:buNone/>
            </a:pPr>
            <a:r>
              <a:rPr lang="en-US" sz="1100" dirty="0">
                <a:solidFill>
                  <a:srgbClr val="D6DDD6"/>
                </a:solidFill>
              </a:rPr>
              <a:t>learn-notes 진단 · 2026-10-03 05:12</a:t>
            </a:r>
            <a:endParaRPr lang="en-US" sz="1100" dirty="0"/>
          </a:p>
          <a:p>
            <a:pPr indent="0" marL="0">
              <a:buNone/>
            </a:pPr>
            <a:r>
              <a:rPr lang="en-US" sz="1100" dirty="0">
                <a:solidFill>
                  <a:srgbClr val="D6DDD6"/>
                </a:solidFill>
              </a:rPr>
              <a:t>- 버전: learn-notes 1.8.0 · Claude Code 2.1.302</a:t>
            </a:r>
            <a:endParaRPr lang="en-US" sz="1100" dirty="0"/>
          </a:p>
          <a:p>
            <a:pPr indent="0" marL="0">
              <a:buNone/>
            </a:pPr>
            <a:r>
              <a:rPr lang="en-US" sz="1100" dirty="0">
                <a:solidFill>
                  <a:srgbClr val="D6DDD6"/>
                </a:solidFill>
              </a:rPr>
              <a:t>- 다른 창: 없음</a:t>
            </a:r>
            <a:endParaRPr lang="en-US" sz="1100" dirty="0"/>
          </a:p>
          <a:p>
            <a:pPr indent="0" marL="0">
              <a:buNone/>
            </a:pPr>
            <a:r>
              <a:rPr lang="en-US" sz="1100" dirty="0">
                <a:solidFill>
                  <a:srgbClr val="D6DDD6"/>
                </a:solidFill>
              </a:rPr>
              <a:t>- 화면: terminal · 패널 오른쪽 56칸 · 키는 대화에 · Windows Terminal</a:t>
            </a:r>
            <a:endParaRPr lang="en-US" sz="1100" dirty="0"/>
          </a:p>
          <a:p>
            <a:pPr indent="0" marL="0">
              <a:buNone/>
            </a:pPr>
            <a:r>
              <a:rPr lang="en-US" sz="1100" dirty="0">
                <a:solidFill>
                  <a:srgbClr val="D6DDD6"/>
                </a:solidFill>
              </a:rPr>
              <a:t>- 설정: 자동 노트 켬 · haiku · 하루 한도 없음 · 일지 켬(기본 폴더) · …</a:t>
            </a:r>
            <a:endParaRPr lang="en-US" sz="1100" dirty="0"/>
          </a:p>
          <a:p>
            <a:pPr indent="0" marL="0">
              <a:buNone/>
            </a:pPr>
            <a:r>
              <a:rPr lang="en-US" sz="1100" dirty="0">
                <a:solidFill>
                  <a:srgbClr val="D6DDD6"/>
                </a:solidFill>
              </a:rPr>
              <a:t>- 오늘: 노트 1개 · 모델 호출 12번 · 실패 1번</a:t>
            </a:r>
            <a:endParaRPr lang="en-US" sz="1100" dirty="0"/>
          </a:p>
          <a:p>
            <a:pPr indent="0" marL="0">
              <a:buNone/>
            </a:pPr>
            <a:r>
              <a:rPr lang="en-US" sz="1100" dirty="0">
                <a:solidFill>
                  <a:srgbClr val="D6DDD6"/>
                </a:solidFill>
              </a:rPr>
              <a:t>- 저장소: 22KB / 4MB (history 11KB · quiz 5KB · quizBank 2KB)</a:t>
            </a:r>
            <a:endParaRPr lang="en-US" sz="1100" dirty="0"/>
          </a:p>
          <a:p>
            <a:pPr indent="0" marL="0">
              <a:buNone/>
            </a:pPr>
            <a:r>
              <a:rPr lang="en-US" sz="1100" dirty="0">
                <a:solidFill>
                  <a:srgbClr val="D6DDD6"/>
                </a:solidFill>
              </a:rPr>
              <a:t>- 일지: 못 쓴 노트 없음</a:t>
            </a:r>
            <a:endParaRPr lang="en-US" sz="1100" dirty="0"/>
          </a:p>
          <a:p>
            <a:pPr indent="0" marL="0">
              <a:buNone/>
            </a:pPr>
            <a:r>
              <a:rPr lang="en-US" sz="1100" dirty="0">
                <a:solidFill>
                  <a:srgbClr val="D6DDD6"/>
                </a:solidFill>
              </a:rPr>
              <a:t>- 오답 노트 2개 (열림 2 · 바로잡음 0) · 유형 기타 0 · 문장 없음 0 · 열린 채 두 번 이상 0</a:t>
            </a:r>
            <a:endParaRPr lang="en-US" sz="1100" dirty="0"/>
          </a:p>
          <a:p>
            <a:pPr indent="0" marL="0">
              <a:buNone/>
            </a:pPr>
            <a:r>
              <a:rPr lang="en-US" sz="1100" dirty="0">
                <a:solidFill>
                  <a:srgbClr val="D6DDD6"/>
                </a:solidFill>
              </a:rPr>
              <a:t>- 최근 7일 문제 1건 (최근 것부터)</a:t>
            </a:r>
            <a:endParaRPr lang="en-US" sz="1100" dirty="0"/>
          </a:p>
          <a:p>
            <a:pPr indent="0" marL="0">
              <a:buNone/>
            </a:pPr>
            <a:r>
              <a:rPr lang="en-US" sz="1100" dirty="0">
                <a:solidFill>
                  <a:srgbClr val="D6DDD6"/>
                </a:solidFill>
              </a:rPr>
              <a:t>  - 10-03 05:12 노트 쓰기 · 서버 붐빔(529) · 다시 써서 됨</a:t>
            </a:r>
            <a:endParaRPr lang="en-US" sz="1100" dirty="0"/>
          </a:p>
          <a:p>
            <a:pPr indent="0" marL="0">
              <a:buNone/>
            </a:pPr>
            <a:r>
              <a:rPr lang="en-US" sz="1100" dirty="0">
                <a:solidFill>
                  <a:srgbClr val="D6DDD6"/>
                </a:solidFill>
              </a:rPr>
              <a:t>- 패널 초점(최근 7일): 스크롤 거절 ×2 · 마지막 10-03 05:12</a:t>
            </a:r>
            <a:endParaRPr lang="en-US" sz="1100" dirty="0"/>
          </a:p>
        </p:txBody>
      </p:sp>
      <p:sp>
        <p:nvSpPr>
          <p:cNvPr id="7" name="Text 5"/>
          <p:cNvSpPr txBox="1"/>
          <p:nvPr/>
        </p:nvSpPr>
        <p:spPr>
          <a:xfrm>
            <a:off x="548640" y="5559552"/>
            <a:ext cx="5760720" cy="548640"/>
          </a:xfrm>
          <a:prstGeom prst="rect">
            <a:avLst/>
          </a:prstGeom>
          <a:noFill/>
          <a:ln/>
        </p:spPr>
        <p:txBody>
          <a:bodyPr wrap="square" lIns="0" tIns="0" rIns="0" bIns="0" rtlCol="0" anchor="t"/>
          <a:lstStyle/>
          <a:p>
            <a:pPr indent="0" marL="0">
              <a:buNone/>
            </a:pPr>
            <a:r>
              <a:rPr lang="en-US" sz="1250" dirty="0">
                <a:solidFill>
                  <a:srgbClr val="5A6B70"/>
                </a:solidFill>
              </a:rPr>
              <a:t>예시 화면의 진단 글입니다(설정 줄은 줄임). 노트가 안 생기면 먼저 /learn 진단을 팀 채널이나 담당자에게 붙여 주세요.</a:t>
            </a:r>
            <a:endParaRPr lang="en-US" sz="1250" dirty="0"/>
          </a:p>
        </p:txBody>
      </p:sp>
      <p:sp>
        <p:nvSpPr>
          <p:cNvPr id="8" name="outline"/>
          <p:cNvSpPr/>
          <p:nvPr/>
        </p:nvSpPr>
        <p:spPr>
          <a:xfrm>
            <a:off x="6537960" y="1325880"/>
            <a:ext cx="5102352" cy="1133856"/>
          </a:xfrm>
          <a:prstGeom prst="roundRect">
            <a:avLst>
              <a:gd name="adj" fmla="val 8065"/>
            </a:avLst>
          </a:prstGeom>
          <a:solidFill>
            <a:schemeClr val="bg1"/>
          </a:solidFill>
          <a:ln w="12700">
            <a:solidFill>
              <a:srgbClr val="D9E3DF"/>
            </a:solidFill>
            <a:prstDash val="solid"/>
          </a:ln>
        </p:spPr>
      </p:sp>
      <p:sp>
        <p:nvSpPr>
          <p:cNvPr id="9" name="badge-LuRefreshCw"/>
          <p:cNvSpPr/>
          <p:nvPr/>
        </p:nvSpPr>
        <p:spPr>
          <a:xfrm>
            <a:off x="6739128" y="1572768"/>
            <a:ext cx="621792" cy="621792"/>
          </a:xfrm>
          <a:prstGeom prst="ellipse">
            <a:avLst/>
          </a:prstGeom>
          <a:solidFill>
            <a:schemeClr val="accent2"/>
          </a:solidFill>
          <a:ln w="12700">
            <a:solidFill>
              <a:schemeClr val="accent2"/>
            </a:solidFill>
            <a:prstDash val="solid"/>
          </a:ln>
        </p:spPr>
      </p:sp>
      <p:pic>
        <p:nvPicPr>
          <p:cNvPr id="10" name="icon-LuRefreshCw" descr="LuRefreshCw">    </p:cNvPr>
          <p:cNvPicPr>
            <a:picLocks noChangeAspect="1"/>
          </p:cNvPicPr>
          <p:nvPr/>
        </p:nvPicPr>
        <p:blipFill>
          <a:blip r:embed="rId1"/>
          <a:stretch>
            <a:fillRect/>
          </a:stretch>
        </p:blipFill>
        <p:spPr>
          <a:xfrm>
            <a:off x="6888358" y="1721998"/>
            <a:ext cx="323332" cy="323332"/>
          </a:xfrm>
          <a:prstGeom prst="rect">
            <a:avLst/>
          </a:prstGeom>
        </p:spPr>
      </p:pic>
      <p:sp>
        <p:nvSpPr>
          <p:cNvPr id="11" name="Text 8"/>
          <p:cNvSpPr txBox="1"/>
          <p:nvPr/>
        </p:nvSpPr>
        <p:spPr>
          <a:xfrm>
            <a:off x="7543800" y="1417320"/>
            <a:ext cx="3977640" cy="347472"/>
          </a:xfrm>
          <a:prstGeom prst="rect">
            <a:avLst/>
          </a:prstGeom>
          <a:noFill/>
          <a:ln/>
        </p:spPr>
        <p:txBody>
          <a:bodyPr wrap="square" lIns="0" tIns="0" rIns="0" bIns="0" rtlCol="0" anchor="t"/>
          <a:lstStyle/>
          <a:p>
            <a:pPr indent="0" marL="0">
              <a:buNone/>
            </a:pPr>
            <a:r>
              <a:rPr lang="en-US" sz="1550" b="1" dirty="0">
                <a:solidFill>
                  <a:schemeClr val="tx2"/>
                </a:solidFill>
              </a:rPr>
              <a:t>옛 창에는 다시 불러오기 알림</a:t>
            </a:r>
            <a:endParaRPr lang="en-US" sz="1550" dirty="0"/>
          </a:p>
        </p:txBody>
      </p:sp>
      <p:sp>
        <p:nvSpPr>
          <p:cNvPr id="12" name="Text 9"/>
          <p:cNvSpPr txBox="1"/>
          <p:nvPr/>
        </p:nvSpPr>
        <p:spPr>
          <a:xfrm>
            <a:off x="7543800" y="1755648"/>
            <a:ext cx="4005072" cy="658368"/>
          </a:xfrm>
          <a:prstGeom prst="rect">
            <a:avLst/>
          </a:prstGeom>
          <a:noFill/>
          <a:ln/>
        </p:spPr>
        <p:txBody>
          <a:bodyPr wrap="square" lIns="0" tIns="0" rIns="0" bIns="0" rtlCol="0" anchor="t"/>
          <a:lstStyle/>
          <a:p>
            <a:pPr indent="0" marL="0">
              <a:buNone/>
            </a:pPr>
            <a:r>
              <a:rPr lang="en-US" sz="1200" dirty="0">
                <a:solidFill>
                  <a:schemeClr val="tx1"/>
                </a:solidFill>
              </a:rPr>
              <a:t>다른 창이 더 새 버전이면 흐린 줄과 토스트가 한 번: "… /reload-plugins로 바꿉니다"</a:t>
            </a:r>
            <a:endParaRPr lang="en-US" sz="1200" dirty="0"/>
          </a:p>
        </p:txBody>
      </p:sp>
      <p:sp>
        <p:nvSpPr>
          <p:cNvPr id="13" name="outline"/>
          <p:cNvSpPr/>
          <p:nvPr/>
        </p:nvSpPr>
        <p:spPr>
          <a:xfrm>
            <a:off x="6537960" y="2542032"/>
            <a:ext cx="5102352" cy="1133856"/>
          </a:xfrm>
          <a:prstGeom prst="roundRect">
            <a:avLst>
              <a:gd name="adj" fmla="val 8065"/>
            </a:avLst>
          </a:prstGeom>
          <a:solidFill>
            <a:schemeClr val="bg1"/>
          </a:solidFill>
          <a:ln w="12700">
            <a:solidFill>
              <a:srgbClr val="D9E3DF"/>
            </a:solidFill>
            <a:prstDash val="solid"/>
          </a:ln>
        </p:spPr>
      </p:sp>
      <p:sp>
        <p:nvSpPr>
          <p:cNvPr id="14" name="badge-LuServerCrash"/>
          <p:cNvSpPr/>
          <p:nvPr/>
        </p:nvSpPr>
        <p:spPr>
          <a:xfrm>
            <a:off x="6739128" y="2788920"/>
            <a:ext cx="621792" cy="621792"/>
          </a:xfrm>
          <a:prstGeom prst="ellipse">
            <a:avLst/>
          </a:prstGeom>
          <a:solidFill>
            <a:schemeClr val="accent3"/>
          </a:solidFill>
          <a:ln w="12700">
            <a:solidFill>
              <a:schemeClr val="accent3"/>
            </a:solidFill>
            <a:prstDash val="solid"/>
          </a:ln>
        </p:spPr>
      </p:sp>
      <p:pic>
        <p:nvPicPr>
          <p:cNvPr id="15" name="icon-LuServerCrash" descr="LuServerCrash">    </p:cNvPr>
          <p:cNvPicPr>
            <a:picLocks noChangeAspect="1"/>
          </p:cNvPicPr>
          <p:nvPr/>
        </p:nvPicPr>
        <p:blipFill>
          <a:blip r:embed="rId2"/>
          <a:stretch>
            <a:fillRect/>
          </a:stretch>
        </p:blipFill>
        <p:spPr>
          <a:xfrm>
            <a:off x="6888358" y="2938150"/>
            <a:ext cx="323332" cy="323332"/>
          </a:xfrm>
          <a:prstGeom prst="rect">
            <a:avLst/>
          </a:prstGeom>
        </p:spPr>
      </p:pic>
      <p:sp>
        <p:nvSpPr>
          <p:cNvPr id="16" name="Text 12"/>
          <p:cNvSpPr txBox="1"/>
          <p:nvPr/>
        </p:nvSpPr>
        <p:spPr>
          <a:xfrm>
            <a:off x="7543800" y="2633472"/>
            <a:ext cx="3977640" cy="347472"/>
          </a:xfrm>
          <a:prstGeom prst="rect">
            <a:avLst/>
          </a:prstGeom>
          <a:noFill/>
          <a:ln/>
        </p:spPr>
        <p:txBody>
          <a:bodyPr wrap="square" lIns="0" tIns="0" rIns="0" bIns="0" rtlCol="0" anchor="t"/>
          <a:lstStyle/>
          <a:p>
            <a:pPr indent="0" marL="0">
              <a:buNone/>
            </a:pPr>
            <a:r>
              <a:rPr lang="en-US" sz="1550" b="1" dirty="0">
                <a:solidFill>
                  <a:schemeClr val="tx2"/>
                </a:solidFill>
              </a:rPr>
              <a:t>서버가 붐비면 30초 뒤 한 번 더</a:t>
            </a:r>
            <a:endParaRPr lang="en-US" sz="1550" dirty="0"/>
          </a:p>
        </p:txBody>
      </p:sp>
      <p:sp>
        <p:nvSpPr>
          <p:cNvPr id="17" name="Text 13"/>
          <p:cNvSpPr txBox="1"/>
          <p:nvPr/>
        </p:nvSpPr>
        <p:spPr>
          <a:xfrm>
            <a:off x="7543800" y="2971800"/>
            <a:ext cx="4005072" cy="658368"/>
          </a:xfrm>
          <a:prstGeom prst="rect">
            <a:avLst/>
          </a:prstGeom>
          <a:noFill/>
          <a:ln/>
        </p:spPr>
        <p:txBody>
          <a:bodyPr wrap="square" lIns="0" tIns="0" rIns="0" bIns="0" rtlCol="0" anchor="t"/>
          <a:lstStyle/>
          <a:p>
            <a:pPr indent="0" marL="0">
              <a:buNone/>
            </a:pPr>
            <a:r>
              <a:rPr lang="en-US" sz="1200" dirty="0">
                <a:solidFill>
                  <a:schemeClr val="tx1"/>
                </a:solidFill>
              </a:rPr>
              <a:t>529 · 서버 오류 · 연결 끊김 · 시간 초과는 노란 줄과 함께 다시 씁니다. w로 바로 써도 됩니다.</a:t>
            </a:r>
            <a:endParaRPr lang="en-US" sz="1200" dirty="0"/>
          </a:p>
        </p:txBody>
      </p:sp>
      <p:sp>
        <p:nvSpPr>
          <p:cNvPr id="18" name="outline"/>
          <p:cNvSpPr/>
          <p:nvPr/>
        </p:nvSpPr>
        <p:spPr>
          <a:xfrm>
            <a:off x="6537960" y="3758184"/>
            <a:ext cx="5102352" cy="1133856"/>
          </a:xfrm>
          <a:prstGeom prst="roundRect">
            <a:avLst>
              <a:gd name="adj" fmla="val 8065"/>
            </a:avLst>
          </a:prstGeom>
          <a:solidFill>
            <a:schemeClr val="bg1"/>
          </a:solidFill>
          <a:ln w="12700">
            <a:solidFill>
              <a:srgbClr val="D9E3DF"/>
            </a:solidFill>
            <a:prstDash val="solid"/>
          </a:ln>
        </p:spPr>
      </p:sp>
      <p:sp>
        <p:nvSpPr>
          <p:cNvPr id="19" name="badge-LuRotateCw"/>
          <p:cNvSpPr/>
          <p:nvPr/>
        </p:nvSpPr>
        <p:spPr>
          <a:xfrm>
            <a:off x="6739128" y="4005072"/>
            <a:ext cx="621792" cy="621792"/>
          </a:xfrm>
          <a:prstGeom prst="ellipse">
            <a:avLst/>
          </a:prstGeom>
          <a:solidFill>
            <a:schemeClr val="accent1"/>
          </a:solidFill>
          <a:ln w="12700">
            <a:solidFill>
              <a:schemeClr val="accent1"/>
            </a:solidFill>
            <a:prstDash val="solid"/>
          </a:ln>
        </p:spPr>
      </p:sp>
      <p:pic>
        <p:nvPicPr>
          <p:cNvPr id="20" name="icon-LuRotateCw" descr="LuRotateCw">    </p:cNvPr>
          <p:cNvPicPr>
            <a:picLocks noChangeAspect="1"/>
          </p:cNvPicPr>
          <p:nvPr/>
        </p:nvPicPr>
        <p:blipFill>
          <a:blip r:embed="rId3"/>
          <a:stretch>
            <a:fillRect/>
          </a:stretch>
        </p:blipFill>
        <p:spPr>
          <a:xfrm>
            <a:off x="6888358" y="4154302"/>
            <a:ext cx="323332" cy="323332"/>
          </a:xfrm>
          <a:prstGeom prst="rect">
            <a:avLst/>
          </a:prstGeom>
        </p:spPr>
      </p:pic>
      <p:sp>
        <p:nvSpPr>
          <p:cNvPr id="21" name="Text 16"/>
          <p:cNvSpPr txBox="1"/>
          <p:nvPr/>
        </p:nvSpPr>
        <p:spPr>
          <a:xfrm>
            <a:off x="7543800" y="3849624"/>
            <a:ext cx="3977640" cy="347472"/>
          </a:xfrm>
          <a:prstGeom prst="rect">
            <a:avLst/>
          </a:prstGeom>
          <a:noFill/>
          <a:ln/>
        </p:spPr>
        <p:txBody>
          <a:bodyPr wrap="square" lIns="0" tIns="0" rIns="0" bIns="0" rtlCol="0" anchor="t"/>
          <a:lstStyle/>
          <a:p>
            <a:pPr indent="0" marL="0">
              <a:buNone/>
            </a:pPr>
            <a:r>
              <a:rPr lang="en-US" sz="1550" b="1" dirty="0">
                <a:solidFill>
                  <a:schemeClr val="tx2"/>
                </a:solidFill>
              </a:rPr>
              <a:t>다시 불러와도 이어서</a:t>
            </a:r>
            <a:endParaRPr lang="en-US" sz="1550" dirty="0"/>
          </a:p>
        </p:txBody>
      </p:sp>
      <p:sp>
        <p:nvSpPr>
          <p:cNvPr id="22" name="Text 17"/>
          <p:cNvSpPr txBox="1"/>
          <p:nvPr/>
        </p:nvSpPr>
        <p:spPr>
          <a:xfrm>
            <a:off x="7543800" y="4187952"/>
            <a:ext cx="4005072" cy="658368"/>
          </a:xfrm>
          <a:prstGeom prst="rect">
            <a:avLst/>
          </a:prstGeom>
          <a:noFill/>
          <a:ln/>
        </p:spPr>
        <p:txBody>
          <a:bodyPr wrap="square" lIns="0" tIns="0" rIns="0" bIns="0" rtlCol="0" anchor="t"/>
          <a:lstStyle/>
          <a:p>
            <a:pPr indent="0" marL="0">
              <a:buNone/>
            </a:pPr>
            <a:r>
              <a:rPr lang="en-US" sz="1200" dirty="0">
                <a:solidFill>
                  <a:schemeClr val="tx1"/>
                </a:solidFill>
              </a:rPr>
              <a:t>/reload-plugins나 /config 변경으로 끊긴 노트는 10분 안이면 저절로 이어 씁니다. 끊긴 다시 쓰기(w)는 원래 노트로 돌아옵니다.</a:t>
            </a:r>
            <a:endParaRPr lang="en-US" sz="1200" dirty="0"/>
          </a:p>
        </p:txBody>
      </p:sp>
      <p:sp>
        <p:nvSpPr>
          <p:cNvPr id="23" name="outline"/>
          <p:cNvSpPr/>
          <p:nvPr/>
        </p:nvSpPr>
        <p:spPr>
          <a:xfrm>
            <a:off x="6537960" y="4974336"/>
            <a:ext cx="5102352" cy="1133856"/>
          </a:xfrm>
          <a:prstGeom prst="roundRect">
            <a:avLst>
              <a:gd name="adj" fmla="val 8065"/>
            </a:avLst>
          </a:prstGeom>
          <a:solidFill>
            <a:schemeClr val="bg1"/>
          </a:solidFill>
          <a:ln w="12700">
            <a:solidFill>
              <a:srgbClr val="D9E3DF"/>
            </a:solidFill>
            <a:prstDash val="solid"/>
          </a:ln>
        </p:spPr>
      </p:sp>
      <p:sp>
        <p:nvSpPr>
          <p:cNvPr id="24" name="badge-LuGauge"/>
          <p:cNvSpPr/>
          <p:nvPr/>
        </p:nvSpPr>
        <p:spPr>
          <a:xfrm>
            <a:off x="6739128" y="5221224"/>
            <a:ext cx="621792" cy="621792"/>
          </a:xfrm>
          <a:prstGeom prst="ellipse">
            <a:avLst/>
          </a:prstGeom>
          <a:solidFill>
            <a:schemeClr val="accent4"/>
          </a:solidFill>
          <a:ln w="12700">
            <a:solidFill>
              <a:schemeClr val="accent4"/>
            </a:solidFill>
            <a:prstDash val="solid"/>
          </a:ln>
        </p:spPr>
      </p:sp>
      <p:pic>
        <p:nvPicPr>
          <p:cNvPr id="25" name="icon-LuGauge" descr="LuGauge">    </p:cNvPr>
          <p:cNvPicPr>
            <a:picLocks noChangeAspect="1"/>
          </p:cNvPicPr>
          <p:nvPr/>
        </p:nvPicPr>
        <p:blipFill>
          <a:blip r:embed="rId4"/>
          <a:stretch>
            <a:fillRect/>
          </a:stretch>
        </p:blipFill>
        <p:spPr>
          <a:xfrm>
            <a:off x="6888358" y="5370454"/>
            <a:ext cx="323332" cy="323332"/>
          </a:xfrm>
          <a:prstGeom prst="rect">
            <a:avLst/>
          </a:prstGeom>
        </p:spPr>
      </p:pic>
      <p:sp>
        <p:nvSpPr>
          <p:cNvPr id="26" name="Text 20"/>
          <p:cNvSpPr txBox="1"/>
          <p:nvPr/>
        </p:nvSpPr>
        <p:spPr>
          <a:xfrm>
            <a:off x="7543800" y="5065776"/>
            <a:ext cx="3977640" cy="347472"/>
          </a:xfrm>
          <a:prstGeom prst="rect">
            <a:avLst/>
          </a:prstGeom>
          <a:noFill/>
          <a:ln/>
        </p:spPr>
        <p:txBody>
          <a:bodyPr wrap="square" lIns="0" tIns="0" rIns="0" bIns="0" rtlCol="0" anchor="t"/>
          <a:lstStyle/>
          <a:p>
            <a:pPr indent="0" marL="0">
              <a:buNone/>
            </a:pPr>
            <a:r>
              <a:rPr lang="en-US" sz="1550" b="1" dirty="0">
                <a:solidFill>
                  <a:schemeClr val="tx2"/>
                </a:solidFill>
              </a:rPr>
              <a:t>계정 한도 가까우면 양보</a:t>
            </a:r>
            <a:endParaRPr lang="en-US" sz="1550" dirty="0"/>
          </a:p>
        </p:txBody>
      </p:sp>
      <p:sp>
        <p:nvSpPr>
          <p:cNvPr id="27" name="Text 21"/>
          <p:cNvSpPr txBox="1"/>
          <p:nvPr/>
        </p:nvSpPr>
        <p:spPr>
          <a:xfrm>
            <a:off x="7543800" y="5404104"/>
            <a:ext cx="4005072" cy="658368"/>
          </a:xfrm>
          <a:prstGeom prst="rect">
            <a:avLst/>
          </a:prstGeom>
          <a:noFill/>
          <a:ln/>
        </p:spPr>
        <p:txBody>
          <a:bodyPr wrap="square" lIns="0" tIns="0" rIns="0" bIns="0" rtlCol="0" anchor="t"/>
          <a:lstStyle/>
          <a:p>
            <a:pPr indent="0" marL="0">
              <a:buNone/>
            </a:pPr>
            <a:r>
              <a:rPr lang="en-US" sz="1200" dirty="0">
                <a:solidFill>
                  <a:schemeClr val="tx1"/>
                </a:solidFill>
              </a:rPr>
              <a:t>구독 계정의 5시간 창 90%, 7일 창 95%를 넘으면 자동 노트를 미룹니다. w로 쓸 수 있습니다.</a:t>
            </a:r>
            <a:endParaRPr lang="en-US" sz="12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p:nvPr>
            <p:ph idx="100" type="title" hasCustomPrompt="1"/>
          </p:nvPr>
        </p:nvSpPr>
        <p:spPr>
          <a:xfrm>
            <a:off x="548640" y="365760"/>
            <a:ext cx="11064240" cy="731520"/>
          </a:xfrm>
          <a:prstGeom prst="rect">
            <a:avLst/>
          </a:prstGeom>
          <a:noFill/>
          <a:ln/>
        </p:spPr>
        <p:txBody>
          <a:bodyPr wrap="square" lIns="0" tIns="0" rIns="0" bIns="0" rtlCol="0" anchor="ctr"/>
          <a:lstStyle/>
          <a:p>
            <a:pPr algn="l" indent="0" marL="0">
              <a:buNone/>
            </a:pPr>
            <a:r>
              <a:rPr lang="en-US" sz="3000" b="1" dirty="0">
                <a:solidFill>
                  <a:schemeClr val="tx2"/>
                </a:solidFill>
              </a:rPr>
              <a:t>비용 · 개인정보 · 문제 해결</a:t>
            </a:r>
            <a:endParaRPr lang="en-US" sz="3000" dirty="0"/>
          </a:p>
        </p:txBody>
      </p:sp>
      <p:sp>
        <p:nvSpPr>
          <p:cNvPr id="3" name="card"/>
          <p:cNvSpPr/>
          <p:nvPr/>
        </p:nvSpPr>
        <p:spPr>
          <a:xfrm>
            <a:off x="548640" y="1417320"/>
            <a:ext cx="3502152" cy="4663440"/>
          </a:xfrm>
          <a:prstGeom prst="roundRect">
            <a:avLst>
              <a:gd name="adj" fmla="val 2611"/>
            </a:avLst>
          </a:prstGeom>
          <a:solidFill>
            <a:schemeClr val="bg2"/>
          </a:solidFill>
          <a:ln w="9525">
            <a:solidFill>
              <a:schemeClr val="bg2"/>
            </a:solidFill>
            <a:prstDash val="solid"/>
          </a:ln>
        </p:spPr>
      </p:sp>
      <p:sp>
        <p:nvSpPr>
          <p:cNvPr id="4" name="badge-LuCoins"/>
          <p:cNvSpPr/>
          <p:nvPr/>
        </p:nvSpPr>
        <p:spPr>
          <a:xfrm>
            <a:off x="822960" y="1691640"/>
            <a:ext cx="731520" cy="731520"/>
          </a:xfrm>
          <a:prstGeom prst="ellipse">
            <a:avLst/>
          </a:prstGeom>
          <a:solidFill>
            <a:schemeClr val="accent2"/>
          </a:solidFill>
          <a:ln w="12700">
            <a:solidFill>
              <a:schemeClr val="accent2"/>
            </a:solidFill>
            <a:prstDash val="solid"/>
          </a:ln>
        </p:spPr>
      </p:sp>
      <p:pic>
        <p:nvPicPr>
          <p:cNvPr id="5" name="icon-LuCoins" descr="LuCoins">    </p:cNvPr>
          <p:cNvPicPr>
            <a:picLocks noChangeAspect="1"/>
          </p:cNvPicPr>
          <p:nvPr/>
        </p:nvPicPr>
        <p:blipFill>
          <a:blip r:embed="rId1"/>
          <a:stretch>
            <a:fillRect/>
          </a:stretch>
        </p:blipFill>
        <p:spPr>
          <a:xfrm>
            <a:off x="998525" y="1867205"/>
            <a:ext cx="380390" cy="380390"/>
          </a:xfrm>
          <a:prstGeom prst="rect">
            <a:avLst/>
          </a:prstGeom>
        </p:spPr>
      </p:pic>
      <p:sp>
        <p:nvSpPr>
          <p:cNvPr id="6" name="Text 3"/>
          <p:cNvSpPr txBox="1"/>
          <p:nvPr/>
        </p:nvSpPr>
        <p:spPr>
          <a:xfrm>
            <a:off x="822960" y="2606040"/>
            <a:ext cx="3017520" cy="457200"/>
          </a:xfrm>
          <a:prstGeom prst="rect">
            <a:avLst/>
          </a:prstGeom>
          <a:noFill/>
          <a:ln/>
        </p:spPr>
        <p:txBody>
          <a:bodyPr wrap="square" lIns="0" tIns="0" rIns="0" bIns="0" rtlCol="0" anchor="t"/>
          <a:lstStyle/>
          <a:p>
            <a:pPr indent="0" marL="0">
              <a:buNone/>
            </a:pPr>
            <a:r>
              <a:rPr lang="en-US" sz="1900" b="1" dirty="0">
                <a:solidFill>
                  <a:schemeClr val="tx2"/>
                </a:solidFill>
              </a:rPr>
              <a:t>비용</a:t>
            </a:r>
            <a:endParaRPr lang="en-US" sz="1900" dirty="0"/>
          </a:p>
        </p:txBody>
      </p:sp>
      <p:sp>
        <p:nvSpPr>
          <p:cNvPr id="7" name="Text 4"/>
          <p:cNvSpPr txBox="1"/>
          <p:nvPr/>
        </p:nvSpPr>
        <p:spPr>
          <a:xfrm>
            <a:off x="822960" y="3154680"/>
            <a:ext cx="3017520"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파일을 바꾼 턴마다 1번 (기본 haiku)</a:t>
            </a:r>
            <a:endParaRPr lang="en-US" sz="1300" dirty="0"/>
          </a:p>
          <a:p>
            <a:pPr marL="342900" indent="-342900">
              <a:spcAft>
                <a:spcPts val="600"/>
              </a:spcAft>
              <a:buSzPct val="100000"/>
              <a:buChar char="•"/>
            </a:pPr>
            <a:r>
              <a:rPr lang="en-US" sz="1300" dirty="0">
                <a:solidFill>
                  <a:schemeClr val="tx1"/>
                </a:solidFill>
              </a:rPr>
              <a:t>퀴즈 · 채점 · 질문 · 정리는 할 때마다 1번</a:t>
            </a:r>
            <a:endParaRPr lang="en-US" sz="1300" dirty="0"/>
          </a:p>
          <a:p>
            <a:pPr marL="342900" indent="-342900">
              <a:spcAft>
                <a:spcPts val="600"/>
              </a:spcAft>
              <a:buSzPct val="100000"/>
              <a:buChar char="•"/>
            </a:pPr>
            <a:r>
              <a:rPr lang="en-US" sz="1300" dirty="0">
                <a:solidFill>
                  <a:schemeClr val="tx1"/>
                </a:solidFill>
              </a:rPr>
              <a:t>첫 오답은 두 번째 채점 1번 더</a:t>
            </a:r>
            <a:endParaRPr lang="en-US" sz="1300" dirty="0"/>
          </a:p>
          <a:p>
            <a:pPr marL="342900" indent="-342900">
              <a:spcAft>
                <a:spcPts val="600"/>
              </a:spcAft>
              <a:buSzPct val="100000"/>
              <a:buChar char="•"/>
            </a:pPr>
            <a:r>
              <a:rPr lang="en-US" sz="1300" dirty="0">
                <a:solidFill>
                  <a:schemeClr val="tx1"/>
                </a:solidFill>
              </a:rPr>
              <a:t>모르겠어요 · 힌트 · c · 기록 · 진단 · 모으기는 0번</a:t>
            </a:r>
            <a:endParaRPr lang="en-US" sz="1300" dirty="0"/>
          </a:p>
          <a:p>
            <a:pPr marL="342900" indent="-342900">
              <a:spcAft>
                <a:spcPts val="600"/>
              </a:spcAft>
              <a:buSzPct val="100000"/>
              <a:buChar char="•"/>
            </a:pPr>
            <a:r>
              <a:rPr lang="en-US" sz="1300" dirty="0">
                <a:solidFill>
                  <a:schemeClr val="tx1"/>
                </a:solidFill>
              </a:rPr>
              <a:t>하루 한도는 dailyAutoNotes, 사용량은 /learn 기록</a:t>
            </a:r>
            <a:endParaRPr lang="en-US" sz="1300" dirty="0"/>
          </a:p>
        </p:txBody>
      </p:sp>
      <p:sp>
        <p:nvSpPr>
          <p:cNvPr id="8" name="card"/>
          <p:cNvSpPr/>
          <p:nvPr/>
        </p:nvSpPr>
        <p:spPr>
          <a:xfrm>
            <a:off x="4343400" y="1417320"/>
            <a:ext cx="3502152" cy="4663440"/>
          </a:xfrm>
          <a:prstGeom prst="roundRect">
            <a:avLst>
              <a:gd name="adj" fmla="val 2611"/>
            </a:avLst>
          </a:prstGeom>
          <a:solidFill>
            <a:schemeClr val="bg2"/>
          </a:solidFill>
          <a:ln w="9525">
            <a:solidFill>
              <a:schemeClr val="bg2"/>
            </a:solidFill>
            <a:prstDash val="solid"/>
          </a:ln>
        </p:spPr>
      </p:sp>
      <p:sp>
        <p:nvSpPr>
          <p:cNvPr id="9" name="badge-LuShieldCheck"/>
          <p:cNvSpPr/>
          <p:nvPr/>
        </p:nvSpPr>
        <p:spPr>
          <a:xfrm>
            <a:off x="4617720" y="1691640"/>
            <a:ext cx="731520" cy="731520"/>
          </a:xfrm>
          <a:prstGeom prst="ellipse">
            <a:avLst/>
          </a:prstGeom>
          <a:solidFill>
            <a:schemeClr val="accent1"/>
          </a:solidFill>
          <a:ln w="12700">
            <a:solidFill>
              <a:schemeClr val="accent1"/>
            </a:solidFill>
            <a:prstDash val="solid"/>
          </a:ln>
        </p:spPr>
      </p:sp>
      <p:pic>
        <p:nvPicPr>
          <p:cNvPr id="10" name="icon-LuShieldCheck" descr="LuShieldCheck">    </p:cNvPr>
          <p:cNvPicPr>
            <a:picLocks noChangeAspect="1"/>
          </p:cNvPicPr>
          <p:nvPr/>
        </p:nvPicPr>
        <p:blipFill>
          <a:blip r:embed="rId2"/>
          <a:stretch>
            <a:fillRect/>
          </a:stretch>
        </p:blipFill>
        <p:spPr>
          <a:xfrm>
            <a:off x="4793285" y="1867205"/>
            <a:ext cx="380390" cy="380390"/>
          </a:xfrm>
          <a:prstGeom prst="rect">
            <a:avLst/>
          </a:prstGeom>
        </p:spPr>
      </p:pic>
      <p:sp>
        <p:nvSpPr>
          <p:cNvPr id="11" name="Text 7"/>
          <p:cNvSpPr txBox="1"/>
          <p:nvPr/>
        </p:nvSpPr>
        <p:spPr>
          <a:xfrm>
            <a:off x="4617720" y="2606040"/>
            <a:ext cx="3017520" cy="457200"/>
          </a:xfrm>
          <a:prstGeom prst="rect">
            <a:avLst/>
          </a:prstGeom>
          <a:noFill/>
          <a:ln/>
        </p:spPr>
        <p:txBody>
          <a:bodyPr wrap="square" lIns="0" tIns="0" rIns="0" bIns="0" rtlCol="0" anchor="t"/>
          <a:lstStyle/>
          <a:p>
            <a:pPr indent="0" marL="0">
              <a:buNone/>
            </a:pPr>
            <a:r>
              <a:rPr lang="en-US" sz="1900" b="1" dirty="0">
                <a:solidFill>
                  <a:schemeClr val="tx2"/>
                </a:solidFill>
              </a:rPr>
              <a:t>개인정보</a:t>
            </a:r>
            <a:endParaRPr lang="en-US" sz="1900" dirty="0"/>
          </a:p>
        </p:txBody>
      </p:sp>
      <p:sp>
        <p:nvSpPr>
          <p:cNvPr id="12" name="Text 8"/>
          <p:cNvSpPr txBox="1"/>
          <p:nvPr/>
        </p:nvSpPr>
        <p:spPr>
          <a:xfrm>
            <a:off x="4617720" y="3154680"/>
            <a:ext cx="3017520"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바뀐 코드와 요청이 지금 계정의 모델 호출에 실림</a:t>
            </a:r>
            <a:endParaRPr lang="en-US" sz="1300" dirty="0"/>
          </a:p>
          <a:p>
            <a:pPr marL="342900" indent="-342900">
              <a:spcAft>
                <a:spcPts val="600"/>
              </a:spcAft>
              <a:buSzPct val="100000"/>
              <a:buChar char="•"/>
            </a:pPr>
            <a:r>
              <a:rPr lang="en-US" sz="1300" dirty="0">
                <a:solidFill>
                  <a:schemeClr val="tx1"/>
                </a:solidFill>
              </a:rPr>
              <a:t>.env · 키 · 잠금 파일은 이름만, 흔한 키 형식은 «가림»</a:t>
            </a:r>
            <a:endParaRPr lang="en-US" sz="1300" dirty="0"/>
          </a:p>
          <a:p>
            <a:pPr marL="342900" indent="-342900">
              <a:spcAft>
                <a:spcPts val="600"/>
              </a:spcAft>
              <a:buSzPct val="100000"/>
              <a:buChar char="•"/>
            </a:pPr>
            <a:r>
              <a:rPr lang="en-US" sz="1300" dirty="0">
                <a:solidFill>
                  <a:schemeClr val="tx1"/>
                </a:solidFill>
              </a:rPr>
              <a:t>팀 용어 코드는 가린 뒤 퀴즈에, 설정 파일은 읽지 않음</a:t>
            </a:r>
            <a:endParaRPr lang="en-US" sz="1300" dirty="0"/>
          </a:p>
          <a:p>
            <a:pPr marL="342900" indent="-342900">
              <a:spcAft>
                <a:spcPts val="600"/>
              </a:spcAft>
              <a:buSzPct val="100000"/>
              <a:buChar char="•"/>
            </a:pPr>
            <a:r>
              <a:rPr lang="en-US" sz="1300" dirty="0">
                <a:solidFill>
                  <a:schemeClr val="tx1"/>
                </a:solidFill>
              </a:rPr>
              <a:t>모으기는 적은 파일 하나만 읽고 아무것도 쓰지 않음</a:t>
            </a:r>
            <a:endParaRPr lang="en-US" sz="1300" dirty="0"/>
          </a:p>
          <a:p>
            <a:pPr marL="342900" indent="-342900">
              <a:spcAft>
                <a:spcPts val="600"/>
              </a:spcAft>
              <a:buSzPct val="100000"/>
              <a:buChar char="•"/>
            </a:pPr>
            <a:r>
              <a:rPr lang="en-US" sz="1300" dirty="0">
                <a:solidFill>
                  <a:schemeClr val="tx1"/>
                </a:solidFill>
              </a:rPr>
              <a:t>노트 · 일지 · 기록은 내 컴퓨터에만</a:t>
            </a:r>
            <a:endParaRPr lang="en-US" sz="1300" dirty="0"/>
          </a:p>
        </p:txBody>
      </p:sp>
      <p:sp>
        <p:nvSpPr>
          <p:cNvPr id="13" name="card"/>
          <p:cNvSpPr/>
          <p:nvPr/>
        </p:nvSpPr>
        <p:spPr>
          <a:xfrm>
            <a:off x="8138160" y="1417320"/>
            <a:ext cx="3502152" cy="4663440"/>
          </a:xfrm>
          <a:prstGeom prst="roundRect">
            <a:avLst>
              <a:gd name="adj" fmla="val 2611"/>
            </a:avLst>
          </a:prstGeom>
          <a:solidFill>
            <a:schemeClr val="bg2"/>
          </a:solidFill>
          <a:ln w="9525">
            <a:solidFill>
              <a:schemeClr val="bg2"/>
            </a:solidFill>
            <a:prstDash val="solid"/>
          </a:ln>
        </p:spPr>
      </p:sp>
      <p:sp>
        <p:nvSpPr>
          <p:cNvPr id="14" name="badge-LuWrench"/>
          <p:cNvSpPr/>
          <p:nvPr/>
        </p:nvSpPr>
        <p:spPr>
          <a:xfrm>
            <a:off x="8412480" y="1691640"/>
            <a:ext cx="731520" cy="731520"/>
          </a:xfrm>
          <a:prstGeom prst="ellipse">
            <a:avLst/>
          </a:prstGeom>
          <a:solidFill>
            <a:schemeClr val="accent4"/>
          </a:solidFill>
          <a:ln w="12700">
            <a:solidFill>
              <a:schemeClr val="accent4"/>
            </a:solidFill>
            <a:prstDash val="solid"/>
          </a:ln>
        </p:spPr>
      </p:sp>
      <p:pic>
        <p:nvPicPr>
          <p:cNvPr id="15" name="icon-LuWrench" descr="LuWrench">    </p:cNvPr>
          <p:cNvPicPr>
            <a:picLocks noChangeAspect="1"/>
          </p:cNvPicPr>
          <p:nvPr/>
        </p:nvPicPr>
        <p:blipFill>
          <a:blip r:embed="rId3"/>
          <a:stretch>
            <a:fillRect/>
          </a:stretch>
        </p:blipFill>
        <p:spPr>
          <a:xfrm>
            <a:off x="8588045" y="1867205"/>
            <a:ext cx="380390" cy="380390"/>
          </a:xfrm>
          <a:prstGeom prst="rect">
            <a:avLst/>
          </a:prstGeom>
        </p:spPr>
      </p:pic>
      <p:sp>
        <p:nvSpPr>
          <p:cNvPr id="16" name="Text 11"/>
          <p:cNvSpPr txBox="1"/>
          <p:nvPr/>
        </p:nvSpPr>
        <p:spPr>
          <a:xfrm>
            <a:off x="8412480" y="2606040"/>
            <a:ext cx="3017520" cy="457200"/>
          </a:xfrm>
          <a:prstGeom prst="rect">
            <a:avLst/>
          </a:prstGeom>
          <a:noFill/>
          <a:ln/>
        </p:spPr>
        <p:txBody>
          <a:bodyPr wrap="square" lIns="0" tIns="0" rIns="0" bIns="0" rtlCol="0" anchor="t"/>
          <a:lstStyle/>
          <a:p>
            <a:pPr indent="0" marL="0">
              <a:buNone/>
            </a:pPr>
            <a:r>
              <a:rPr lang="en-US" sz="1900" b="1" dirty="0">
                <a:solidFill>
                  <a:schemeClr val="tx2"/>
                </a:solidFill>
              </a:rPr>
              <a:t>노트가 안 생기면</a:t>
            </a:r>
            <a:endParaRPr lang="en-US" sz="1900" dirty="0"/>
          </a:p>
        </p:txBody>
      </p:sp>
      <p:sp>
        <p:nvSpPr>
          <p:cNvPr id="17" name="Text 12"/>
          <p:cNvSpPr txBox="1"/>
          <p:nvPr/>
        </p:nvSpPr>
        <p:spPr>
          <a:xfrm>
            <a:off x="8412480" y="3154680"/>
            <a:ext cx="3017520" cy="278892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chemeClr val="tx1"/>
                </a:solidFill>
              </a:rPr>
              <a:t>먼저 /learn 진단을 담당자에게</a:t>
            </a:r>
            <a:endParaRPr lang="en-US" sz="1300" dirty="0"/>
          </a:p>
          <a:p>
            <a:pPr marL="342900" indent="-342900">
              <a:spcAft>
                <a:spcPts val="600"/>
              </a:spcAft>
              <a:buSzPct val="100000"/>
              <a:buChar char="•"/>
            </a:pPr>
            <a:r>
              <a:rPr lang="en-US" sz="1300" dirty="0">
                <a:solidFill>
                  <a:schemeClr val="tx1"/>
                </a:solidFill>
              </a:rPr>
              <a:t>그 턴에 파일이 바뀌었나요?</a:t>
            </a:r>
            <a:endParaRPr lang="en-US" sz="1300" dirty="0"/>
          </a:p>
          <a:p>
            <a:pPr marL="342900" indent="-342900">
              <a:spcAft>
                <a:spcPts val="600"/>
              </a:spcAft>
              <a:buSzPct val="100000"/>
              <a:buChar char="•"/>
            </a:pPr>
            <a:r>
              <a:rPr lang="en-US" sz="1300" dirty="0">
                <a:solidFill>
                  <a:schemeClr val="tx1"/>
                </a:solidFill>
              </a:rPr>
              <a:t>패널을 열었나요? (/learn, 전체 화면)</a:t>
            </a:r>
            <a:endParaRPr lang="en-US" sz="1300" dirty="0"/>
          </a:p>
          <a:p>
            <a:pPr marL="342900" indent="-342900">
              <a:spcAft>
                <a:spcPts val="600"/>
              </a:spcAft>
              <a:buSzPct val="100000"/>
              <a:buChar char="•"/>
            </a:pPr>
            <a:r>
              <a:rPr lang="en-US" sz="1300" dirty="0">
                <a:solidFill>
                  <a:schemeClr val="tx1"/>
                </a:solidFill>
              </a:rPr>
              <a:t>키가 안 먹으면 한/영을 영문으로</a:t>
            </a:r>
            <a:endParaRPr lang="en-US" sz="1300" dirty="0"/>
          </a:p>
          <a:p>
            <a:pPr marL="342900" indent="-342900">
              <a:spcAft>
                <a:spcPts val="600"/>
              </a:spcAft>
              <a:buSzPct val="100000"/>
              <a:buChar char="•"/>
            </a:pPr>
            <a:r>
              <a:rPr lang="en-US" sz="1300" dirty="0">
                <a:solidFill>
                  <a:schemeClr val="tx1"/>
                </a:solidFill>
              </a:rPr>
              <a:t>노란 줄은 기다리는 중, 빨간 줄은 이유와 할 일</a:t>
            </a:r>
            <a:endParaRPr lang="en-US" sz="1300" dirty="0"/>
          </a:p>
        </p:txBody>
      </p:sp>
      <p:sp>
        <p:nvSpPr>
          <p:cNvPr id="25" name="Slide Number Placeholder 0"/>
          <p:cNvSpPr>
            <a:spLocks noGrp="1"/>
          </p:cNvSpPr>
          <p:nvPr>
            <p:ph type="sldNum" sz="quarter" idx="4294967295"/>
          </p:nvPr>
        </p:nvSpPr>
        <p:spPr>
          <a:xfrm>
            <a:off x="11183112" y="640080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A9E"/>
                </a:solidFill>
              </a:defRPr>
            </a:lvl1pPr>
          </a:lstStyle>
          <a:p>
            <a:pPr algn="r"/>
            <a:fld id="{F7021451-1387-4CA6-816F-3879F97B5CBC}" type="slidenum">
              <a:rPr b="0" lang="en-US"/>
              <a:t>28</a:t>
            </a:fld>
            <a:endParaRPr lang="en-US"/>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1234440"/>
            <a:ext cx="5486400" cy="365760"/>
          </a:xfrm>
          <a:prstGeom prst="rect">
            <a:avLst/>
          </a:prstGeom>
          <a:noFill/>
          <a:ln/>
        </p:spPr>
        <p:txBody>
          <a:bodyPr wrap="square" lIns="0" tIns="0" rIns="0" bIns="0" rtlCol="0" anchor="t"/>
          <a:lstStyle/>
          <a:p>
            <a:pPr indent="0" marL="0">
              <a:buNone/>
            </a:pPr>
            <a:r>
              <a:rPr lang="en-US" sz="1300" b="1" spc="200" kern="0" dirty="0">
                <a:solidFill>
                  <a:schemeClr val="accent6"/>
                </a:solidFill>
              </a:rPr>
              <a:t>오늘부터</a:t>
            </a:r>
            <a:endParaRPr lang="en-US" sz="1300" dirty="0"/>
          </a:p>
        </p:txBody>
      </p:sp>
      <p:sp>
        <p:nvSpPr>
          <p:cNvPr id="3" name="Text 0"/>
          <p:cNvSpPr/>
          <p:nvPr>
            <p:ph idx="100" type="title" hasCustomPrompt="1"/>
          </p:nvPr>
        </p:nvSpPr>
        <p:spPr>
          <a:xfrm>
            <a:off x="640080" y="1874520"/>
            <a:ext cx="6583680" cy="1828800"/>
          </a:xfrm>
          <a:prstGeom prst="rect">
            <a:avLst/>
          </a:prstGeom>
          <a:noFill/>
          <a:ln/>
        </p:spPr>
        <p:txBody>
          <a:bodyPr wrap="square" lIns="0" tIns="0" rIns="0" bIns="0" rtlCol="0" anchor="t"/>
          <a:lstStyle/>
          <a:p>
            <a:pPr algn="l" indent="0" marL="0">
              <a:buNone/>
            </a:pPr>
            <a:r>
              <a:rPr lang="en-US" sz="4000" b="1" dirty="0">
                <a:solidFill>
                  <a:schemeClr val="bg1"/>
                </a:solidFill>
              </a:rPr>
              <a:t>첫 요청부터</a:t>
            </a:r>
            <a:endParaRPr lang="en-US" sz="4000" dirty="0"/>
          </a:p>
          <a:p>
            <a:pPr algn="l" indent="0" marL="0">
              <a:buNone/>
            </a:pPr>
            <a:r>
              <a:rPr lang="en-US" sz="4000" b="1" dirty="0">
                <a:solidFill>
                  <a:schemeClr val="accent6"/>
                </a:solidFill>
              </a:rPr>
              <a:t>노트가 쌓입니다</a:t>
            </a:r>
            <a:endParaRPr lang="en-US" sz="4000" dirty="0"/>
          </a:p>
        </p:txBody>
      </p:sp>
      <p:sp>
        <p:nvSpPr>
          <p:cNvPr id="4" name="Text 0"/>
          <p:cNvSpPr/>
          <p:nvPr>
            <p:ph idx="101" type="body" hasCustomPrompt="1"/>
          </p:nvPr>
        </p:nvSpPr>
        <p:spPr>
          <a:xfrm>
            <a:off x="640080" y="3931920"/>
            <a:ext cx="6309360" cy="1371600"/>
          </a:xfrm>
          <a:prstGeom prst="rect">
            <a:avLst/>
          </a:prstGeom>
          <a:noFill/>
          <a:ln/>
        </p:spPr>
        <p:txBody>
          <a:bodyPr wrap="square" lIns="0" tIns="0" rIns="0" bIns="0" rtlCol="0" anchor="t"/>
          <a:lstStyle/>
          <a:p>
            <a:pPr algn="l" indent="0" marL="0">
              <a:buNone/>
            </a:pPr>
            <a:r>
              <a:rPr lang="en-US" sz="1600" dirty="0">
                <a:solidFill>
                  <a:schemeClr val="accent6"/>
                </a:solidFill>
              </a:rPr>
              <a:t>설치 · 소스 · 문의: github.com/Owen-YC/learn-notes</a:t>
            </a:r>
            <a:endParaRPr lang="en-US" sz="1600" dirty="0"/>
          </a:p>
          <a:p>
            <a:pPr algn="l" indent="0" marL="0">
              <a:buNone/>
            </a:pPr>
            <a:r>
              <a:rPr lang="en-US" sz="1600" dirty="0">
                <a:solidFill>
                  <a:schemeClr val="accent6"/>
                </a:solidFill>
              </a:rPr>
              <a:t>질문과 제안은 GitHub Issues나 팀 채널로 남겨 주세요.</a:t>
            </a:r>
            <a:endParaRPr lang="en-US" sz="1600" dirty="0"/>
          </a:p>
        </p:txBody>
      </p:sp>
      <p:sp>
        <p:nvSpPr>
          <p:cNvPr id="5" name="code"/>
          <p:cNvSpPr/>
          <p:nvPr/>
        </p:nvSpPr>
        <p:spPr>
          <a:xfrm>
            <a:off x="640080" y="5394960"/>
            <a:ext cx="6309360" cy="868680"/>
          </a:xfrm>
          <a:prstGeom prst="roundRect">
            <a:avLst>
              <a:gd name="adj" fmla="val 8421"/>
            </a:avLst>
          </a:prstGeom>
          <a:solidFill>
            <a:srgbClr val="0D1110"/>
          </a:solidFill>
          <a:ln w="12700">
            <a:solidFill>
              <a:srgbClr val="0D1110"/>
            </a:solidFill>
            <a:prstDash val="solid"/>
          </a:ln>
        </p:spPr>
      </p:sp>
      <p:sp>
        <p:nvSpPr>
          <p:cNvPr id="6" name="Text 4"/>
          <p:cNvSpPr txBox="1"/>
          <p:nvPr/>
        </p:nvSpPr>
        <p:spPr>
          <a:xfrm>
            <a:off x="914400" y="5394960"/>
            <a:ext cx="5852160" cy="868680"/>
          </a:xfrm>
          <a:prstGeom prst="rect">
            <a:avLst/>
          </a:prstGeom>
          <a:noFill/>
          <a:ln/>
        </p:spPr>
        <p:txBody>
          <a:bodyPr wrap="square" lIns="0" tIns="0" rIns="0" bIns="0" rtlCol="0" anchor="ctr"/>
          <a:lstStyle/>
          <a:p>
            <a:pPr indent="0" marL="0">
              <a:buNone/>
            </a:pPr>
            <a:r>
              <a:rPr lang="en-US" sz="1300" dirty="0">
                <a:solidFill>
                  <a:srgbClr val="D6DDD6"/>
                </a:solidFill>
                <a:latin typeface="Courier New" pitchFamily="34" charset="0"/>
                <a:ea typeface="Courier New" pitchFamily="34" charset="-122"/>
                <a:cs typeface="Courier New" pitchFamily="34" charset="-120"/>
              </a:rPr>
              <a:t>/plugin marketplace add Owen-YC/learn-notes</a:t>
            </a:r>
            <a:endParaRPr lang="en-US" sz="1300" dirty="0"/>
          </a:p>
          <a:p>
            <a:pPr indent="0" marL="0">
              <a:buNone/>
            </a:pPr>
            <a:r>
              <a:rPr lang="en-US" sz="1300" dirty="0">
                <a:solidFill>
                  <a:srgbClr val="D6DDD6"/>
                </a:solidFill>
                <a:latin typeface="Courier New" pitchFamily="34" charset="0"/>
                <a:ea typeface="Courier New" pitchFamily="34" charset="-122"/>
                <a:cs typeface="Courier New" pitchFamily="34" charset="-120"/>
              </a:rPr>
              <a:t>/plugin install learn-notes@learn-notes</a:t>
            </a:r>
            <a:endParaRPr lang="en-US" sz="1300" dirty="0"/>
          </a:p>
        </p:txBody>
      </p:sp>
      <p:sp>
        <p:nvSpPr>
          <p:cNvPr id="7" name="qa"/>
          <p:cNvSpPr/>
          <p:nvPr/>
        </p:nvSpPr>
        <p:spPr>
          <a:xfrm>
            <a:off x="8412480" y="2011680"/>
            <a:ext cx="2743200" cy="2743200"/>
          </a:xfrm>
          <a:prstGeom prst="ellipse">
            <a:avLst/>
          </a:prstGeom>
          <a:solidFill>
            <a:schemeClr val="accent1"/>
          </a:solidFill>
          <a:ln w="12700">
            <a:solidFill>
              <a:schemeClr val="accent1"/>
            </a:solidFill>
            <a:prstDash val="solid"/>
          </a:ln>
        </p:spPr>
      </p:sp>
      <p:sp>
        <p:nvSpPr>
          <p:cNvPr id="8" name="Text 6"/>
          <p:cNvSpPr txBox="1"/>
          <p:nvPr/>
        </p:nvSpPr>
        <p:spPr>
          <a:xfrm>
            <a:off x="8412480" y="2011680"/>
            <a:ext cx="2743200" cy="2743200"/>
          </a:xfrm>
          <a:prstGeom prst="rect">
            <a:avLst/>
          </a:prstGeom>
          <a:noFill/>
          <a:ln/>
        </p:spPr>
        <p:txBody>
          <a:bodyPr wrap="square" lIns="0" tIns="0" rIns="0" bIns="0" rtlCol="0" anchor="ctr"/>
          <a:lstStyle/>
          <a:p>
            <a:pPr algn="ctr" indent="0" marL="0">
              <a:buNone/>
            </a:pPr>
            <a:r>
              <a:rPr lang="en-US" sz="4400" b="1" dirty="0">
                <a:solidFill>
                  <a:schemeClr val="bg1"/>
                </a:solidFill>
              </a:rPr>
              <a:t>Q&amp;A</a:t>
            </a:r>
            <a:endParaRPr lang="en-US" sz="4400" dirty="0"/>
          </a:p>
        </p:txBody>
      </p:sp>
    </p:spTree>
  </p:cSld>
  <p:clrMapOvr>
    <a:masterClrMapping/>
  </p:clrMapOvr>
</p:sld>
</file>

<file path=ppt/theme/theme1.xml><?xml version="1.0" encoding="utf-8"?>
<a:theme xmlns:a="http://schemas.openxmlformats.org/drawingml/2006/main" name="learn-notes">
  <a:themeElements>
    <a:clrScheme name="learn-notes">
      <a:dk1>
        <a:srgbClr val="1B2A2F"/>
      </a:dk1>
      <a:lt1>
        <a:srgbClr val="FFFFFF"/>
      </a:lt1>
      <a:dk2>
        <a:srgbClr val="0F3D3E"/>
      </a:dk2>
      <a:lt2>
        <a:srgbClr val="EEF4F1"/>
      </a:lt2>
      <a:accent1>
        <a:srgbClr val="2E8B6E"/>
      </a:accent1>
      <a:accent2>
        <a:srgbClr val="E39B2D"/>
      </a:accent2>
      <a:accent3>
        <a:srgbClr val="2F9AA6"/>
      </a:accent3>
      <a:accent4>
        <a:srgbClr val="D9542B"/>
      </a:accent4>
      <a:accent5>
        <a:srgbClr val="7A5CC9"/>
      </a:accent5>
      <a:accent6>
        <a:srgbClr val="8FD3B6"/>
      </a:accent6>
      <a:hlink>
        <a:srgbClr val="2F9AA6"/>
      </a:hlink>
      <a:folHlink>
        <a:srgbClr val="7A5CC9"/>
      </a:folHlink>
    </a:clrScheme>
    <a:fontScheme name="learn-notes">
      <a:majorFont>
        <a:latin typeface="Malgun Gothic"/>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Malgun Gothic"/>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learn-notes 팀 소개</dc:title>
  <dc:subject>Claude Code 모드(MOD)의 개념과 learn-notes 1.8.0 기능</dc:subject>
  <dc:creator>Owen-YC</dc:creator>
  <cp:lastModifiedBy>Owen-YC</cp:lastModifiedBy>
  <cp:revision>1</cp:revision>
  <dcterms:created xsi:type="dcterms:W3CDTF">2026-10-18T19:37:43Z</dcterms:created>
  <dcterms:modified xsi:type="dcterms:W3CDTF">2026-10-18T19:37:43Z</dcterms:modified>
</cp:coreProperties>
</file>