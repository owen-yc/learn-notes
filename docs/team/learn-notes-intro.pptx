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949afa2-fb54-d9a6-fd1c-b35037d8f716}">
          <p14:sldIdLst>
            <p14:sldId id="256"/>
            <p14:sldId id="257"/>
            <p14:sldId id="258"/>
          </p14:sldIdLst>
        </p14:section>
        <p14:section name="모드(MOD)란?" id="{ea92f561-f0d1-673a-b8fc-a053dc6126a4}">
          <p14:sldIdLst>
            <p14:sldId id="259"/>
            <p14:sldId id="260"/>
            <p14:sldId id="261"/>
            <p14:sldId id="262"/>
            <p14:sldId id="263"/>
          </p14:sldIdLst>
        </p14:section>
        <p14:section name="learn-notes 기능" id="{4d966fac-e731-3478-52b8-8f65b26e2531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시작하기" id="{9c75ba56-2aa2-1def-7ab2-871bfc5c3d9d}">
          <p14:sldIdLst>
            <p14:sldId id="273"/>
            <p14:sldId id="274"/>
            <p14:sldId id="275"/>
            <p14:sldId id="276"/>
          </p14:sldIdLst>
        </p14:section>
        <p14:section name="마무리" id="{a2748d8a-0273-218e-7c0f-63ee88992182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Claude Code로 코딩하면서 배운 것을 남겨 주는 모드, learn-notes를 소개합니다. 오른쪽은 실제 패널 화면이고, 노트 글은 작은 모델(haiku)이 실제로 쓴 글입니다. 먼저 모드가 무엇인지 짚고, 기능을 보고, 마지막에 설치하는 법을 안내하겠습니다.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코드를 맡기는 바이브코딩은 빠르고 편하지만, 돌아보면 무엇이 왜 바뀌었는지 남지 않습니다. 같은 개념을 매번 처음 보는 것처럼 지나치고, 배운 것의 기록도 없습니다. learn-notes는 이 세 가지를 Claude Code 안에서 해결합니다.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learn-notes가 하는 일은 네 단계입니다. Claude가 파일을 고칠 때 전후를 모으고, 턴이 끝나면 노트를 쓰고, 잊을 때쯤 내 코드로 퀴즈를 내고, 그 모든 것이 기록으로 쌓입니다. 사용자는 평소처럼 코딩을 요청하기만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모드가 무엇인지부터 보겠습니다. 처음 들어도 괜찮습니다. 스마트폰 앱과 비슷하다고 생각하시면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Code는 터미널에서 대화하며 코드를 고치는 AI 코딩 도우미입니다. 요청 하나를 보내고 Claude가 일을 마치기까지를 턴이라고 부릅니다. 모드는 여기에 끼우는 확장입니다. 스마트폰에 앱을 깔면 새 기능이 생기듯, 모드를 설치하면 Claude Code에 새 화면과 동작이 생깁니다. learn-notes를 설치하면 학습 노트 패널, /learn 명령, 복습 알림이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용어 세 겹만 기억하시면 됩니다. 마켓플레이스는 모드를 나눠 주는 곳으로 보통 GitHub 저장소이고, 플러그인은 설치하고 지우는 단위, 모드는 그 안에서 실제로 화면과 동작을 바꾸는 코드입니다. 모드는 이벤트가 일어날 때 끼어드는 함수, 즉 훅으로 동작하고, 자기 전용 화면인 패널을 가질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Code의 한 턴은 이렇게 이어집니다. 요청을 보내면 턴이 시작되고, Claude가 파일을 고치고, 턴이 끝나고, 화면이 그려집니다. learn-notes의 훅은 각 순간에 끼어들어 필요한 것만 챙깁니다. 특히 파일이 바뀌는 순간 전과 후를 잡아 두었다가, 턴이 끝나면 작은 모델이 노트를 씁니다. Claude의 작업 방식은 바뀌지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모드는 Claude Code가 허락한 기능만 쓸 수 있습니다. learn-notes는 그중 여섯 가지를 씁니다. 대화 옆 패널, /learn 명령, 상태줄 알림, 작은 모델 호출, 내 컴퓨터의 파일 저장, 그리고 세션을 넘는 저장소입니다. 노트와 기록은 모두 내 컴퓨터에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learn-notes의 기능을 화면과 함께 보겠습니다. 화면은 모두 실제 패널이고, 글은 haiku가 실제로 쓴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턴이 끝나면 몇 초 안에 이런 노트가 뜹니다. 다섯 칸으로 짧게, 350단어 안쪽으로 씁니다. 무엇이 바뀌었나는 코드 설명 대신 전에 하던 일, 이제 하는 일, 그 차이가 드러나는 예시를 한 줄씩 보여 줘서 한눈에 들어옵니다. 배울 개념은 이미 배운 이름을 재사용해서, 같은 개념은 같은 이름으로 쌓이고 "(복습)"이 붙습니다. 설명 수준은 설정에서 입문·중급·숙련으로 고를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v를 누르면 전/후 보기로 갑니다. 바뀐 곳마다 원래 코드와 바뀐 코드를 줄 번호 그대로 놓는데, 바뀌지 않은 줄은 흐리게, 바뀐 줄은 마이너스와 플러스로 표시하고, 한 줄을 고친 것이면 그 줄에서 바뀐 낱말만 굵은 색으로 칠합니다. 오른쪽 화면에서 var가 let으로, for 반복이 for...of로 바뀐 부분만 칠해진 것을 볼 수 있습니다. 맨 위에는 노트의 전, 후, 예가 다시 나와서 코드를 읽기 전에 무엇이 달라졌는지 먼저 잡고 갑니다. 보기는 노트, 전/후, 개념 모음 셋을 v로 돌고, q는 어디서든 퀴즈입니다.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노트를 읽다 궁금한 게 생기면 그 자리에서 이어 갑니다. t는 이 노트의 개념만으로 퀴즈, e는 더 쉬운 말로 다시 쓰기, r은 예시로 따라가기, i는 질문하기입니다. 오른쪽은 r을 누른 실제 답으로, 주문 두 개를 예로 들어 n 값이 0, 1, 1로 바뀌는 과정을 따라가고 이전 코드라면 2가 나온다고 짚어 줍니다. 답은 노트 아래와 일지에 남고, 이어서 물으면 앞의 답을 읽고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퀴즈는 q로 열고 s로 받습니다. 일반적인 예제가 아니라, 그 개념을 처음 배운 노트의 내 코드로 묻는 게 특징입니다. 오른쪽은 장바구니 코드로 낸 실제 문제와 힌트입니다. 답을 적고 Enter를 누르면 Claude가 채점하고, 정답만 보고 스스로 채점해도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"sum에 더하는 거요"라고 답한 실제 채점 화면입니다. Claude가 거의 맞음으로 보고 "더한 결과를 다시 저장한다"는 부분이 빠졌다고 짚었습니다. 판정은 맞힘, 거의 맞음, 틀림 세 가지이고, 그에 따라 다음 복습 시기가 바뀝니다. 채점이 이상하면 f로 바꿀 수 있고, 복습 단계도 처음부터 그렇게 채점한 것처럼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 반복은 잊을 때쯤 다시 보여 주는 학습법입니다. 맞힐 때마다 1일, 3일, 7일, 14일, 30일, 60일로 간격이 늘어납니다. 틀린 개념은 바로 다음 퀴즈 맨 앞에 나옵니다. 복습할 개념이 생기면 상태줄에 개수가 떠서, 따로 챙기지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개념은 프로젝트를 넘어 한 목록에 모입니다. 몇 번 만났는지, 다음 복습은 언제인지, 어느 노트에서 나왔는지까지 보입니다. /learn recap은 하루나 한 주를 네 칸으로 정리하고, /learn stats는 연속 학습일과 정답률을 보여 줍니다. Anki로 내보내면 휴대폰에서도 복습할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명령은 /learn 하나에 하위 명령을 붙입니다. 패널이 안 보이는 클라우드 세션이나 모바일에서도 명령만으로 퀴즈를 받고 채점받고 질문할 수 있습니다. 한글로 /learn 퀴즈처럼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설치하는 법과 팀에서 쓰는 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Claude Code 안에서 두 줄입니다. 다시 시작한 뒤 /tui fullscreen으로 전체 화면을 켜고 /learn으로 패널을 엽니다. 그다음은 평소처럼 코딩을 요청하면 됩니다. Windows에서는 작업할 폴더에서 Claude Code를 켜는 것만 기억해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팀에서는 이런 리듬을 추천합니다. 아침에 복습 세 문제, 작업 중에는 모르면 바로 질문, 하루 끝에 /learn recap으로 정리해 핵심 한 줄을 공유하고, 주 1회 함께 회고합니다. 하루 5분, 한 주 15분이면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파일을 바꾼 턴마다 작은 모델 호출 한 번이 기본입니다. 퀴즈, 채점, 질문, 정리는 쓸 때마다 한 번씩입니다. 노트와 기록은 모두 내 컴퓨터에만 저장됩니다. 노트가 안 생기면 이 네 가지를 확인해 주세요. 그래도 안 되면 GitHub Issues나 팀 채널에 캡처를 남겨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이 두 줄이면 됩니다. 오늘 첫 요청부터 노트가 쌓입니다. 궁금한 점 있으시면 편하게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E"/>
                </a:solidFill>
              </a:rPr>
              <a:t>learn-notes · Claude Code 모드 소개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CLAUDE CODE MOD · 팀 소개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코딩은 Claude와 함께,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배운 것은 내 것으로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learn-notes 1.5.0 — Claude가 고친 코드가 무엇을 어떻게 달라지게 했는지 턴마다 학습 노트로 보여 주고, 잊을 때쯤 내 코드로 복습 퀴즈를 내 주는 Claude Code 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9BE"/>
                </a:solidFill>
              </a:rPr>
              <a:t>github.com/Owen-YC/learn-notes  ·  2026년 10월</a:t>
            </a:r>
            <a:endParaRPr lang="en-US" sz="1200" dirty="0"/>
          </a:p>
        </p:txBody>
      </p:sp>
      <p:pic>
        <p:nvPicPr>
          <p:cNvPr id="6" name="title-pane" descr="titl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685800"/>
            <a:ext cx="3886200" cy="54864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이런 경험, 있으신가요?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ircleHelp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icon-LuCircleHelp" descr="LuCircleHe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왜 바뀌었는지 모릅니다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몇 초 만에 고친 코드. 설명은 대화 속에 묻히고, 전과 후를 다시 찾기 어렵습니다.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Repeat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005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매번 처음 보는 것 같습니다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지난주에 본 for...of를 오늘 또 처음 보는 것처럼 지나칩니다.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Hourglass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Hourglass" descr="LuHour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배운 것이 남지 않습니다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무엇을 배웠는지 기록이 없어, 내가 성장했는지 알기 어렵습니다.</a:t>
            </a:r>
            <a:endParaRPr lang="en-US" sz="1400" dirty="0"/>
          </a:p>
        </p:txBody>
      </p:sp>
      <p:sp>
        <p:nvSpPr>
          <p:cNvPr id="18" name="statement"/>
          <p:cNvSpPr/>
          <p:nvPr/>
        </p:nvSpPr>
        <p:spPr>
          <a:xfrm>
            <a:off x="548640" y="4800600"/>
            <a:ext cx="11091672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badge-LuLightbulb"/>
          <p:cNvSpPr/>
          <p:nvPr/>
        </p:nvSpPr>
        <p:spPr>
          <a:xfrm>
            <a:off x="868680" y="50017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Lightbulb" descr="Lu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245" y="517733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80060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Claude가 코드를 고칠 때마다, 나에게 짧은 수업이 하나씩 남는다면?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learn-notes는 이렇게 돕습니다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Eye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Eye" descr="Lu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69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모읍니다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파일을 고칠 때마다 바뀌기 전과 후를 모읍니다.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 rot="5400000">
            <a:off x="3163824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outline"/>
          <p:cNvSpPr/>
          <p:nvPr/>
        </p:nvSpPr>
        <p:spPr>
          <a:xfrm>
            <a:off x="3410712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1" name="badge-LuNotebookPen"/>
          <p:cNvSpPr/>
          <p:nvPr/>
        </p:nvSpPr>
        <p:spPr>
          <a:xfrm>
            <a:off x="3685032" y="178308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-LuNotebookPen" descr="LuNotebook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570" y="196961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2352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85032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노트를 씁니다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85032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턴이 끝나면 무엇이·왜 바뀌었고 무엇을 배울지 정리합니다.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 rot="5400000">
            <a:off x="6025896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outline"/>
          <p:cNvSpPr/>
          <p:nvPr/>
        </p:nvSpPr>
        <p:spPr>
          <a:xfrm>
            <a:off x="6272784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8" name="badge-LuBrain"/>
          <p:cNvSpPr/>
          <p:nvPr/>
        </p:nvSpPr>
        <p:spPr>
          <a:xfrm>
            <a:off x="6547104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LuBrain" descr="Lu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2" y="1969618"/>
            <a:ext cx="404165" cy="4041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964424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47104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복습합니다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잊을 때쯤 내 코드로 퀴즈를 내고, 답은 Claude가 채점합니다.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 rot="5400000">
            <a:off x="8887968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4" name="outline"/>
          <p:cNvSpPr/>
          <p:nvPr/>
        </p:nvSpPr>
        <p:spPr>
          <a:xfrm>
            <a:off x="9134856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5" name="badge-LuChartColumn"/>
          <p:cNvSpPr/>
          <p:nvPr/>
        </p:nvSpPr>
        <p:spPr>
          <a:xfrm>
            <a:off x="9409176" y="178308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5714" y="196961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26496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09176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쌓입니다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409176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일지·개념 모음·연속 학습일로 성장이 눈에 보입니다.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badge-LuSparkles"/>
          <p:cNvSpPr/>
          <p:nvPr/>
        </p:nvSpPr>
        <p:spPr>
          <a:xfrm>
            <a:off x="777240" y="5303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con-LuSparkles" descr="Lu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5446166"/>
            <a:ext cx="309067" cy="30906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00200" y="51663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평소처럼 코딩만 요청하세요. 따로 공부 시간을 내지 않아도, 노트와 복습이 저절로 쌓입니다.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모드(MOD)란?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Claude Code에 끼우는 작은 확장, 그리고 그것이 동작하는 방식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Claude Code와 모드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Terminal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Terminal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Claude Code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Anthropic의 AI 코딩 도우미입니다. 터미널이나 데스크톱 앱에서 대화하면 Claude가 파일을 읽고, 코드를 고치고, 명령을 실행합니다.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요청을 보내고 Claude가 일을 마치기까지를 "턴(turn)" 하나라고 부릅니다.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245352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badge-LuPuzzle"/>
          <p:cNvSpPr/>
          <p:nvPr/>
        </p:nvSpPr>
        <p:spPr>
          <a:xfrm>
            <a:off x="6565392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LuPuzzle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19238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539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모드 (MOD)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65392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Claude Code에 끼우는 작은 확장입니다. 원래 프로그램은 그대로 두고, 그 위에 새 화면과 동작을 얹습니다.</a:t>
            </a:r>
            <a:endParaRPr lang="en-US" sz="1500" dirty="0"/>
          </a:p>
        </p:txBody>
      </p:sp>
      <p:sp>
        <p:nvSpPr>
          <p:cNvPr id="14" name="badge-LuSmartphone"/>
          <p:cNvSpPr/>
          <p:nvPr/>
        </p:nvSpPr>
        <p:spPr>
          <a:xfrm>
            <a:off x="6565392" y="420624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martphone" descr="Lu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31596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14032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스마트폰에 앱을 깔듯</a:t>
            </a:r>
            <a:endParaRPr lang="en-US" sz="1300" dirty="0"/>
          </a:p>
        </p:txBody>
      </p:sp>
      <p:sp>
        <p:nvSpPr>
          <p:cNvPr id="17" name="badge-LuGamepad2"/>
          <p:cNvSpPr/>
          <p:nvPr/>
        </p:nvSpPr>
        <p:spPr>
          <a:xfrm>
            <a:off x="9098280" y="42062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on-LuGamepad2" descr="LuGamepad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008" y="431596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게임에 모드를 얹듯</a:t>
            </a:r>
            <a:endParaRPr lang="en-US" sz="1300" dirty="0"/>
          </a:p>
        </p:txBody>
      </p:sp>
      <p:sp>
        <p:nvSpPr>
          <p:cNvPr id="20" name="equation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Claude Code</a:t>
            </a:r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  +  </a:t>
            </a:r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learn-notes 모드</a:t>
            </a:r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  =  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학습 노트 패널 · /learn 명령 · 복습 알림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알아 두면 좋은 용어</a:t>
            </a:r>
            <a:endParaRPr lang="en-US" sz="3000" dirty="0"/>
          </a:p>
        </p:txBody>
      </p:sp>
      <p:sp>
        <p:nvSpPr>
          <p:cNvPr id="3" name="marketplace"/>
          <p:cNvSpPr/>
          <p:nvPr/>
        </p:nvSpPr>
        <p:spPr>
          <a:xfrm>
            <a:off x="548640" y="1417320"/>
            <a:ext cx="5760720" cy="4617720"/>
          </a:xfrm>
          <a:prstGeom prst="roundRect">
            <a:avLst>
              <a:gd name="adj" fmla="val 19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마켓플레이스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모드를 나눠 주는 목록 · 보통 GitHub 저장소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Owen-YC/learn-notes</a:t>
            </a:r>
            <a:endParaRPr lang="en-US" sz="1300" dirty="0"/>
          </a:p>
        </p:txBody>
      </p:sp>
      <p:sp>
        <p:nvSpPr>
          <p:cNvPr id="7" name="plugin"/>
          <p:cNvSpPr/>
          <p:nvPr/>
        </p:nvSpPr>
        <p:spPr>
          <a:xfrm>
            <a:off x="914400" y="2788920"/>
            <a:ext cx="5074920" cy="301752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12700">
            <a:solidFill>
              <a:srgbClr val="2E8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플러그인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설치하고 지우는 단위 · 설정과 명령을 담은 꾸러미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learn-notes@learn-notes</a:t>
            </a:r>
            <a:endParaRPr lang="en-US" sz="1300" dirty="0"/>
          </a:p>
        </p:txBody>
      </p:sp>
      <p:sp>
        <p:nvSpPr>
          <p:cNvPr id="11" name="mod"/>
          <p:cNvSpPr/>
          <p:nvPr/>
        </p:nvSpPr>
        <p:spPr>
          <a:xfrm>
            <a:off x="1280160" y="4160520"/>
            <a:ext cx="43891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5448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모드 (훅 코드)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709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Claude Code의 화면과 동작을 바꾸는 코드. 노트·패널·퀴즈가 여기서 나옵니다.</a:t>
            </a:r>
            <a:endParaRPr lang="en-US" sz="1300" dirty="0"/>
          </a:p>
        </p:txBody>
      </p:sp>
      <p:sp>
        <p:nvSpPr>
          <p:cNvPr id="14" name="badge-LuZap"/>
          <p:cNvSpPr/>
          <p:nvPr/>
        </p:nvSpPr>
        <p:spPr>
          <a:xfrm>
            <a:off x="6675120" y="14630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Zap" descr="Lu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0685" y="16386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635240" y="1463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이벤트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190195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Claude Code 안에서 일어나는 일. 요청 제출, 턴 시작, 파일 수정, 턴 끝, 화면 그리기.</a:t>
            </a:r>
            <a:endParaRPr lang="en-US" sz="1350" dirty="0"/>
          </a:p>
        </p:txBody>
      </p:sp>
      <p:sp>
        <p:nvSpPr>
          <p:cNvPr id="18" name="badge-LuWand"/>
          <p:cNvSpPr/>
          <p:nvPr/>
        </p:nvSpPr>
        <p:spPr>
          <a:xfrm>
            <a:off x="6675120" y="30175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-LuWand" descr="Lu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685" y="3193085"/>
            <a:ext cx="380390" cy="38039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35240" y="3017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훅 (hook)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345643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이벤트가 일어날 때 끼어들어 실행되는 함수. learn-notes는 파일이 바뀌는 순간을 지켜봅니다.</a:t>
            </a:r>
            <a:endParaRPr lang="en-US" sz="1350" dirty="0"/>
          </a:p>
        </p:txBody>
      </p:sp>
      <p:sp>
        <p:nvSpPr>
          <p:cNvPr id="22" name="badge-LuPanelRight"/>
          <p:cNvSpPr/>
          <p:nvPr/>
        </p:nvSpPr>
        <p:spPr>
          <a:xfrm>
            <a:off x="66751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-LuPanelRight" descr="LuPanel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5" y="4747565"/>
            <a:ext cx="380390" cy="38039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6352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501091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오른쪽(또는 프롬프트 위)에 붙는 모드 전용 화면.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모드는 이렇게 동작합니다</a:t>
            </a:r>
            <a:endParaRPr lang="en-US" sz="3000" dirty="0"/>
          </a:p>
        </p:txBody>
      </p:sp>
      <p:sp>
        <p:nvSpPr>
          <p:cNvPr id="3" name="event-0"/>
          <p:cNvSpPr/>
          <p:nvPr/>
        </p:nvSpPr>
        <p:spPr>
          <a:xfrm>
            <a:off x="548640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요청 제출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prompt.submit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누가 보낸 요청인지 기억합니다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 rot="5400000">
            <a:off x="2606040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8" name="event-1"/>
          <p:cNvSpPr/>
          <p:nvPr/>
        </p:nvSpPr>
        <p:spPr>
          <a:xfrm>
            <a:off x="2816352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시작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turn.start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862072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이번 턴의 변경을 모으기 시작합니다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 rot="5400000">
            <a:off x="4873752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event-2"/>
          <p:cNvSpPr/>
          <p:nvPr/>
        </p:nvSpPr>
        <p:spPr>
          <a:xfrm>
            <a:off x="5084064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4064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파일 수정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84064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tool.call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129784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Edit · Write · 셸 명령이 바꾼 전과 후를 잡습니다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rot="5400000">
            <a:off x="7141464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8" name="event-3"/>
          <p:cNvSpPr/>
          <p:nvPr/>
        </p:nvSpPr>
        <p:spPr>
          <a:xfrm>
            <a:off x="7351776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51776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끝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turn.complete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97496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모은 변경으로 노트를 쓰게 합니다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 rot="5400000">
            <a:off x="9409176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event-4"/>
          <p:cNvSpPr/>
          <p:nvPr/>
        </p:nvSpPr>
        <p:spPr>
          <a:xfrm>
            <a:off x="9619488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19488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패널 그리기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3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ui.render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65208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노트와 퀴즈를 오른쪽에 보여 줍니다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548640" y="3931920"/>
            <a:ext cx="1109167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턴이 끝나면, 작은 모델(기본 haiku)이 바뀐 코드와 요청을 읽고 노트를 씁니다</a:t>
            </a:r>
            <a:endParaRPr lang="en-US" sz="1600" dirty="0"/>
          </a:p>
        </p:txBody>
      </p:sp>
      <p:sp>
        <p:nvSpPr>
          <p:cNvPr id="29" name="badge-LuPanelRight"/>
          <p:cNvSpPr/>
          <p:nvPr/>
        </p:nvSpPr>
        <p:spPr>
          <a:xfrm>
            <a:off x="822960" y="466344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806086"/>
            <a:ext cx="309067" cy="309067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패널에 노트 표시</a:t>
            </a:r>
            <a:endParaRPr lang="en-US" sz="1500" dirty="0"/>
          </a:p>
        </p:txBody>
      </p:sp>
      <p:sp>
        <p:nvSpPr>
          <p:cNvPr id="32" name="badge-LuFileText"/>
          <p:cNvSpPr/>
          <p:nvPr/>
        </p:nvSpPr>
        <p:spPr>
          <a:xfrm>
            <a:off x="4389120" y="46634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con-LuFileText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4806086"/>
            <a:ext cx="309067" cy="309067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날짜별 일지에 저장</a:t>
            </a:r>
            <a:endParaRPr lang="en-US" sz="1500" dirty="0"/>
          </a:p>
        </p:txBody>
      </p:sp>
      <p:sp>
        <p:nvSpPr>
          <p:cNvPr id="35" name="badge-LuLayers"/>
          <p:cNvSpPr/>
          <p:nvPr/>
        </p:nvSpPr>
        <p:spPr>
          <a:xfrm>
            <a:off x="7955280" y="4663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LuLayers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926" y="4806086"/>
            <a:ext cx="309067" cy="30906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68680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개념을 개념 모음에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모드는 Claude의 일을 가로채지 않습니다. 옆에서 지켜보다가 필요한 것만 챙깁니다.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모드가 할 수 있는 것, learn-notes가 쓰는 곳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PanelRight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대화 옆 전용 화면에 노트 · 전/후 · 개념 모음 · 퀴즈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434340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Slash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lash" descr="LuSl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슬래시 명령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하나로 퀴즈 · 정리 · 질문 · 통계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813816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Bell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Bell" descr="Lu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5623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상태줄 · 알림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복습할 개념 수, 노트가 준비됐다는 알림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54864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Bot"/>
          <p:cNvSpPr/>
          <p:nvPr/>
        </p:nvSpPr>
        <p:spPr>
          <a:xfrm>
            <a:off x="822960" y="40690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-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2336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작은 모델 호출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 · 퀴즈 · 채점 · 답은 저렴한 haiku가 씁니다</a:t>
            </a:r>
            <a:endParaRPr lang="en-US" sz="1400" dirty="0"/>
          </a:p>
        </p:txBody>
      </p:sp>
      <p:sp>
        <p:nvSpPr>
          <p:cNvPr id="23" name="outline"/>
          <p:cNvSpPr/>
          <p:nvPr/>
        </p:nvSpPr>
        <p:spPr>
          <a:xfrm>
            <a:off x="434340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Save"/>
          <p:cNvSpPr/>
          <p:nvPr/>
        </p:nvSpPr>
        <p:spPr>
          <a:xfrm>
            <a:off x="4617720" y="406908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icon-LuSave" descr="LuS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2312" y="423367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파일 저장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날짜별 마크다운 일지와 개념 모음을 내 컴퓨터에</a:t>
            </a:r>
            <a:endParaRPr lang="en-US" sz="1400" dirty="0"/>
          </a:p>
        </p:txBody>
      </p:sp>
      <p:sp>
        <p:nvSpPr>
          <p:cNvPr id="28" name="outline"/>
          <p:cNvSpPr/>
          <p:nvPr/>
        </p:nvSpPr>
        <p:spPr>
          <a:xfrm>
            <a:off x="813816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9" name="badge-LuDatabase"/>
          <p:cNvSpPr/>
          <p:nvPr/>
        </p:nvSpPr>
        <p:spPr>
          <a:xfrm>
            <a:off x="8412480" y="40690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0" name="icon-LuDatabase" descr="Lu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423367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8116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세션을 넘는 저장소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Code를 다시 켜도 지난 노트와 퀴즈가 이어집니다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learn-notes 기능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노트 · 질문 · 퀴즈 · 간격 반복 복습 · 기록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턴마다 학습 노트 — 다섯 칸</a:t>
            </a:r>
            <a:endParaRPr lang="en-US" sz="3000" dirty="0"/>
          </a:p>
        </p:txBody>
      </p:sp>
      <p:sp>
        <p:nvSpPr>
          <p:cNvPr id="3" name="num-0"/>
          <p:cNvSpPr/>
          <p:nvPr/>
        </p:nvSpPr>
        <p:spPr>
          <a:xfrm>
            <a:off x="548640" y="14996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한 줄 요약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105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이번 턴에 무엇을 했는지 한 문장으로</a:t>
            </a:r>
            <a:endParaRPr lang="en-US" sz="1350" dirty="0"/>
          </a:p>
        </p:txBody>
      </p:sp>
      <p:sp>
        <p:nvSpPr>
          <p:cNvPr id="7" name="num-1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494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무엇이 바뀌었나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968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코드가 하던 일(전) · 이제 하는 일(후) · 차이가 드러나는 예를 한 줄씩</a:t>
            </a:r>
            <a:endParaRPr lang="en-US" sz="1350" dirty="0"/>
          </a:p>
        </p:txBody>
      </p:sp>
      <p:sp>
        <p:nvSpPr>
          <p:cNvPr id="11" name="num-2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358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왜 이렇게 바꿨을까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요청과 바뀐 코드를 근거로 이유를 풀어 줍니다</a:t>
            </a:r>
            <a:endParaRPr lang="en-US" sz="1350" dirty="0"/>
          </a:p>
        </p:txBody>
      </p:sp>
      <p:sp>
        <p:nvSpPr>
          <p:cNvPr id="15" name="num-3"/>
          <p:cNvSpPr/>
          <p:nvPr/>
        </p:nvSpPr>
        <p:spPr>
          <a:xfrm>
            <a:off x="548640" y="3858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배울 개념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96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1~3개, 쉬운 설명과 그 개념이 쓰인 코드 한 줄</a:t>
            </a:r>
            <a:endParaRPr lang="en-US" sz="1350" dirty="0"/>
          </a:p>
        </p:txBody>
      </p:sp>
      <p:sp>
        <p:nvSpPr>
          <p:cNvPr id="19" name="num-4"/>
          <p:cNvSpPr/>
          <p:nvPr/>
        </p:nvSpPr>
        <p:spPr>
          <a:xfrm>
            <a:off x="548640" y="46451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6085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직접 확인해 볼 것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9560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직접 실행하거나 바꿔 보며 확인할 것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486400"/>
            <a:ext cx="658368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새로 배운 개념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과 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다시 만난 개념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이 노트 아래에 나뉘어 나옵니다</a:t>
            </a:r>
            <a:endParaRPr lang="en-US" sz="1400" dirty="0"/>
          </a:p>
        </p:txBody>
      </p:sp>
      <p:pic>
        <p:nvPicPr>
          <p:cNvPr id="25" name="note-pane" descr="not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405079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전/후 — 무엇이 달라졌는지 한눈에</a:t>
            </a:r>
            <a:endParaRPr lang="en-US" sz="3000" dirty="0"/>
          </a:p>
        </p:txBody>
      </p:sp>
      <p:sp>
        <p:nvSpPr>
          <p:cNvPr id="3" name="view-0"/>
          <p:cNvSpPr/>
          <p:nvPr/>
        </p:nvSpPr>
        <p:spPr>
          <a:xfrm>
            <a:off x="548640" y="1463040"/>
            <a:ext cx="1261872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노트</a:t>
            </a:r>
            <a:endParaRPr lang="en-US" sz="1300" dirty="0"/>
          </a:p>
        </p:txBody>
      </p:sp>
      <p:sp>
        <p:nvSpPr>
          <p:cNvPr id="5" name="view-1"/>
          <p:cNvSpPr/>
          <p:nvPr/>
        </p:nvSpPr>
        <p:spPr>
          <a:xfrm>
            <a:off x="1920240" y="1463040"/>
            <a:ext cx="1261872" cy="502920"/>
          </a:xfrm>
          <a:prstGeom prst="roundRect">
            <a:avLst>
              <a:gd name="adj" fmla="val 4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20240" y="146304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전/후</a:t>
            </a:r>
            <a:endParaRPr lang="en-US" sz="1300" dirty="0"/>
          </a:p>
        </p:txBody>
      </p:sp>
      <p:sp>
        <p:nvSpPr>
          <p:cNvPr id="7" name="view-2"/>
          <p:cNvSpPr/>
          <p:nvPr/>
        </p:nvSpPr>
        <p:spPr>
          <a:xfrm>
            <a:off x="3291840" y="1463040"/>
            <a:ext cx="1261872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46304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개념 모음</a:t>
            </a:r>
            <a:endParaRPr lang="en-US" sz="1300" dirty="0"/>
          </a:p>
        </p:txBody>
      </p:sp>
      <p:sp>
        <p:nvSpPr>
          <p:cNvPr id="9" name="view-3"/>
          <p:cNvSpPr/>
          <p:nvPr/>
        </p:nvSpPr>
        <p:spPr>
          <a:xfrm>
            <a:off x="4663440" y="1463040"/>
            <a:ext cx="1261872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46304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퀴즈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+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바뀐 줄 앞에 표시합니다. 바뀌지 않은 줄은 흐리게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260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굵게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9260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한 줄을 고친 것이면 그 줄에서 바뀐 낱말만 굵은 색으로 (var → let)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 후 예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56616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맨 위에 노트의 전 · 후 · 예가 다시 나옵니다</a:t>
            </a:r>
            <a:endParaRPr lang="en-US" sz="1400" dirty="0"/>
          </a:p>
        </p:txBody>
      </p:sp>
      <p:sp>
        <p:nvSpPr>
          <p:cNvPr id="17" name="key-v"/>
          <p:cNvSpPr/>
          <p:nvPr/>
        </p:nvSpPr>
        <p:spPr>
          <a:xfrm>
            <a:off x="548640" y="43434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3434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다음 보기로: 노트 → 전/후 → 개념 모음</a:t>
            </a:r>
            <a:endParaRPr lang="en-US" sz="1350" dirty="0"/>
          </a:p>
        </p:txBody>
      </p:sp>
      <p:sp>
        <p:nvSpPr>
          <p:cNvPr id="20" name="key-q"/>
          <p:cNvSpPr/>
          <p:nvPr/>
        </p:nvSpPr>
        <p:spPr>
          <a:xfrm>
            <a:off x="548640" y="4910328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91032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어디서든 퀴즈로 · p n 이전 · 다음 노트 · w 다시 쓰기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486400"/>
            <a:ext cx="557784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48640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단축키는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ctrl+x tab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으로 패널을 고른 뒤 누릅니다. 보기 이름은 클릭해도 됩니다.</a:t>
            </a:r>
            <a:endParaRPr lang="en-US" sz="1300" dirty="0"/>
          </a:p>
        </p:txBody>
      </p:sp>
      <p:pic>
        <p:nvPicPr>
          <p:cNvPr id="25" name="split-pane" descr="split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325880"/>
            <a:ext cx="514807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노트에서 바로 묻기</a:t>
            </a:r>
            <a:endParaRPr lang="en-US" sz="3000" dirty="0"/>
          </a:p>
        </p:txBody>
      </p:sp>
      <p:sp>
        <p:nvSpPr>
          <p:cNvPr id="3" name="tool-t"/>
          <p:cNvSpPr/>
          <p:nvPr/>
        </p:nvSpPr>
        <p:spPr>
          <a:xfrm>
            <a:off x="548640" y="1417320"/>
            <a:ext cx="658368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807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이 노트 퀴즈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4650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방금 읽은 노트의 개념만으로 문제를 받습니다</a:t>
            </a:r>
            <a:endParaRPr lang="en-US" sz="1350" dirty="0"/>
          </a:p>
        </p:txBody>
      </p:sp>
      <p:sp>
        <p:nvSpPr>
          <p:cNvPr id="7" name="tool-e"/>
          <p:cNvSpPr/>
          <p:nvPr/>
        </p:nvSpPr>
        <p:spPr>
          <a:xfrm>
            <a:off x="548640" y="2350008"/>
            <a:ext cx="658368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50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313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더 쉽게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791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짧은 문장, 일상어, 개념마다 일상의 비유로 다시 씁니다</a:t>
            </a:r>
            <a:endParaRPr lang="en-US" sz="1350" dirty="0"/>
          </a:p>
        </p:txBody>
      </p:sp>
      <p:sp>
        <p:nvSpPr>
          <p:cNvPr id="11" name="tool-r"/>
          <p:cNvSpPr/>
          <p:nvPr/>
        </p:nvSpPr>
        <p:spPr>
          <a:xfrm>
            <a:off x="548640" y="3282696"/>
            <a:ext cx="658368" cy="658368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826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예시로 따라가기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예시 입력 하나로 바뀐 코드를 한 단계씩, 변수 값과 함께</a:t>
            </a:r>
            <a:endParaRPr lang="en-US" sz="1350" dirty="0"/>
          </a:p>
        </p:txBody>
      </p:sp>
      <p:sp>
        <p:nvSpPr>
          <p:cNvPr id="15" name="tool-i"/>
          <p:cNvSpPr/>
          <p:nvPr/>
        </p:nvSpPr>
        <p:spPr>
          <a:xfrm>
            <a:off x="548640" y="4215384"/>
            <a:ext cx="658368" cy="658368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215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질문하기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5445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노트 아래 질문칸에 적고 Enter. 이어서 물으면 앞의 답을 읽고 답합니다</a:t>
            </a:r>
            <a:endParaRPr lang="en-US" sz="1350" dirty="0"/>
          </a:p>
        </p:txBody>
      </p:sp>
      <p:sp>
        <p:nvSpPr>
          <p:cNvPr id="19" name="card"/>
          <p:cNvSpPr/>
          <p:nvPr/>
        </p:nvSpPr>
        <p:spPr>
          <a:xfrm>
            <a:off x="548640" y="5212080"/>
            <a:ext cx="5532120" cy="896112"/>
          </a:xfrm>
          <a:prstGeom prst="roundRect">
            <a:avLst>
              <a:gd name="adj" fmla="val 1020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12080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650B"/>
                </a:solidFill>
              </a:rPr>
              <a:t>대화창의 Claude와 다른 점 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코드를 고치지 않고, 그 노트와 바뀐 코드만 보고 저렴한 모델이 짧게 답합니다.</a:t>
            </a:r>
            <a:endParaRPr lang="en-US" sz="1350" dirty="0"/>
          </a:p>
        </p:txBody>
      </p:sp>
      <p:pic>
        <p:nvPicPr>
          <p:cNvPr id="21" name="trace-pane" descr="trac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25880"/>
            <a:ext cx="523951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내 코드로 푸는 복습 퀴즈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복습할 때가 된 개념부터, 그 개념을 처음 배운 노트의 내 코드를 보여 주며 묻습니다.</a:t>
            </a:r>
            <a:endParaRPr lang="en-US" sz="1500" dirty="0"/>
          </a:p>
        </p:txBody>
      </p:sp>
      <p:sp>
        <p:nvSpPr>
          <p:cNvPr id="4" name="key-q"/>
          <p:cNvSpPr/>
          <p:nvPr/>
        </p:nvSpPr>
        <p:spPr>
          <a:xfrm>
            <a:off x="5486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6" name="key-s"/>
          <p:cNvSpPr/>
          <p:nvPr/>
        </p:nvSpPr>
        <p:spPr>
          <a:xfrm>
            <a:off x="1024128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퀴즈를 열고 문제 받기 (최대 3문제)</a:t>
            </a:r>
            <a:endParaRPr lang="en-US" sz="1500" dirty="0"/>
          </a:p>
        </p:txBody>
      </p:sp>
      <p:sp>
        <p:nvSpPr>
          <p:cNvPr id="9" name="key-h"/>
          <p:cNvSpPr/>
          <p:nvPr/>
        </p:nvSpPr>
        <p:spPr>
          <a:xfrm>
            <a:off x="548640" y="2990088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9900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막히면 힌트: 답 대신 실마리만</a:t>
            </a:r>
            <a:endParaRPr lang="en-US" sz="1500" dirty="0"/>
          </a:p>
        </p:txBody>
      </p:sp>
      <p:sp>
        <p:nvSpPr>
          <p:cNvPr id="12" name="key-i"/>
          <p:cNvSpPr/>
          <p:nvPr/>
        </p:nvSpPr>
        <p:spPr>
          <a:xfrm>
            <a:off x="548640" y="3739896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73989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답을 적고 Enter → Claude가 채점</a:t>
            </a:r>
            <a:endParaRPr lang="en-US" sz="1500" dirty="0"/>
          </a:p>
        </p:txBody>
      </p:sp>
      <p:sp>
        <p:nvSpPr>
          <p:cNvPr id="15" name="key-a"/>
          <p:cNvSpPr/>
          <p:nvPr/>
        </p:nvSpPr>
        <p:spPr>
          <a:xfrm>
            <a:off x="548640" y="4489704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897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정답만 보고 o · x로 스스로 채점해도 됩니다</a:t>
            </a:r>
            <a:endParaRPr lang="en-US" sz="1500" dirty="0"/>
          </a:p>
        </p:txBody>
      </p:sp>
      <p:sp>
        <p:nvSpPr>
          <p:cNvPr id="18" name="key-f"/>
          <p:cNvSpPr/>
          <p:nvPr/>
        </p:nvSpPr>
        <p:spPr>
          <a:xfrm>
            <a:off x="548640" y="5239512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2395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채점이 이상하면 맞힘 ↔ 틀림 바꾸기</a:t>
            </a:r>
            <a:endParaRPr lang="en-US" sz="1500" dirty="0"/>
          </a:p>
        </p:txBody>
      </p:sp>
      <p:pic>
        <p:nvPicPr>
          <p:cNvPr id="21" name="hint-pane" descr="hint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25880"/>
            <a:ext cx="523951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답을 적으면 Claude가 채점합니다</a:t>
            </a:r>
            <a:endParaRPr lang="en-US" sz="3000" dirty="0"/>
          </a:p>
        </p:txBody>
      </p:sp>
      <p:pic>
        <p:nvPicPr>
          <p:cNvPr id="3" name="graded-pane" descr="grad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4" name="outline"/>
          <p:cNvSpPr/>
          <p:nvPr/>
        </p:nvSpPr>
        <p:spPr>
          <a:xfrm>
            <a:off x="6309360" y="141732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5" name="badge-LuCircleCheck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LuCircleCheck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5727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✓ 맞힘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9659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복습 단계가 한 칸 올라 더 나중에 다시 나옵니다</a:t>
            </a:r>
            <a:endParaRPr lang="en-US" sz="1350" dirty="0"/>
          </a:p>
        </p:txBody>
      </p:sp>
      <p:sp>
        <p:nvSpPr>
          <p:cNvPr id="9" name="outline"/>
          <p:cNvSpPr/>
          <p:nvPr/>
        </p:nvSpPr>
        <p:spPr>
          <a:xfrm>
            <a:off x="6309360" y="274320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0" name="badge-LuTriangle"/>
          <p:cNvSpPr/>
          <p:nvPr/>
        </p:nvSpPr>
        <p:spPr>
          <a:xfrm>
            <a:off x="6537960" y="297180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-LuTriangle" descr="LuTriang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136392"/>
            <a:ext cx="356616" cy="3566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06640" y="28986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△ 거의 맞음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406640" y="3291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한 칸 내려 조금 일찍 다시 나옵니다. 빠진 점을 짚어 줍니다</a:t>
            </a:r>
            <a:endParaRPr lang="en-US" sz="1350" dirty="0"/>
          </a:p>
        </p:txBody>
      </p:sp>
      <p:sp>
        <p:nvSpPr>
          <p:cNvPr id="14" name="outline"/>
          <p:cNvSpPr/>
          <p:nvPr/>
        </p:nvSpPr>
        <p:spPr>
          <a:xfrm>
            <a:off x="6309360" y="406908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5" name="badge-LuCircleX"/>
          <p:cNvSpPr/>
          <p:nvPr/>
        </p:nvSpPr>
        <p:spPr>
          <a:xfrm>
            <a:off x="6537960" y="42976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-LuCircleX" descr="Lu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462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406640" y="42245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✗ 틀림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406640" y="46177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처음 단계로 돌아가 다음 퀴즈 맨 앞에 나옵니다</a:t>
            </a:r>
            <a:endParaRPr lang="en-US" sz="1350" dirty="0"/>
          </a:p>
        </p:txBody>
      </p:sp>
      <p:sp>
        <p:nvSpPr>
          <p:cNvPr id="19" name="card"/>
          <p:cNvSpPr/>
          <p:nvPr/>
        </p:nvSpPr>
        <p:spPr>
          <a:xfrm>
            <a:off x="6309360" y="5440680"/>
            <a:ext cx="53309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37960" y="54406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표현이 달라도 뜻이 같으면 맞힘 · 채점이 이상하면 f로 바꿉니다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잊을 때쯤 다시: 간격 반복 복습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개념마다 복습 단계가 있습니다. 때가 된 개념을 맞힐 때마다 다음 복습까지의 간격이 늘어납니다.</a:t>
            </a:r>
            <a:endParaRPr lang="en-US" sz="1600" dirty="0"/>
          </a:p>
        </p:txBody>
      </p:sp>
      <p:sp>
        <p:nvSpPr>
          <p:cNvPr id="4" name="timeline"/>
          <p:cNvSpPr/>
          <p:nvPr/>
        </p:nvSpPr>
        <p:spPr>
          <a:xfrm>
            <a:off x="1097280" y="2880360"/>
            <a:ext cx="9966960" cy="0"/>
          </a:xfrm>
          <a:prstGeom prst="line">
            <a:avLst/>
          </a:prstGeom>
          <a:noFill/>
          <a:ln w="38100">
            <a:solidFill>
              <a:srgbClr val="C5D3CE"/>
            </a:solidFill>
            <a:prstDash val="solid"/>
          </a:ln>
        </p:spPr>
      </p:sp>
      <p:sp>
        <p:nvSpPr>
          <p:cNvPr id="5" name="day-1"/>
          <p:cNvSpPr/>
          <p:nvPr/>
        </p:nvSpPr>
        <p:spPr>
          <a:xfrm>
            <a:off x="640080" y="2240280"/>
            <a:ext cx="1280160" cy="128016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0단계</a:t>
            </a:r>
            <a:endParaRPr lang="en-US" sz="1300" dirty="0"/>
          </a:p>
        </p:txBody>
      </p:sp>
      <p:sp>
        <p:nvSpPr>
          <p:cNvPr id="8" name="day-3"/>
          <p:cNvSpPr/>
          <p:nvPr/>
        </p:nvSpPr>
        <p:spPr>
          <a:xfrm>
            <a:off x="2633472" y="2240280"/>
            <a:ext cx="1280160" cy="12801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1단계</a:t>
            </a:r>
            <a:endParaRPr lang="en-US" sz="1300" dirty="0"/>
          </a:p>
        </p:txBody>
      </p:sp>
      <p:sp>
        <p:nvSpPr>
          <p:cNvPr id="11" name="day-7"/>
          <p:cNvSpPr/>
          <p:nvPr/>
        </p:nvSpPr>
        <p:spPr>
          <a:xfrm>
            <a:off x="4626864" y="2240280"/>
            <a:ext cx="1280160" cy="12801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2단계</a:t>
            </a:r>
            <a:endParaRPr lang="en-US" sz="1300" dirty="0"/>
          </a:p>
        </p:txBody>
      </p:sp>
      <p:sp>
        <p:nvSpPr>
          <p:cNvPr id="14" name="day-14"/>
          <p:cNvSpPr/>
          <p:nvPr/>
        </p:nvSpPr>
        <p:spPr>
          <a:xfrm>
            <a:off x="6620256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0256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14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0256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3단계</a:t>
            </a:r>
            <a:endParaRPr lang="en-US" sz="1300" dirty="0"/>
          </a:p>
        </p:txBody>
      </p:sp>
      <p:sp>
        <p:nvSpPr>
          <p:cNvPr id="17" name="day-30"/>
          <p:cNvSpPr/>
          <p:nvPr/>
        </p:nvSpPr>
        <p:spPr>
          <a:xfrm>
            <a:off x="8613648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13648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13648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4단계</a:t>
            </a:r>
            <a:endParaRPr lang="en-US" sz="1300" dirty="0"/>
          </a:p>
        </p:txBody>
      </p:sp>
      <p:sp>
        <p:nvSpPr>
          <p:cNvPr id="20" name="day-60"/>
          <p:cNvSpPr/>
          <p:nvPr/>
        </p:nvSpPr>
        <p:spPr>
          <a:xfrm>
            <a:off x="10607040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607040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5단계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badge-LuListChecks"/>
          <p:cNvSpPr/>
          <p:nvPr/>
        </p:nvSpPr>
        <p:spPr>
          <a:xfrm>
            <a:off x="777240" y="45720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con-LuListChecks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4725619"/>
            <a:ext cx="332842" cy="332842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600200" y="4572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무엇부터 나오나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49834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틀린 개념 먼저, 그다음 오래 밀린 개념. 퀴즈를 안 본 개념은 노트에서 다시 만난 횟수만큼 단계가 올라 있습니다.</a:t>
            </a:r>
            <a:endParaRPr lang="en-US" sz="1350" dirty="0"/>
          </a:p>
        </p:txBody>
      </p:sp>
      <p:sp>
        <p:nvSpPr>
          <p:cNvPr id="28" name="card"/>
          <p:cNvSpPr/>
          <p:nvPr/>
        </p:nvSpPr>
        <p:spPr>
          <a:xfrm>
            <a:off x="6245352" y="4343400"/>
            <a:ext cx="539496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badge-LuBell"/>
          <p:cNvSpPr/>
          <p:nvPr/>
        </p:nvSpPr>
        <p:spPr>
          <a:xfrm>
            <a:off x="6473952" y="45720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con-LuBell" descr="Lu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71" y="4725619"/>
            <a:ext cx="332842" cy="332842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296912" y="4572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상태줄이 알려 줍니다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7296912" y="5001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노트 · 복습할 개념 3개 · /learn 패널에서 q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7296912" y="53949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복습할 때가 되면 프롬프트 아래에 개수가 뜹니다.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쌓이는 기록</a:t>
            </a:r>
            <a:endParaRPr lang="en-US" sz="3000" dirty="0"/>
          </a:p>
        </p:txBody>
      </p:sp>
      <p:pic>
        <p:nvPicPr>
          <p:cNvPr id="3" name="concepts-pane" descr="concepts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4" name="badge-LuLayers"/>
          <p:cNvSpPr/>
          <p:nvPr/>
        </p:nvSpPr>
        <p:spPr>
          <a:xfrm>
            <a:off x="6080760" y="14173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Layers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81912"/>
            <a:ext cx="356616" cy="3566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399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개념 모음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18013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프로젝트를 넘어 모인 개념. 만난 횟수, 다음 복습 날짜, 그 개념이 나온 노트</a:t>
            </a:r>
            <a:endParaRPr lang="en-US" sz="1350" dirty="0"/>
          </a:p>
        </p:txBody>
      </p:sp>
      <p:sp>
        <p:nvSpPr>
          <p:cNvPr id="8" name="badge-LuCalendarDays"/>
          <p:cNvSpPr/>
          <p:nvPr/>
        </p:nvSpPr>
        <p:spPr>
          <a:xfrm>
            <a:off x="608076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-LuCalendarDays" descr="LuCalendarDay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770632"/>
            <a:ext cx="356616" cy="3566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949440" y="25877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recap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94944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하루 · 한 주 정리: 한 일 · 핵심 개념 · 헷갈리기 쉬운 것 · 다음에 해 볼 것</a:t>
            </a:r>
            <a:endParaRPr lang="en-US" sz="1350" dirty="0"/>
          </a:p>
        </p:txBody>
      </p:sp>
      <p:sp>
        <p:nvSpPr>
          <p:cNvPr id="12" name="badge-LuChartColumn"/>
          <p:cNvSpPr/>
          <p:nvPr/>
        </p:nvSpPr>
        <p:spPr>
          <a:xfrm>
            <a:off x="608076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3959352"/>
            <a:ext cx="356616" cy="35661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37764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stats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4944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연속 학습일, 최근 7일 진도, 30일 정답률</a:t>
            </a:r>
            <a:endParaRPr lang="en-US" sz="1350" dirty="0"/>
          </a:p>
        </p:txBody>
      </p:sp>
      <p:sp>
        <p:nvSpPr>
          <p:cNvPr id="16" name="badge-LuDownload"/>
          <p:cNvSpPr/>
          <p:nvPr/>
        </p:nvSpPr>
        <p:spPr>
          <a:xfrm>
            <a:off x="6080760" y="498348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LuDownload" descr="LuDownlo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5148072"/>
            <a:ext cx="356616" cy="35661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49440" y="49651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anki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6949440" y="53675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Anki 카드로 내보내 휴대폰에서도 복습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</a:rPr>
              <a:t>노트와 일지는 ~/.claude/learning-notes/ 에, 모두 내 컴퓨터에 쌓입니다.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명령 한눈에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5255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명령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하는 일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학습 노트 패널 열기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quiz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복습할 개념으로 문제 받기 (내 코드로)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quiz 1 내 답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답을 적어 Claude에게 채점받기 · 힌트 · 정답 · 문제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recap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오늘 배운 것 정리 (어제 · 이번주 · 최근 7일 · 날짜)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stats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연속 학습일 · 최근 7일 · 30일 정답률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ask 질문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고른 노트(없으면 마지막 노트)에 대해 묻기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find 말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모든 프로젝트의 노트에서 찾기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day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오늘 노트 목차 (어제 · 날짜)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anki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Anki 카드 파일로 내보내기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한글로도 됩니다 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/learn 퀴즈 · 개념 · 정리 · 기록 · 질문 · 찾기 · 일지 · 도움말      전체 목록은 /learn help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시작하기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설치는 두 줄, 첫 노트까지 5분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설치하고 첫 노트 보기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Claude Code 안에서 두 줄로 설치</a:t>
            </a:r>
            <a:endParaRPr lang="en-US" sz="1700" dirty="0"/>
          </a:p>
        </p:txBody>
      </p:sp>
      <p:sp>
        <p:nvSpPr>
          <p:cNvPr id="4" name="code"/>
          <p:cNvSpPr/>
          <p:nvPr/>
        </p:nvSpPr>
        <p:spPr>
          <a:xfrm>
            <a:off x="548640" y="1874520"/>
            <a:ext cx="6583680" cy="1051560"/>
          </a:xfrm>
          <a:prstGeom prst="roundRect">
            <a:avLst>
              <a:gd name="adj" fmla="val 6957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278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Claude Code를 다시 시작하고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/tui fullscreen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136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941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으로 패널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④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6542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평소처럼 코딩 요청 → 몇 초 뒤 노트가 뜹니다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0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675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단축키는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ctrl+x tab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으로 패널을 고른 뒤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7498080" y="1371600"/>
            <a:ext cx="4142232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badge-LuLaptop"/>
          <p:cNvSpPr/>
          <p:nvPr/>
        </p:nvSpPr>
        <p:spPr>
          <a:xfrm>
            <a:off x="772668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8354" y="1731874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Windows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726680" y="228600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PowerShell에서 Claude Code 설치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작업할 폴더에서 켜세요 (cd ~\practice 뒤 claude). System32에서 켜면 패널이 안내를 띄웁니다.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7498080" y="4023360"/>
            <a:ext cx="4142232" cy="2057400"/>
          </a:xfrm>
          <a:prstGeom prst="roundRect">
            <a:avLst>
              <a:gd name="adj" fmla="val 444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0" name="badge-LuRotateCcw"/>
          <p:cNvSpPr/>
          <p:nvPr/>
        </p:nvSpPr>
        <p:spPr>
          <a:xfrm>
            <a:off x="7726680" y="42245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-LuRotateCcw" descr="LuRotateC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354" y="4356202"/>
            <a:ext cx="285293" cy="28529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412480" y="42245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업데이트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7726680" y="48920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/plugin → Installed → learn-notes → Update, 그다음 /reload-plugins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B70"/>
                </a:solidFill>
              </a:rPr>
              <a:t>/learn help에 "예시로 따라가기"가 보이면 1.5.0입니다.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팀에서 이렇게 써 보세요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Sun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Sun" descr="Lu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아침 · 복습 3문제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상태줄에 복습할 개념이 보이면 q → s. 답을 적어 채점받으면 간격이 알아서 늘어납니다.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6245352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MessageCircleQuestion"/>
          <p:cNvSpPr/>
          <p:nvPr/>
        </p:nvSpPr>
        <p:spPr>
          <a:xfrm>
            <a:off x="6519672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-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작업 중 · 모르면 바로 질문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낯선 개념은 i로 질문, 코드 흐름은 r로 따라가기, 어려우면 e로 더 쉽게. 흐름이 끊기지 않습니다.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Moon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-LuMoon" descr="Lu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424464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하루 끝 · 오늘 정리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recap으로 정리하고, "핵심 개념" 한 줄을 팀 채널에 공유해 보세요.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6245352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Users"/>
          <p:cNvSpPr/>
          <p:nvPr/>
        </p:nvSpPr>
        <p:spPr>
          <a:xfrm>
            <a:off x="6519672" y="4069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Users" descr="Lu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424464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34072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 1회 · 함께 회고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19672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recap 이번주와 /learn stats로 한 주를 돌아보고, 다시 만난 개념을 나눕니다.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비용 · 개인정보 · 문제 해결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oins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Coins" descr="Lu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비용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파일을 바꾼 턴마다 모델 호출 1번 (기본 haiku)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퀴즈 · 채점 · 질문 · 정리는 할 때마다 1번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통계 · Anki · 개념 모음은 0번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노트 자동 작성을 끄면 0</a:t>
            </a:r>
            <a:endParaRPr lang="en-US" sz="135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ShieldCheck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8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개인정보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바뀐 코드와 요청이 지금 계정의 모델 호출에 실림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노트 · 일지 · 기록은 내 컴퓨터에만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비밀값 파일을 다루면 autoNote 끄기</a:t>
            </a:r>
            <a:endParaRPr lang="en-US" sz="135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Wrench"/>
          <p:cNvSpPr/>
          <p:nvPr/>
        </p:nvSpPr>
        <p:spPr>
          <a:xfrm>
            <a:off x="8412480" y="1691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Wrench" descr="Lu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045" y="186720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노트가 안 생기면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그 턴에 파일이 바뀌었나요?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패널을 열었나요? (/learn, 전체 화면)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단축키는 ctrl+x tab 뒤에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빨간 글씨는 이유와 할 일을 알려 줍니다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오늘부터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첫 요청부터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노트가 쌓입니다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설치 · 소스 · 문의: github.com/Owen-YC/learn-notes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질문과 제안은 GitHub Issues나 팀 채널로 남겨 주세요.</a:t>
            </a:r>
            <a:endParaRPr lang="en-US" sz="1600" dirty="0"/>
          </a:p>
        </p:txBody>
      </p:sp>
      <p:sp>
        <p:nvSpPr>
          <p:cNvPr id="5" name="code"/>
          <p:cNvSpPr/>
          <p:nvPr/>
        </p:nvSpPr>
        <p:spPr>
          <a:xfrm>
            <a:off x="640080" y="5394960"/>
            <a:ext cx="6309360" cy="868680"/>
          </a:xfrm>
          <a:prstGeom prst="roundRect">
            <a:avLst>
              <a:gd name="adj" fmla="val 8421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3949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300" dirty="0"/>
          </a:p>
        </p:txBody>
      </p:sp>
      <p:sp>
        <p:nvSpPr>
          <p:cNvPr id="7" name="qa"/>
          <p:cNvSpPr/>
          <p:nvPr/>
        </p:nvSpPr>
        <p:spPr>
          <a:xfrm>
            <a:off x="8412480" y="201168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2011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Q&amp;A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rn-notes">
  <a:themeElements>
    <a:clrScheme name="learn-notes">
      <a:dk1>
        <a:srgbClr val="1B2A2F"/>
      </a:dk1>
      <a:lt1>
        <a:srgbClr val="FFFFFF"/>
      </a:lt1>
      <a:dk2>
        <a:srgbClr val="0F3D3E"/>
      </a:dk2>
      <a:lt2>
        <a:srgbClr val="EEF4F1"/>
      </a:lt2>
      <a:accent1>
        <a:srgbClr val="2E8B6E"/>
      </a:accent1>
      <a:accent2>
        <a:srgbClr val="E39B2D"/>
      </a:accent2>
      <a:accent3>
        <a:srgbClr val="2F9AA6"/>
      </a:accent3>
      <a:accent4>
        <a:srgbClr val="D9542B"/>
      </a:accent4>
      <a:accent5>
        <a:srgbClr val="7A5CC9"/>
      </a:accent5>
      <a:accent6>
        <a:srgbClr val="8FD3B6"/>
      </a:accent6>
      <a:hlink>
        <a:srgbClr val="2F9AA6"/>
      </a:hlink>
      <a:folHlink>
        <a:srgbClr val="7A5CC9"/>
      </a:folHlink>
    </a:clrScheme>
    <a:fontScheme name="learn-note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learn-notes 팀 소개</dc:title>
  <dc:subject>Claude Code 모드(MOD)의 개념과 learn-notes 기능</dc:subject>
  <dc:creator>Owen-YC</dc:creator>
  <cp:lastModifiedBy>Owen-YC</cp:lastModifiedBy>
  <cp:revision>1</cp:revision>
  <dcterms:created xsi:type="dcterms:W3CDTF">2026-10-04T09:42:28Z</dcterms:created>
  <dcterms:modified xsi:type="dcterms:W3CDTF">2026-10-04T09:42:28Z</dcterms:modified>
</cp:coreProperties>
</file>